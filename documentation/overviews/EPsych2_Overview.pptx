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EPsych v2 is an actively used laboratory toolbox, not a greenfield framework. This deck maps what is in the repository and how the pieces fit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broad scope, deliberately layered, and honest about being a mixed-vintage codebase. The counts are measured against the working tree, excluding the stimgen submodule.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enrol, run, analyze. Stage two changed in 2026: subjects now live in a shared roster file rather than a per-session config.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layers. The middle band is where the session state lives; the bottom band is the one contract every rig implements.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is the unit of reuse. What used to be spread across .prot, .ecfg and JSON phase files is now one versioned .eprot plus the roster.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2026-08. Every save archives the version it replaces inside the .eprot itself, which is what makes a subject-level revert meaningful on a protocol file shared by a whole lab.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roster is a shared, file-backed, many-to-many record: a subject belongs to projects, and each membership carries that project stage. Two rigs can share one .esub on a network drive because every mutation is a reload-apply-atomic-write.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MATLAB timer drives the session. Start builds the trial list and dispatches trial one; RunTime polls for completion and dispatches the next. The callbacks are no longer set from an operator dialog - they belong to paradigm 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journal, appending to the session .mat grew linearly with trial count. The journal is append-only and torn-write tolerant; run tmp/crash_test_trialjournal.m after any change to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hub was named epsych.Helper until 2026-08; the property is Runtime.EVENTS. Public notify access is what makes offline review possible without touching any display component.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concrete backends behind one abstract class. hw.Replay is deliberately absent from the four registry sites: it is built from a session snapshot, never saved into a protocol.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design-time half of the Teensy backend. Value semantics on the model classes make toStruct/fromStruct an exact round trip, which is what makes the designer undo exact.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submodule boundary is enforced by convention plus a self-test check. A new abstract method on a stimgen contract class must be concrete with a safe default, or the stimbridge subclass becomes unconstructable.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Until 2026-08 the toolbox disagreed with itself about abort denominators, so one session could give two different sensitivity values. psychophysics.Metrics is now the single place that arithmetic lives.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add* helper DSL is the documented way to reach every reusable component. BehaviorBuilder generates code that calls only that DSL, so generated output survives the same self-test checks a hand-written subclass does.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Thirty-eight classes under obj/+gui/. Everything on the right-hand list is reachable from a behavior GUI through an add* helper.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2026-08. The runtime a review builds is a real epsych.Runtime with a real EventHub, not a fake - required, because psychophysics.Detection is not a Psych subclass and has no struct-source path.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debugger and the tracker are the same data seen two ways. Nothing in the eplog package throws, because EPsych logs from inside catch blocks.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seams, none of which require editing a core runtime file. The hardware registry is the one place with no reflection, so a missing registration fails quietly.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Clone with submodules, run epsych_startup, then the two entry-point GUIs. The documentation directory and the wiki cover both the experimenter path and the developer path.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33"/>
        </a:solidFill>
        <a:effectLst/>
      </p:bgPr>
    </p:bg>
    <p:spTree>
      <p:nvGrpSpPr>
        <p:cNvPr id="1" name=""/>
        <p:cNvGrpSpPr/>
        <p:nvPr/>
      </p:nvGrpSpPr>
      <p:grpSpPr/>
      <p:sp>
        <p:nvSpPr>
          <p:cNvPr id="2" name="Rectangle 2"/>
          <p:cNvSpPr/>
          <p:nvPr/>
        </p:nvSpPr>
        <p:spPr>
          <a:xfrm>
            <a:off x="6903720" y="0"/>
            <a:ext cx="5287975" cy="6858000"/>
          </a:xfrm>
          <a:prstGeom prst="rect">
            <a:avLst/>
          </a:prstGeom>
          <a:solidFill>
            <a:srgbClr val="153A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3" descr="EPsych three-channel TTL mark"/>
          <p:cNvPicPr>
            <a:picLocks noChangeAspect="1"/>
          </p:cNvPicPr>
          <p:nvPr/>
        </p:nvPicPr>
        <p:blipFill>
          <a:blip r:embed="rId2"/>
          <a:stretch>
            <a:fillRect/>
          </a:stretch>
        </p:blipFill>
        <p:spPr>
          <a:xfrm>
            <a:off x="8732520" y="2212848"/>
            <a:ext cx="1627632" cy="1627632"/>
          </a:xfrm>
          <a:prstGeom prst="rect">
            <a:avLst/>
          </a:prstGeom>
        </p:spPr>
      </p:pic>
      <p:sp>
        <p:nvSpPr>
          <p:cNvPr id="4" name="TextBox 4"/>
          <p:cNvSpPr txBox="1"/>
          <p:nvPr/>
        </p:nvSpPr>
        <p:spPr>
          <a:xfrm>
            <a:off x="8275320" y="4160520"/>
            <a:ext cx="2651760" cy="914400"/>
          </a:xfrm>
          <a:prstGeom prst="rect">
            <a:avLst/>
          </a:prstGeom>
          <a:noFill/>
        </p:spPr>
        <p:txBody>
          <a:bodyPr wrap="square" lIns="0" rIns="0" tIns="0" bIns="0" anchor="t"/>
          <a:lstStyle/>
          <a:p>
            <a:pPr algn="ctr">
              <a:lnSpc>
                <a:spcPct val="135000"/>
              </a:lnSpc>
            </a:pPr>
            <a:r>
              <a:rPr sz="1300" b="0" i="0">
                <a:solidFill>
                  <a:srgbClr val="9FB4BF"/>
                </a:solidFill>
                <a:latin typeface="Calibri"/>
              </a:rPr>
              <a:t>Design, run, and analyze</a:t>
            </a:r>
          </a:p>
          <a:p>
            <a:pPr algn="ctr">
              <a:lnSpc>
                <a:spcPct val="135000"/>
              </a:lnSpc>
            </a:pPr>
            <a:r>
              <a:rPr sz="1300" b="0" i="0">
                <a:solidFill>
                  <a:srgbClr val="9FB4BF"/>
                </a:solidFill>
                <a:latin typeface="Calibri"/>
              </a:rPr>
              <a:t>behavioral experiments in MATLAB</a:t>
            </a:r>
          </a:p>
        </p:txBody>
      </p:sp>
      <p:sp>
        <p:nvSpPr>
          <p:cNvPr id="5" name="TextBox 5"/>
          <p:cNvSpPr txBox="1"/>
          <p:nvPr/>
        </p:nvSpPr>
        <p:spPr>
          <a:xfrm>
            <a:off x="795528" y="1783080"/>
            <a:ext cx="6035040" cy="274320"/>
          </a:xfrm>
          <a:prstGeom prst="rect">
            <a:avLst/>
          </a:prstGeom>
          <a:noFill/>
        </p:spPr>
        <p:txBody>
          <a:bodyPr wrap="square" lIns="0" rIns="0" tIns="0" bIns="0" anchor="t"/>
          <a:lstStyle/>
          <a:p>
            <a:pPr algn="l"/>
            <a:r>
              <a:rPr sz="1250" b="1" i="0">
                <a:solidFill>
                  <a:srgbClr val="E09353"/>
                </a:solidFill>
                <a:latin typeface="Arial"/>
              </a:rPr>
              <a:t>REPOSITORY OVERVIEW</a:t>
            </a:r>
          </a:p>
        </p:txBody>
      </p:sp>
      <p:sp>
        <p:nvSpPr>
          <p:cNvPr id="6" name="TextBox 6"/>
          <p:cNvSpPr txBox="1"/>
          <p:nvPr/>
        </p:nvSpPr>
        <p:spPr>
          <a:xfrm>
            <a:off x="795528" y="2148840"/>
            <a:ext cx="6309360" cy="1188720"/>
          </a:xfrm>
          <a:prstGeom prst="rect">
            <a:avLst/>
          </a:prstGeom>
          <a:noFill/>
        </p:spPr>
        <p:txBody>
          <a:bodyPr wrap="square" lIns="0" rIns="0" tIns="0" bIns="0" anchor="t"/>
          <a:lstStyle/>
          <a:p>
            <a:pPr algn="l"/>
            <a:r>
              <a:rPr sz="6200" b="1" i="0">
                <a:solidFill>
                  <a:srgbClr val="FFFFFF"/>
                </a:solidFill>
                <a:latin typeface="Arial"/>
              </a:rPr>
              <a:t>EPsych v2</a:t>
            </a:r>
          </a:p>
        </p:txBody>
      </p:sp>
      <p:sp>
        <p:nvSpPr>
          <p:cNvPr id="7" name="TextBox 7"/>
          <p:cNvSpPr txBox="1"/>
          <p:nvPr/>
        </p:nvSpPr>
        <p:spPr>
          <a:xfrm>
            <a:off x="795528" y="3310128"/>
            <a:ext cx="5943600" cy="822960"/>
          </a:xfrm>
          <a:prstGeom prst="rect">
            <a:avLst/>
          </a:prstGeom>
          <a:noFill/>
        </p:spPr>
        <p:txBody>
          <a:bodyPr wrap="square" lIns="0" rIns="0" tIns="0" bIns="0" anchor="t"/>
          <a:lstStyle/>
          <a:p>
            <a:pPr algn="l">
              <a:lnSpc>
                <a:spcPct val="140000"/>
              </a:lnSpc>
            </a:pPr>
            <a:r>
              <a:rPr sz="1500" b="0" i="0">
                <a:solidFill>
                  <a:srgbClr val="B8CDD8"/>
                </a:solidFill>
                <a:latin typeface="Calibri"/>
              </a:rPr>
              <a:t>A MATLAB toolbox for behavioral experiments — protocol design, session runtime, hardware I/O, stimulus generation, and online analysis in one repository.</a:t>
            </a:r>
          </a:p>
        </p:txBody>
      </p:sp>
      <p:sp>
        <p:nvSpPr>
          <p:cNvPr id="8" name="TextBox 8"/>
          <p:cNvSpPr txBox="1"/>
          <p:nvPr/>
        </p:nvSpPr>
        <p:spPr>
          <a:xfrm>
            <a:off x="795528" y="4526280"/>
            <a:ext cx="1737360" cy="566928"/>
          </a:xfrm>
          <a:prstGeom prst="rect">
            <a:avLst/>
          </a:prstGeom>
          <a:noFill/>
        </p:spPr>
        <p:txBody>
          <a:bodyPr wrap="square" lIns="0" rIns="0" tIns="0" bIns="0" anchor="t"/>
          <a:lstStyle/>
          <a:p>
            <a:pPr algn="l">
              <a:spcAft>
                <a:spcPts val="100"/>
              </a:spcAft>
            </a:pPr>
            <a:r>
              <a:rPr sz="2100" b="1" i="0">
                <a:solidFill>
                  <a:srgbClr val="FFFFFF"/>
                </a:solidFill>
                <a:latin typeface="Arial"/>
              </a:rPr>
              <a:t>1,154</a:t>
            </a:r>
          </a:p>
          <a:p>
            <a:pPr algn="l"/>
            <a:r>
              <a:rPr sz="950" b="1" i="0">
                <a:solidFill>
                  <a:srgbClr val="9FB4BF"/>
                </a:solidFill>
                <a:latin typeface="Arial"/>
              </a:rPr>
              <a:t>COMMITS</a:t>
            </a:r>
          </a:p>
        </p:txBody>
      </p:sp>
      <p:sp>
        <p:nvSpPr>
          <p:cNvPr id="9" name="TextBox 9"/>
          <p:cNvSpPr txBox="1"/>
          <p:nvPr/>
        </p:nvSpPr>
        <p:spPr>
          <a:xfrm>
            <a:off x="2761488" y="4526280"/>
            <a:ext cx="1737360" cy="566928"/>
          </a:xfrm>
          <a:prstGeom prst="rect">
            <a:avLst/>
          </a:prstGeom>
          <a:noFill/>
        </p:spPr>
        <p:txBody>
          <a:bodyPr wrap="square" lIns="0" rIns="0" tIns="0" bIns="0" anchor="t"/>
          <a:lstStyle/>
          <a:p>
            <a:pPr algn="l">
              <a:spcAft>
                <a:spcPts val="100"/>
              </a:spcAft>
            </a:pPr>
            <a:r>
              <a:rPr sz="2100" b="1" i="0">
                <a:solidFill>
                  <a:srgbClr val="FFFFFF"/>
                </a:solidFill>
                <a:latin typeface="Arial"/>
              </a:rPr>
              <a:t>2019</a:t>
            </a:r>
          </a:p>
          <a:p>
            <a:pPr algn="l"/>
            <a:r>
              <a:rPr sz="950" b="1" i="0">
                <a:solidFill>
                  <a:srgbClr val="9FB4BF"/>
                </a:solidFill>
                <a:latin typeface="Arial"/>
              </a:rPr>
              <a:t>FIRST COMMIT</a:t>
            </a:r>
          </a:p>
        </p:txBody>
      </p:sp>
      <p:sp>
        <p:nvSpPr>
          <p:cNvPr id="10" name="TextBox 10"/>
          <p:cNvSpPr txBox="1"/>
          <p:nvPr/>
        </p:nvSpPr>
        <p:spPr>
          <a:xfrm>
            <a:off x="4727448" y="4526280"/>
            <a:ext cx="1737360" cy="566928"/>
          </a:xfrm>
          <a:prstGeom prst="rect">
            <a:avLst/>
          </a:prstGeom>
          <a:noFill/>
        </p:spPr>
        <p:txBody>
          <a:bodyPr wrap="square" lIns="0" rIns="0" tIns="0" bIns="0" anchor="t"/>
          <a:lstStyle/>
          <a:p>
            <a:pPr algn="l">
              <a:spcAft>
                <a:spcPts val="100"/>
              </a:spcAft>
            </a:pPr>
            <a:r>
              <a:rPr sz="2100" b="1" i="0">
                <a:solidFill>
                  <a:srgbClr val="FFFFFF"/>
                </a:solidFill>
                <a:latin typeface="Arial"/>
              </a:rPr>
              <a:t>GPL-3.0</a:t>
            </a:r>
          </a:p>
          <a:p>
            <a:pPr algn="l"/>
            <a:r>
              <a:rPr sz="950" b="1" i="0">
                <a:solidFill>
                  <a:srgbClr val="9FB4BF"/>
                </a:solidFill>
                <a:latin typeface="Arial"/>
              </a:rPr>
              <a:t>LICENSE</a:t>
            </a:r>
          </a:p>
        </p:txBody>
      </p:sp>
      <p:sp>
        <p:nvSpPr>
          <p:cNvPr id="11" name="TextBox 11"/>
          <p:cNvSpPr txBox="1"/>
          <p:nvPr/>
        </p:nvSpPr>
        <p:spPr>
          <a:xfrm>
            <a:off x="795528" y="5870448"/>
            <a:ext cx="7315200" cy="457200"/>
          </a:xfrm>
          <a:prstGeom prst="rect">
            <a:avLst/>
          </a:prstGeom>
          <a:noFill/>
        </p:spPr>
        <p:txBody>
          <a:bodyPr wrap="square" lIns="0" rIns="0" tIns="0" bIns="0" anchor="t"/>
          <a:lstStyle/>
          <a:p>
            <a:pPr algn="l"/>
            <a:r>
              <a:rPr sz="1200" b="0" i="0">
                <a:solidFill>
                  <a:srgbClr val="7E9AA8"/>
                </a:solidFill>
                <a:latin typeface="Calibri"/>
              </a:rPr>
              <a:t>Daniel Stolzberg, PhD   ·   github.com/dstolz/epsych2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ORIENTATION</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What EPsych is</a:t>
            </a:r>
          </a:p>
        </p:txBody>
      </p:sp>
      <p:sp>
        <p:nvSpPr>
          <p:cNvPr id="4" name="Oval 4"/>
          <p:cNvSpPr/>
          <p:nvPr/>
        </p:nvSpPr>
        <p:spPr>
          <a:xfrm>
            <a:off x="566928" y="1691925"/>
            <a:ext cx="77724" cy="7772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5"/>
          <p:cNvSpPr txBox="1"/>
          <p:nvPr/>
        </p:nvSpPr>
        <p:spPr>
          <a:xfrm>
            <a:off x="804672" y="1627632"/>
            <a:ext cx="6208776" cy="637794"/>
          </a:xfrm>
          <a:prstGeom prst="rect">
            <a:avLst/>
          </a:prstGeom>
          <a:noFill/>
        </p:spPr>
        <p:txBody>
          <a:bodyPr wrap="square" lIns="0" rIns="0" tIns="0" bIns="0" anchor="t"/>
          <a:lstStyle/>
          <a:p>
            <a:pPr algn="l">
              <a:lnSpc>
                <a:spcPct val="124000"/>
              </a:lnSpc>
            </a:pPr>
            <a:r>
              <a:rPr sz="1350" b="1" i="0">
                <a:solidFill>
                  <a:srgbClr val="0F1E27"/>
                </a:solidFill>
                <a:latin typeface="Calibri"/>
              </a:rPr>
              <a:t>One repository, one workflow. </a:t>
            </a:r>
            <a:r>
              <a:rPr sz="1350" b="0" i="0">
                <a:solidFill>
                  <a:srgbClr val="0F1E27"/>
                </a:solidFill>
                <a:latin typeface="Calibri"/>
              </a:rPr>
              <a:t>Protocol authoring, a session runtime GUI, a hardware abstraction layer, stimulus generation and calibration, and online psychophysics all ship together.</a:t>
            </a:r>
          </a:p>
        </p:txBody>
      </p:sp>
      <p:sp>
        <p:nvSpPr>
          <p:cNvPr id="6" name="Oval 6"/>
          <p:cNvSpPr/>
          <p:nvPr/>
        </p:nvSpPr>
        <p:spPr>
          <a:xfrm>
            <a:off x="566928" y="2520219"/>
            <a:ext cx="77724" cy="7772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7"/>
          <p:cNvSpPr txBox="1"/>
          <p:nvPr/>
        </p:nvSpPr>
        <p:spPr>
          <a:xfrm>
            <a:off x="804672" y="2455926"/>
            <a:ext cx="6208776" cy="637794"/>
          </a:xfrm>
          <a:prstGeom prst="rect">
            <a:avLst/>
          </a:prstGeom>
          <a:noFill/>
        </p:spPr>
        <p:txBody>
          <a:bodyPr wrap="square" lIns="0" rIns="0" tIns="0" bIns="0" anchor="t"/>
          <a:lstStyle/>
          <a:p>
            <a:pPr algn="l">
              <a:lnSpc>
                <a:spcPct val="124000"/>
              </a:lnSpc>
            </a:pPr>
            <a:r>
              <a:rPr sz="1350" b="1" i="0">
                <a:solidFill>
                  <a:srgbClr val="0F1E27"/>
                </a:solidFill>
                <a:latin typeface="Calibri"/>
              </a:rPr>
              <a:t>Built for TDT auditory labs, not locked to them. </a:t>
            </a:r>
            <a:r>
              <a:rPr sz="1350" b="0" i="0">
                <a:solidFill>
                  <a:srgbClr val="0F1E27"/>
                </a:solidFill>
                <a:latin typeface="Calibri"/>
              </a:rPr>
              <a:t>The protocol records which backend an experiment uses, and the runtime is written against a single hw.Interface contract, so rigs are swappable.</a:t>
            </a:r>
          </a:p>
        </p:txBody>
      </p:sp>
      <p:sp>
        <p:nvSpPr>
          <p:cNvPr id="8" name="Oval 8"/>
          <p:cNvSpPr/>
          <p:nvPr/>
        </p:nvSpPr>
        <p:spPr>
          <a:xfrm>
            <a:off x="566928" y="3348513"/>
            <a:ext cx="77724" cy="7772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9"/>
          <p:cNvSpPr txBox="1"/>
          <p:nvPr/>
        </p:nvSpPr>
        <p:spPr>
          <a:xfrm>
            <a:off x="804672" y="3284220"/>
            <a:ext cx="6208776" cy="637794"/>
          </a:xfrm>
          <a:prstGeom prst="rect">
            <a:avLst/>
          </a:prstGeom>
          <a:noFill/>
        </p:spPr>
        <p:txBody>
          <a:bodyPr wrap="square" lIns="0" rIns="0" tIns="0" bIns="0" anchor="t"/>
          <a:lstStyle/>
          <a:p>
            <a:pPr algn="l">
              <a:lnSpc>
                <a:spcPct val="124000"/>
              </a:lnSpc>
            </a:pPr>
            <a:r>
              <a:rPr sz="1350" b="1" i="0">
                <a:solidFill>
                  <a:srgbClr val="0F1E27"/>
                </a:solidFill>
                <a:latin typeface="Calibri"/>
              </a:rPr>
              <a:t>An evolved tool, by design. </a:t>
            </a:r>
            <a:r>
              <a:rPr sz="1350" b="0" i="0">
                <a:solidFill>
                  <a:srgbClr val="0F1E27"/>
                </a:solidFill>
                <a:latin typeface="Calibri"/>
              </a:rPr>
              <a:t>Legacy procedural code, GUIDE-era GUIs, and newer object-oriented runtime components coexist. That mixed structure is the key architectural fact to grasp before making changes.</a:t>
            </a:r>
          </a:p>
        </p:txBody>
      </p:sp>
      <p:sp>
        <p:nvSpPr>
          <p:cNvPr id="10" name="Oval 10"/>
          <p:cNvSpPr/>
          <p:nvPr/>
        </p:nvSpPr>
        <p:spPr>
          <a:xfrm>
            <a:off x="566928" y="4176807"/>
            <a:ext cx="77724" cy="7772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1"/>
          <p:cNvSpPr txBox="1"/>
          <p:nvPr/>
        </p:nvSpPr>
        <p:spPr>
          <a:xfrm>
            <a:off x="804672" y="4112514"/>
            <a:ext cx="6208776" cy="425196"/>
          </a:xfrm>
          <a:prstGeom prst="rect">
            <a:avLst/>
          </a:prstGeom>
          <a:noFill/>
        </p:spPr>
        <p:txBody>
          <a:bodyPr wrap="square" lIns="0" rIns="0" tIns="0" bIns="0" anchor="t"/>
          <a:lstStyle/>
          <a:p>
            <a:pPr algn="l">
              <a:lnSpc>
                <a:spcPct val="124000"/>
              </a:lnSpc>
            </a:pPr>
            <a:r>
              <a:rPr sz="1350" b="1" i="0">
                <a:solidFill>
                  <a:srgbClr val="0F1E27"/>
                </a:solidFill>
                <a:latin typeface="Calibri"/>
              </a:rPr>
              <a:t>Extensible without forking. </a:t>
            </a:r>
            <a:r>
              <a:rPr sz="1350" b="0" i="0">
                <a:solidFill>
                  <a:srgbClr val="0F1E27"/>
                </a:solidFill>
                <a:latin typeface="Calibri"/>
              </a:rPr>
              <a:t>Trial selectors, save functions, behavior GUIs, and analysis classes are all pluggable through documented seams.</a:t>
            </a:r>
          </a:p>
        </p:txBody>
      </p:sp>
      <p:sp>
        <p:nvSpPr>
          <p:cNvPr id="12" name="Rounded Rectangle 12"/>
          <p:cNvSpPr/>
          <p:nvPr/>
        </p:nvSpPr>
        <p:spPr>
          <a:xfrm>
            <a:off x="7360920" y="1627632"/>
            <a:ext cx="2212848" cy="162763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3"/>
          <p:cNvSpPr txBox="1"/>
          <p:nvPr/>
        </p:nvSpPr>
        <p:spPr>
          <a:xfrm>
            <a:off x="7616952" y="1901952"/>
            <a:ext cx="1737360" cy="548640"/>
          </a:xfrm>
          <a:prstGeom prst="rect">
            <a:avLst/>
          </a:prstGeom>
          <a:noFill/>
        </p:spPr>
        <p:txBody>
          <a:bodyPr wrap="square" lIns="0" rIns="0" tIns="0" bIns="0" anchor="t"/>
          <a:lstStyle/>
          <a:p>
            <a:pPr algn="l"/>
            <a:r>
              <a:rPr sz="3400" b="1" i="0">
                <a:solidFill>
                  <a:srgbClr val="1D6E8A"/>
                </a:solidFill>
                <a:latin typeface="Arial"/>
              </a:rPr>
              <a:t>91K</a:t>
            </a:r>
          </a:p>
        </p:txBody>
      </p:sp>
      <p:sp>
        <p:nvSpPr>
          <p:cNvPr id="14" name="TextBox 14"/>
          <p:cNvSpPr txBox="1"/>
          <p:nvPr/>
        </p:nvSpPr>
        <p:spPr>
          <a:xfrm>
            <a:off x="7616952" y="2542032"/>
            <a:ext cx="1783080" cy="640080"/>
          </a:xfrm>
          <a:prstGeom prst="rect">
            <a:avLst/>
          </a:prstGeom>
          <a:noFill/>
        </p:spPr>
        <p:txBody>
          <a:bodyPr wrap="square" lIns="0" rIns="0" tIns="0" bIns="0" anchor="t"/>
          <a:lstStyle/>
          <a:p>
            <a:pPr algn="l">
              <a:spcAft>
                <a:spcPts val="200"/>
              </a:spcAft>
            </a:pPr>
            <a:r>
              <a:rPr sz="1200" b="1" i="0">
                <a:solidFill>
                  <a:srgbClr val="0F1E27"/>
                </a:solidFill>
                <a:latin typeface="Calibri"/>
              </a:rPr>
              <a:t>lines of MATLAB</a:t>
            </a:r>
          </a:p>
          <a:p>
            <a:pPr algn="l"/>
            <a:r>
              <a:rPr sz="1050" b="0" i="0">
                <a:solidFill>
                  <a:srgbClr val="566E7C"/>
                </a:solidFill>
                <a:latin typeface="Calibri"/>
              </a:rPr>
              <a:t>excluding the submodule</a:t>
            </a:r>
          </a:p>
        </p:txBody>
      </p:sp>
      <p:sp>
        <p:nvSpPr>
          <p:cNvPr id="15" name="Rounded Rectangle 15"/>
          <p:cNvSpPr/>
          <p:nvPr/>
        </p:nvSpPr>
        <p:spPr>
          <a:xfrm>
            <a:off x="9829800" y="1627632"/>
            <a:ext cx="2212848" cy="162763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6"/>
          <p:cNvSpPr txBox="1"/>
          <p:nvPr/>
        </p:nvSpPr>
        <p:spPr>
          <a:xfrm>
            <a:off x="10085832" y="1901952"/>
            <a:ext cx="1737360" cy="548640"/>
          </a:xfrm>
          <a:prstGeom prst="rect">
            <a:avLst/>
          </a:prstGeom>
          <a:noFill/>
        </p:spPr>
        <p:txBody>
          <a:bodyPr wrap="square" lIns="0" rIns="0" tIns="0" bIns="0" anchor="t"/>
          <a:lstStyle/>
          <a:p>
            <a:pPr algn="l"/>
            <a:r>
              <a:rPr sz="3400" b="1" i="0">
                <a:solidFill>
                  <a:srgbClr val="1D6E8A"/>
                </a:solidFill>
                <a:latin typeface="Arial"/>
              </a:rPr>
              <a:t>109</a:t>
            </a:r>
          </a:p>
        </p:txBody>
      </p:sp>
      <p:sp>
        <p:nvSpPr>
          <p:cNvPr id="17" name="TextBox 17"/>
          <p:cNvSpPr txBox="1"/>
          <p:nvPr/>
        </p:nvSpPr>
        <p:spPr>
          <a:xfrm>
            <a:off x="10085832" y="2542032"/>
            <a:ext cx="1783080" cy="640080"/>
          </a:xfrm>
          <a:prstGeom prst="rect">
            <a:avLst/>
          </a:prstGeom>
          <a:noFill/>
        </p:spPr>
        <p:txBody>
          <a:bodyPr wrap="square" lIns="0" rIns="0" tIns="0" bIns="0" anchor="t"/>
          <a:lstStyle/>
          <a:p>
            <a:pPr algn="l">
              <a:spcAft>
                <a:spcPts val="200"/>
              </a:spcAft>
            </a:pPr>
            <a:r>
              <a:rPr sz="1200" b="1" i="0">
                <a:solidFill>
                  <a:srgbClr val="0F1E27"/>
                </a:solidFill>
                <a:latin typeface="Calibri"/>
              </a:rPr>
              <a:t>class definitions</a:t>
            </a:r>
          </a:p>
          <a:p>
            <a:pPr algn="l"/>
            <a:r>
              <a:rPr sz="1050" b="0" i="0">
                <a:solidFill>
                  <a:srgbClr val="566E7C"/>
                </a:solidFill>
                <a:latin typeface="Calibri"/>
              </a:rPr>
              <a:t>in nine obj/ packages</a:t>
            </a:r>
          </a:p>
        </p:txBody>
      </p:sp>
      <p:sp>
        <p:nvSpPr>
          <p:cNvPr id="18" name="Rounded Rectangle 18"/>
          <p:cNvSpPr/>
          <p:nvPr/>
        </p:nvSpPr>
        <p:spPr>
          <a:xfrm>
            <a:off x="7360920" y="3511296"/>
            <a:ext cx="2212848" cy="162763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9"/>
          <p:cNvSpPr txBox="1"/>
          <p:nvPr/>
        </p:nvSpPr>
        <p:spPr>
          <a:xfrm>
            <a:off x="7616952" y="3785616"/>
            <a:ext cx="1737360" cy="548640"/>
          </a:xfrm>
          <a:prstGeom prst="rect">
            <a:avLst/>
          </a:prstGeom>
          <a:noFill/>
        </p:spPr>
        <p:txBody>
          <a:bodyPr wrap="square" lIns="0" rIns="0" tIns="0" bIns="0" anchor="t"/>
          <a:lstStyle/>
          <a:p>
            <a:pPr algn="l"/>
            <a:r>
              <a:rPr sz="3400" b="1" i="0">
                <a:solidFill>
                  <a:srgbClr val="1D6E8A"/>
                </a:solidFill>
                <a:latin typeface="Arial"/>
              </a:rPr>
              <a:t>9</a:t>
            </a:r>
          </a:p>
        </p:txBody>
      </p:sp>
      <p:sp>
        <p:nvSpPr>
          <p:cNvPr id="20" name="TextBox 20"/>
          <p:cNvSpPr txBox="1"/>
          <p:nvPr/>
        </p:nvSpPr>
        <p:spPr>
          <a:xfrm>
            <a:off x="7616952" y="4425696"/>
            <a:ext cx="1783080" cy="640080"/>
          </a:xfrm>
          <a:prstGeom prst="rect">
            <a:avLst/>
          </a:prstGeom>
          <a:noFill/>
        </p:spPr>
        <p:txBody>
          <a:bodyPr wrap="square" lIns="0" rIns="0" tIns="0" bIns="0" anchor="t"/>
          <a:lstStyle/>
          <a:p>
            <a:pPr algn="l">
              <a:spcAft>
                <a:spcPts val="200"/>
              </a:spcAft>
            </a:pPr>
            <a:r>
              <a:rPr sz="1200" b="1" i="0">
                <a:solidFill>
                  <a:srgbClr val="0F1E27"/>
                </a:solidFill>
                <a:latin typeface="Calibri"/>
              </a:rPr>
              <a:t>hardware backends</a:t>
            </a:r>
          </a:p>
          <a:p>
            <a:pPr algn="l"/>
            <a:r>
              <a:rPr sz="1050" b="0" i="0">
                <a:solidFill>
                  <a:srgbClr val="566E7C"/>
                </a:solidFill>
                <a:latin typeface="Calibri"/>
              </a:rPr>
              <a:t>one shared contract</a:t>
            </a:r>
          </a:p>
        </p:txBody>
      </p:sp>
      <p:sp>
        <p:nvSpPr>
          <p:cNvPr id="21" name="Rounded Rectangle 21"/>
          <p:cNvSpPr/>
          <p:nvPr/>
        </p:nvSpPr>
        <p:spPr>
          <a:xfrm>
            <a:off x="9829800" y="3511296"/>
            <a:ext cx="2212848" cy="162763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2"/>
          <p:cNvSpPr txBox="1"/>
          <p:nvPr/>
        </p:nvSpPr>
        <p:spPr>
          <a:xfrm>
            <a:off x="10085832" y="3785616"/>
            <a:ext cx="1737360" cy="548640"/>
          </a:xfrm>
          <a:prstGeom prst="rect">
            <a:avLst/>
          </a:prstGeom>
          <a:noFill/>
        </p:spPr>
        <p:txBody>
          <a:bodyPr wrap="square" lIns="0" rIns="0" tIns="0" bIns="0" anchor="t"/>
          <a:lstStyle/>
          <a:p>
            <a:pPr algn="l"/>
            <a:r>
              <a:rPr sz="3400" b="1" i="0">
                <a:solidFill>
                  <a:srgbClr val="1D6E8A"/>
                </a:solidFill>
                <a:latin typeface="Arial"/>
              </a:rPr>
              <a:t>83</a:t>
            </a:r>
          </a:p>
        </p:txBody>
      </p:sp>
      <p:sp>
        <p:nvSpPr>
          <p:cNvPr id="23" name="TextBox 23"/>
          <p:cNvSpPr txBox="1"/>
          <p:nvPr/>
        </p:nvSpPr>
        <p:spPr>
          <a:xfrm>
            <a:off x="10085832" y="4425696"/>
            <a:ext cx="1783080" cy="640080"/>
          </a:xfrm>
          <a:prstGeom prst="rect">
            <a:avLst/>
          </a:prstGeom>
          <a:noFill/>
        </p:spPr>
        <p:txBody>
          <a:bodyPr wrap="square" lIns="0" rIns="0" tIns="0" bIns="0" anchor="t"/>
          <a:lstStyle/>
          <a:p>
            <a:pPr algn="l">
              <a:spcAft>
                <a:spcPts val="200"/>
              </a:spcAft>
            </a:pPr>
            <a:r>
              <a:rPr sz="1200" b="1" i="0">
                <a:solidFill>
                  <a:srgbClr val="0F1E27"/>
                </a:solidFill>
                <a:latin typeface="Calibri"/>
              </a:rPr>
              <a:t>documentation pages</a:t>
            </a:r>
          </a:p>
          <a:p>
            <a:pPr algn="l"/>
            <a:r>
              <a:rPr sz="1050" b="0" i="0">
                <a:solidFill>
                  <a:srgbClr val="566E7C"/>
                </a:solidFill>
                <a:latin typeface="Calibri"/>
              </a:rPr>
              <a:t>plus a project wiki</a:t>
            </a:r>
          </a:p>
        </p:txBody>
      </p:sp>
      <p:sp>
        <p:nvSpPr>
          <p:cNvPr id="24" name="TextBox 24"/>
          <p:cNvSpPr txBox="1"/>
          <p:nvPr/>
        </p:nvSpPr>
        <p:spPr>
          <a:xfrm>
            <a:off x="566928" y="5138928"/>
            <a:ext cx="6446520" cy="274320"/>
          </a:xfrm>
          <a:prstGeom prst="rect">
            <a:avLst/>
          </a:prstGeom>
          <a:noFill/>
        </p:spPr>
        <p:txBody>
          <a:bodyPr wrap="square" lIns="0" rIns="0" tIns="0" bIns="0" anchor="t"/>
          <a:lstStyle/>
          <a:p>
            <a:pPr algn="l"/>
            <a:r>
              <a:rPr sz="1100" b="1" i="0">
                <a:solidFill>
                  <a:srgbClr val="B5642A"/>
                </a:solidFill>
                <a:latin typeface="Arial"/>
              </a:rPr>
              <a:t>THE PACKAGES UNDER obj/</a:t>
            </a:r>
          </a:p>
        </p:txBody>
      </p:sp>
      <p:sp>
        <p:nvSpPr>
          <p:cNvPr id="25" name="Rounded Rectangle 25"/>
          <p:cNvSpPr/>
          <p:nvPr/>
        </p:nvSpPr>
        <p:spPr>
          <a:xfrm>
            <a:off x="566928" y="5468112"/>
            <a:ext cx="811008"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+epsych</a:t>
            </a:r>
          </a:p>
        </p:txBody>
      </p:sp>
      <p:sp>
        <p:nvSpPr>
          <p:cNvPr id="26" name="Rounded Rectangle 26"/>
          <p:cNvSpPr/>
          <p:nvPr/>
        </p:nvSpPr>
        <p:spPr>
          <a:xfrm>
            <a:off x="1504936" y="5468112"/>
            <a:ext cx="532187"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+hw</a:t>
            </a:r>
          </a:p>
        </p:txBody>
      </p:sp>
      <p:sp>
        <p:nvSpPr>
          <p:cNvPr id="27" name="Rounded Rectangle 27"/>
          <p:cNvSpPr/>
          <p:nvPr/>
        </p:nvSpPr>
        <p:spPr>
          <a:xfrm>
            <a:off x="2164123" y="5468112"/>
            <a:ext cx="533560"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+gui</a:t>
            </a:r>
          </a:p>
        </p:txBody>
      </p:sp>
      <p:sp>
        <p:nvSpPr>
          <p:cNvPr id="28" name="Rounded Rectangle 28"/>
          <p:cNvSpPr/>
          <p:nvPr/>
        </p:nvSpPr>
        <p:spPr>
          <a:xfrm>
            <a:off x="2824683" y="5468112"/>
            <a:ext cx="1330193"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+psychophysics</a:t>
            </a:r>
          </a:p>
        </p:txBody>
      </p:sp>
      <p:sp>
        <p:nvSpPr>
          <p:cNvPr id="29" name="Rounded Rectangle 29"/>
          <p:cNvSpPr/>
          <p:nvPr/>
        </p:nvSpPr>
        <p:spPr>
          <a:xfrm>
            <a:off x="4281876" y="5468112"/>
            <a:ext cx="1032142"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+stimbridge</a:t>
            </a:r>
          </a:p>
        </p:txBody>
      </p:sp>
      <p:sp>
        <p:nvSpPr>
          <p:cNvPr id="30" name="Rounded Rectangle 30"/>
          <p:cNvSpPr/>
          <p:nvPr/>
        </p:nvSpPr>
        <p:spPr>
          <a:xfrm>
            <a:off x="5441018" y="5468112"/>
            <a:ext cx="780791"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+teensy</a:t>
            </a:r>
          </a:p>
        </p:txBody>
      </p:sp>
      <p:sp>
        <p:nvSpPr>
          <p:cNvPr id="31" name="Rounded Rectangle 31"/>
          <p:cNvSpPr/>
          <p:nvPr/>
        </p:nvSpPr>
        <p:spPr>
          <a:xfrm>
            <a:off x="6348809" y="5468112"/>
            <a:ext cx="1071974"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+peripherals</a:t>
            </a:r>
          </a:p>
        </p:txBody>
      </p:sp>
      <p:sp>
        <p:nvSpPr>
          <p:cNvPr id="32" name="Rounded Rectangle 32"/>
          <p:cNvSpPr/>
          <p:nvPr/>
        </p:nvSpPr>
        <p:spPr>
          <a:xfrm>
            <a:off x="7547783" y="5468112"/>
            <a:ext cx="692887"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+eplog</a:t>
            </a:r>
          </a:p>
        </p:txBody>
      </p:sp>
      <p:sp>
        <p:nvSpPr>
          <p:cNvPr id="33" name="Rounded Rectangle 33"/>
          <p:cNvSpPr/>
          <p:nvPr/>
        </p:nvSpPr>
        <p:spPr>
          <a:xfrm>
            <a:off x="8367670" y="5468112"/>
            <a:ext cx="544548"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+util</a:t>
            </a:r>
          </a:p>
        </p:txBody>
      </p:sp>
      <p:sp>
        <p:nvSpPr>
          <p:cNvPr id="34" name="Rounded Rectangle 34"/>
          <p:cNvSpPr/>
          <p:nvPr/>
        </p:nvSpPr>
        <p:spPr>
          <a:xfrm>
            <a:off x="9039218" y="5468112"/>
            <a:ext cx="1699666" cy="246888"/>
          </a:xfrm>
          <a:prstGeom prst="roundRect">
            <a:avLst>
              <a:gd name="adj" fmla="val 50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B5642A"/>
                </a:solidFill>
                <a:latin typeface="Arial"/>
              </a:rPr>
              <a:t>stimgen  ·  submodule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THE USER'S PATH</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Four stages, from protocol to result</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Most of the repository exists to support one of these four stages.</a:t>
            </a:r>
          </a:p>
        </p:txBody>
      </p:sp>
      <p:sp>
        <p:nvSpPr>
          <p:cNvPr id="5" name="Rounded Rectangle 5"/>
          <p:cNvSpPr/>
          <p:nvPr/>
        </p:nvSpPr>
        <p:spPr>
          <a:xfrm>
            <a:off x="566928" y="2331720"/>
            <a:ext cx="2487168" cy="21488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Oval 6"/>
          <p:cNvSpPr/>
          <p:nvPr/>
        </p:nvSpPr>
        <p:spPr>
          <a:xfrm>
            <a:off x="841247" y="2587752"/>
            <a:ext cx="384048" cy="384048"/>
          </a:xfrm>
          <a:prstGeom prst="ellipse">
            <a:avLst/>
          </a:prstGeom>
          <a:solidFill>
            <a:srgbClr val="B5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FFFFF"/>
                </a:solidFill>
                <a:latin typeface="Arial"/>
              </a:rPr>
              <a:t>1</a:t>
            </a:r>
          </a:p>
        </p:txBody>
      </p:sp>
      <p:sp>
        <p:nvSpPr>
          <p:cNvPr id="7" name="Rectangle 7"/>
          <p:cNvSpPr/>
          <p:nvPr/>
        </p:nvSpPr>
        <p:spPr>
          <a:xfrm>
            <a:off x="2450592" y="2624328"/>
            <a:ext cx="310896" cy="310896"/>
          </a:xfrm>
          <a:prstGeom prst="rect">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8"/>
          <p:cNvSpPr txBox="1"/>
          <p:nvPr/>
        </p:nvSpPr>
        <p:spPr>
          <a:xfrm>
            <a:off x="841247" y="3182112"/>
            <a:ext cx="1984248" cy="292608"/>
          </a:xfrm>
          <a:prstGeom prst="rect">
            <a:avLst/>
          </a:prstGeom>
          <a:noFill/>
        </p:spPr>
        <p:txBody>
          <a:bodyPr wrap="square" lIns="0" rIns="0" tIns="0" bIns="0" anchor="t"/>
          <a:lstStyle/>
          <a:p>
            <a:pPr algn="l"/>
            <a:r>
              <a:rPr sz="1500" b="1" i="0">
                <a:solidFill>
                  <a:srgbClr val="0F1E27"/>
                </a:solidFill>
                <a:latin typeface="Arial"/>
              </a:rPr>
              <a:t>Design a protocol</a:t>
            </a:r>
          </a:p>
        </p:txBody>
      </p:sp>
      <p:sp>
        <p:nvSpPr>
          <p:cNvPr id="9" name="TextBox 9"/>
          <p:cNvSpPr txBox="1"/>
          <p:nvPr/>
        </p:nvSpPr>
        <p:spPr>
          <a:xfrm>
            <a:off x="841247" y="3602736"/>
            <a:ext cx="1938528" cy="777240"/>
          </a:xfrm>
          <a:prstGeom prst="rect">
            <a:avLst/>
          </a:prstGeom>
          <a:noFill/>
        </p:spPr>
        <p:txBody>
          <a:bodyPr wrap="square" lIns="0" rIns="0" tIns="0" bIns="0" anchor="t"/>
          <a:lstStyle/>
          <a:p>
            <a:pPr algn="l">
              <a:lnSpc>
                <a:spcPct val="132000"/>
              </a:lnSpc>
            </a:pPr>
            <a:r>
              <a:rPr sz="1150" b="0" i="0">
                <a:solidFill>
                  <a:srgbClr val="566E7C"/>
                </a:solidFill>
                <a:latin typeface="Calibri"/>
              </a:rPr>
              <a:t>Protocol Designer — conditions, pairing, triggers, compiled and saved to a versioned .eprot file</a:t>
            </a:r>
          </a:p>
        </p:txBody>
      </p:sp>
      <p:sp>
        <p:nvSpPr>
          <p:cNvPr id="10" name="TextBox 10"/>
          <p:cNvSpPr txBox="1"/>
          <p:nvPr/>
        </p:nvSpPr>
        <p:spPr>
          <a:xfrm>
            <a:off x="3054096" y="3218688"/>
            <a:ext cx="374904" cy="310896"/>
          </a:xfrm>
          <a:prstGeom prst="rect">
            <a:avLst/>
          </a:prstGeom>
          <a:noFill/>
        </p:spPr>
        <p:txBody>
          <a:bodyPr wrap="square" lIns="0" rIns="0" tIns="0" bIns="0" anchor="t"/>
          <a:lstStyle/>
          <a:p>
            <a:pPr algn="ctr"/>
            <a:r>
              <a:rPr sz="1900" b="1" i="0">
                <a:solidFill>
                  <a:srgbClr val="1D6E8A"/>
                </a:solidFill>
                <a:latin typeface="Arial"/>
              </a:rPr>
              <a:t>→</a:t>
            </a:r>
          </a:p>
        </p:txBody>
      </p:sp>
      <p:sp>
        <p:nvSpPr>
          <p:cNvPr id="11" name="Rounded Rectangle 11"/>
          <p:cNvSpPr/>
          <p:nvPr/>
        </p:nvSpPr>
        <p:spPr>
          <a:xfrm>
            <a:off x="3429000" y="2331720"/>
            <a:ext cx="2487168" cy="21488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Oval 12"/>
          <p:cNvSpPr/>
          <p:nvPr/>
        </p:nvSpPr>
        <p:spPr>
          <a:xfrm>
            <a:off x="3703319" y="2587752"/>
            <a:ext cx="384048" cy="384048"/>
          </a:xfrm>
          <a:prstGeom prst="ellipse">
            <a:avLst/>
          </a:prstGeom>
          <a:solidFill>
            <a:srgbClr val="B5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FFFFF"/>
                </a:solidFill>
                <a:latin typeface="Arial"/>
              </a:rPr>
              <a:t>2</a:t>
            </a:r>
          </a:p>
        </p:txBody>
      </p:sp>
      <p:sp>
        <p:nvSpPr>
          <p:cNvPr id="13" name="Rectangle 13"/>
          <p:cNvSpPr/>
          <p:nvPr/>
        </p:nvSpPr>
        <p:spPr>
          <a:xfrm>
            <a:off x="5312664" y="2624328"/>
            <a:ext cx="310896" cy="310896"/>
          </a:xfrm>
          <a:prstGeom prst="rect">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4"/>
          <p:cNvSpPr txBox="1"/>
          <p:nvPr/>
        </p:nvSpPr>
        <p:spPr>
          <a:xfrm>
            <a:off x="3703319" y="3182112"/>
            <a:ext cx="1984248" cy="292608"/>
          </a:xfrm>
          <a:prstGeom prst="rect">
            <a:avLst/>
          </a:prstGeom>
          <a:noFill/>
        </p:spPr>
        <p:txBody>
          <a:bodyPr wrap="square" lIns="0" rIns="0" tIns="0" bIns="0" anchor="t"/>
          <a:lstStyle/>
          <a:p>
            <a:pPr algn="l"/>
            <a:r>
              <a:rPr sz="1500" b="1" i="0">
                <a:solidFill>
                  <a:srgbClr val="0F1E27"/>
                </a:solidFill>
                <a:latin typeface="Arial"/>
              </a:rPr>
              <a:t>Enrol the subject</a:t>
            </a:r>
          </a:p>
        </p:txBody>
      </p:sp>
      <p:sp>
        <p:nvSpPr>
          <p:cNvPr id="15" name="TextBox 15"/>
          <p:cNvSpPr txBox="1"/>
          <p:nvPr/>
        </p:nvSpPr>
        <p:spPr>
          <a:xfrm>
            <a:off x="3703319" y="3602736"/>
            <a:ext cx="1938528" cy="777240"/>
          </a:xfrm>
          <a:prstGeom prst="rect">
            <a:avLst/>
          </a:prstGeom>
          <a:noFill/>
        </p:spPr>
        <p:txBody>
          <a:bodyPr wrap="square" lIns="0" rIns="0" tIns="0" bIns="0" anchor="t"/>
          <a:lstStyle/>
          <a:p>
            <a:pPr algn="l">
              <a:lnSpc>
                <a:spcPct val="132000"/>
              </a:lnSpc>
            </a:pPr>
            <a:r>
              <a:rPr sz="1150" b="0" i="0">
                <a:solidFill>
                  <a:srgbClr val="566E7C"/>
                </a:solidFill>
                <a:latin typeface="Calibri"/>
              </a:rPr>
              <a:t>Subjects &amp; Projects — the shared .esub roster carries each animal's protocol and session settings</a:t>
            </a:r>
          </a:p>
        </p:txBody>
      </p:sp>
      <p:sp>
        <p:nvSpPr>
          <p:cNvPr id="16" name="TextBox 16"/>
          <p:cNvSpPr txBox="1"/>
          <p:nvPr/>
        </p:nvSpPr>
        <p:spPr>
          <a:xfrm>
            <a:off x="5916168" y="3218688"/>
            <a:ext cx="374904" cy="310896"/>
          </a:xfrm>
          <a:prstGeom prst="rect">
            <a:avLst/>
          </a:prstGeom>
          <a:noFill/>
        </p:spPr>
        <p:txBody>
          <a:bodyPr wrap="square" lIns="0" rIns="0" tIns="0" bIns="0" anchor="t"/>
          <a:lstStyle/>
          <a:p>
            <a:pPr algn="ctr"/>
            <a:r>
              <a:rPr sz="1900" b="1" i="0">
                <a:solidFill>
                  <a:srgbClr val="1D6E8A"/>
                </a:solidFill>
                <a:latin typeface="Arial"/>
              </a:rPr>
              <a:t>→</a:t>
            </a:r>
          </a:p>
        </p:txBody>
      </p:sp>
      <p:sp>
        <p:nvSpPr>
          <p:cNvPr id="17" name="Rounded Rectangle 17"/>
          <p:cNvSpPr/>
          <p:nvPr/>
        </p:nvSpPr>
        <p:spPr>
          <a:xfrm>
            <a:off x="6291072" y="2331720"/>
            <a:ext cx="2487168" cy="21488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Oval 18"/>
          <p:cNvSpPr/>
          <p:nvPr/>
        </p:nvSpPr>
        <p:spPr>
          <a:xfrm>
            <a:off x="6565391" y="2587752"/>
            <a:ext cx="384048" cy="384048"/>
          </a:xfrm>
          <a:prstGeom prst="ellipse">
            <a:avLst/>
          </a:prstGeom>
          <a:solidFill>
            <a:srgbClr val="B5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FFFFF"/>
                </a:solidFill>
                <a:latin typeface="Arial"/>
              </a:rPr>
              <a:t>3</a:t>
            </a:r>
          </a:p>
        </p:txBody>
      </p:sp>
      <p:sp>
        <p:nvSpPr>
          <p:cNvPr id="19" name="Rectangle 19"/>
          <p:cNvSpPr/>
          <p:nvPr/>
        </p:nvSpPr>
        <p:spPr>
          <a:xfrm>
            <a:off x="8174736" y="2624328"/>
            <a:ext cx="310896" cy="310896"/>
          </a:xfrm>
          <a:prstGeom prst="rect">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20"/>
          <p:cNvSpPr txBox="1"/>
          <p:nvPr/>
        </p:nvSpPr>
        <p:spPr>
          <a:xfrm>
            <a:off x="6565391" y="3182112"/>
            <a:ext cx="1984248" cy="292608"/>
          </a:xfrm>
          <a:prstGeom prst="rect">
            <a:avLst/>
          </a:prstGeom>
          <a:noFill/>
        </p:spPr>
        <p:txBody>
          <a:bodyPr wrap="square" lIns="0" rIns="0" tIns="0" bIns="0" anchor="t"/>
          <a:lstStyle/>
          <a:p>
            <a:pPr algn="l"/>
            <a:r>
              <a:rPr sz="1500" b="1" i="0">
                <a:solidFill>
                  <a:srgbClr val="0F1E27"/>
                </a:solidFill>
                <a:latin typeface="Arial"/>
              </a:rPr>
              <a:t>Run the session</a:t>
            </a:r>
          </a:p>
        </p:txBody>
      </p:sp>
      <p:sp>
        <p:nvSpPr>
          <p:cNvPr id="21" name="TextBox 21"/>
          <p:cNvSpPr txBox="1"/>
          <p:nvPr/>
        </p:nvSpPr>
        <p:spPr>
          <a:xfrm>
            <a:off x="6565391" y="3602736"/>
            <a:ext cx="1938528" cy="777240"/>
          </a:xfrm>
          <a:prstGeom prst="rect">
            <a:avLst/>
          </a:prstGeom>
          <a:noFill/>
        </p:spPr>
        <p:txBody>
          <a:bodyPr wrap="square" lIns="0" rIns="0" tIns="0" bIns="0" anchor="t"/>
          <a:lstStyle/>
          <a:p>
            <a:pPr algn="l">
              <a:lnSpc>
                <a:spcPct val="132000"/>
              </a:lnSpc>
            </a:pPr>
            <a:r>
              <a:rPr sz="1150" b="0" i="0">
                <a:solidFill>
                  <a:srgbClr val="566E7C"/>
                </a:solidFill>
                <a:latin typeface="Calibri"/>
              </a:rPr>
              <a:t>Runtime dispatches trials to TDT, Teensy or Bpod; the paradigm's behavior GUI tracks it live</a:t>
            </a:r>
          </a:p>
        </p:txBody>
      </p:sp>
      <p:sp>
        <p:nvSpPr>
          <p:cNvPr id="22" name="TextBox 22"/>
          <p:cNvSpPr txBox="1"/>
          <p:nvPr/>
        </p:nvSpPr>
        <p:spPr>
          <a:xfrm>
            <a:off x="8778240" y="3218688"/>
            <a:ext cx="374904" cy="310896"/>
          </a:xfrm>
          <a:prstGeom prst="rect">
            <a:avLst/>
          </a:prstGeom>
          <a:noFill/>
        </p:spPr>
        <p:txBody>
          <a:bodyPr wrap="square" lIns="0" rIns="0" tIns="0" bIns="0" anchor="t"/>
          <a:lstStyle/>
          <a:p>
            <a:pPr algn="ctr"/>
            <a:r>
              <a:rPr sz="1900" b="1" i="0">
                <a:solidFill>
                  <a:srgbClr val="1D6E8A"/>
                </a:solidFill>
                <a:latin typeface="Arial"/>
              </a:rPr>
              <a:t>→</a:t>
            </a:r>
          </a:p>
        </p:txBody>
      </p:sp>
      <p:sp>
        <p:nvSpPr>
          <p:cNvPr id="23" name="Rounded Rectangle 23"/>
          <p:cNvSpPr/>
          <p:nvPr/>
        </p:nvSpPr>
        <p:spPr>
          <a:xfrm>
            <a:off x="9153144" y="2331720"/>
            <a:ext cx="2487168" cy="21488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Oval 24"/>
          <p:cNvSpPr/>
          <p:nvPr/>
        </p:nvSpPr>
        <p:spPr>
          <a:xfrm>
            <a:off x="9427463" y="2587752"/>
            <a:ext cx="384048" cy="384048"/>
          </a:xfrm>
          <a:prstGeom prst="ellipse">
            <a:avLst/>
          </a:prstGeom>
          <a:solidFill>
            <a:srgbClr val="B5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FFFFF"/>
                </a:solidFill>
                <a:latin typeface="Arial"/>
              </a:rPr>
              <a:t>4</a:t>
            </a:r>
          </a:p>
        </p:txBody>
      </p:sp>
      <p:sp>
        <p:nvSpPr>
          <p:cNvPr id="25" name="Rectangle 25"/>
          <p:cNvSpPr/>
          <p:nvPr/>
        </p:nvSpPr>
        <p:spPr>
          <a:xfrm>
            <a:off x="11036808" y="2624328"/>
            <a:ext cx="310896" cy="310896"/>
          </a:xfrm>
          <a:prstGeom prst="rect">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6"/>
          <p:cNvSpPr txBox="1"/>
          <p:nvPr/>
        </p:nvSpPr>
        <p:spPr>
          <a:xfrm>
            <a:off x="9427463" y="3182112"/>
            <a:ext cx="1984248" cy="292608"/>
          </a:xfrm>
          <a:prstGeom prst="rect">
            <a:avLst/>
          </a:prstGeom>
          <a:noFill/>
        </p:spPr>
        <p:txBody>
          <a:bodyPr wrap="square" lIns="0" rIns="0" tIns="0" bIns="0" anchor="t"/>
          <a:lstStyle/>
          <a:p>
            <a:pPr algn="l"/>
            <a:r>
              <a:rPr sz="1500" b="1" i="0">
                <a:solidFill>
                  <a:srgbClr val="0F1E27"/>
                </a:solidFill>
                <a:latin typeface="Arial"/>
              </a:rPr>
              <a:t>Analyze the data</a:t>
            </a:r>
          </a:p>
        </p:txBody>
      </p:sp>
      <p:sp>
        <p:nvSpPr>
          <p:cNvPr id="27" name="TextBox 27"/>
          <p:cNvSpPr txBox="1"/>
          <p:nvPr/>
        </p:nvSpPr>
        <p:spPr>
          <a:xfrm>
            <a:off x="9427463" y="3602736"/>
            <a:ext cx="1938528" cy="777240"/>
          </a:xfrm>
          <a:prstGeom prst="rect">
            <a:avLst/>
          </a:prstGeom>
          <a:noFill/>
        </p:spPr>
        <p:txBody>
          <a:bodyPr wrap="square" lIns="0" rIns="0" tIns="0" bIns="0" anchor="t"/>
          <a:lstStyle/>
          <a:p>
            <a:pPr algn="l">
              <a:lnSpc>
                <a:spcPct val="132000"/>
              </a:lnSpc>
            </a:pPr>
            <a:r>
              <a:rPr sz="1150" b="0" i="0">
                <a:solidFill>
                  <a:srgbClr val="566E7C"/>
                </a:solidFill>
                <a:latin typeface="Calibri"/>
              </a:rPr>
              <a:t>BitMask decoding, d′, A′, staircase and threshold estimates — live, or replayed offline</a:t>
            </a:r>
          </a:p>
        </p:txBody>
      </p:sp>
      <p:sp>
        <p:nvSpPr>
          <p:cNvPr id="28" name="Rounded Rectangle 28"/>
          <p:cNvSpPr/>
          <p:nvPr/>
        </p:nvSpPr>
        <p:spPr>
          <a:xfrm>
            <a:off x="566928" y="5230368"/>
            <a:ext cx="3456432"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TextBox 29"/>
          <p:cNvSpPr txBox="1"/>
          <p:nvPr/>
        </p:nvSpPr>
        <p:spPr>
          <a:xfrm>
            <a:off x="822960" y="5394960"/>
            <a:ext cx="3108960" cy="237744"/>
          </a:xfrm>
          <a:prstGeom prst="rect">
            <a:avLst/>
          </a:prstGeom>
          <a:noFill/>
        </p:spPr>
        <p:txBody>
          <a:bodyPr wrap="square" lIns="0" rIns="0" tIns="0" bIns="0" anchor="t"/>
          <a:lstStyle/>
          <a:p>
            <a:pPr algn="l"/>
            <a:r>
              <a:rPr sz="1200" b="1" i="0">
                <a:solidFill>
                  <a:srgbClr val="1D6E8A"/>
                </a:solidFill>
                <a:latin typeface="Consolas"/>
              </a:rPr>
              <a:t>epsych_startup</a:t>
            </a:r>
          </a:p>
        </p:txBody>
      </p:sp>
      <p:sp>
        <p:nvSpPr>
          <p:cNvPr id="30" name="TextBox 30"/>
          <p:cNvSpPr txBox="1"/>
          <p:nvPr/>
        </p:nvSpPr>
        <p:spPr>
          <a:xfrm>
            <a:off x="822960" y="5678424"/>
            <a:ext cx="3108960" cy="237744"/>
          </a:xfrm>
          <a:prstGeom prst="rect">
            <a:avLst/>
          </a:prstGeom>
          <a:noFill/>
        </p:spPr>
        <p:txBody>
          <a:bodyPr wrap="square" lIns="0" rIns="0" tIns="0" bIns="0" anchor="t"/>
          <a:lstStyle/>
          <a:p>
            <a:pPr algn="l"/>
            <a:r>
              <a:rPr sz="1150" b="0" i="0">
                <a:solidFill>
                  <a:srgbClr val="566E7C"/>
                </a:solidFill>
                <a:latin typeface="Calibri"/>
              </a:rPr>
              <a:t>prepares MATLAB</a:t>
            </a:r>
          </a:p>
        </p:txBody>
      </p:sp>
      <p:sp>
        <p:nvSpPr>
          <p:cNvPr id="31" name="Rounded Rectangle 31"/>
          <p:cNvSpPr/>
          <p:nvPr/>
        </p:nvSpPr>
        <p:spPr>
          <a:xfrm>
            <a:off x="4370832" y="5230368"/>
            <a:ext cx="3456432"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TextBox 32"/>
          <p:cNvSpPr txBox="1"/>
          <p:nvPr/>
        </p:nvSpPr>
        <p:spPr>
          <a:xfrm>
            <a:off x="4626864" y="5394960"/>
            <a:ext cx="3108960" cy="237744"/>
          </a:xfrm>
          <a:prstGeom prst="rect">
            <a:avLst/>
          </a:prstGeom>
          <a:noFill/>
        </p:spPr>
        <p:txBody>
          <a:bodyPr wrap="square" lIns="0" rIns="0" tIns="0" bIns="0" anchor="t"/>
          <a:lstStyle/>
          <a:p>
            <a:pPr algn="l"/>
            <a:r>
              <a:rPr sz="1200" b="1" i="0">
                <a:solidFill>
                  <a:srgbClr val="1D6E8A"/>
                </a:solidFill>
                <a:latin typeface="Consolas"/>
              </a:rPr>
              <a:t>epsych.ProtocolDesigner</a:t>
            </a:r>
          </a:p>
        </p:txBody>
      </p:sp>
      <p:sp>
        <p:nvSpPr>
          <p:cNvPr id="33" name="TextBox 33"/>
          <p:cNvSpPr txBox="1"/>
          <p:nvPr/>
        </p:nvSpPr>
        <p:spPr>
          <a:xfrm>
            <a:off x="4626864" y="5678424"/>
            <a:ext cx="3108960" cy="237744"/>
          </a:xfrm>
          <a:prstGeom prst="rect">
            <a:avLst/>
          </a:prstGeom>
          <a:noFill/>
        </p:spPr>
        <p:txBody>
          <a:bodyPr wrap="square" lIns="0" rIns="0" tIns="0" bIns="0" anchor="t"/>
          <a:lstStyle/>
          <a:p>
            <a:pPr algn="l"/>
            <a:r>
              <a:rPr sz="1150" b="0" i="0">
                <a:solidFill>
                  <a:srgbClr val="566E7C"/>
                </a:solidFill>
                <a:latin typeface="Calibri"/>
              </a:rPr>
              <a:t>prepares the protocol</a:t>
            </a:r>
          </a:p>
        </p:txBody>
      </p:sp>
      <p:sp>
        <p:nvSpPr>
          <p:cNvPr id="34" name="Rounded Rectangle 34"/>
          <p:cNvSpPr/>
          <p:nvPr/>
        </p:nvSpPr>
        <p:spPr>
          <a:xfrm>
            <a:off x="8174736" y="5230368"/>
            <a:ext cx="3456432"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TextBox 35"/>
          <p:cNvSpPr txBox="1"/>
          <p:nvPr/>
        </p:nvSpPr>
        <p:spPr>
          <a:xfrm>
            <a:off x="8430768" y="5394960"/>
            <a:ext cx="3108960" cy="237744"/>
          </a:xfrm>
          <a:prstGeom prst="rect">
            <a:avLst/>
          </a:prstGeom>
          <a:noFill/>
        </p:spPr>
        <p:txBody>
          <a:bodyPr wrap="square" lIns="0" rIns="0" tIns="0" bIns="0" anchor="t"/>
          <a:lstStyle/>
          <a:p>
            <a:pPr algn="l"/>
            <a:r>
              <a:rPr sz="1200" b="1" i="0">
                <a:solidFill>
                  <a:srgbClr val="1D6E8A"/>
                </a:solidFill>
                <a:latin typeface="Consolas"/>
              </a:rPr>
              <a:t>epsych.RunExpt</a:t>
            </a:r>
          </a:p>
        </p:txBody>
      </p:sp>
      <p:sp>
        <p:nvSpPr>
          <p:cNvPr id="36" name="TextBox 36"/>
          <p:cNvSpPr txBox="1"/>
          <p:nvPr/>
        </p:nvSpPr>
        <p:spPr>
          <a:xfrm>
            <a:off x="8430768" y="5678424"/>
            <a:ext cx="3108960" cy="237744"/>
          </a:xfrm>
          <a:prstGeom prst="rect">
            <a:avLst/>
          </a:prstGeom>
          <a:noFill/>
        </p:spPr>
        <p:txBody>
          <a:bodyPr wrap="square" lIns="0" rIns="0" tIns="0" bIns="0" anchor="t"/>
          <a:lstStyle/>
          <a:p>
            <a:pPr algn="l"/>
            <a:r>
              <a:rPr sz="1150" b="0" i="0">
                <a:solidFill>
                  <a:srgbClr val="566E7C"/>
                </a:solidFill>
                <a:latin typeface="Calibri"/>
              </a:rPr>
              <a:t>runs the session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LAYERED VIEW</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Architecture at a glance</a:t>
            </a:r>
          </a:p>
        </p:txBody>
      </p:sp>
      <p:sp>
        <p:nvSpPr>
          <p:cNvPr id="4" name="Rounded Rectangle 4"/>
          <p:cNvSpPr/>
          <p:nvPr/>
        </p:nvSpPr>
        <p:spPr>
          <a:xfrm>
            <a:off x="566928" y="1517904"/>
            <a:ext cx="11057839" cy="841248"/>
          </a:xfrm>
          <a:prstGeom prst="roundRect">
            <a:avLst>
              <a:gd name="adj" fmla="val 6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5"/>
          <p:cNvSpPr txBox="1"/>
          <p:nvPr/>
        </p:nvSpPr>
        <p:spPr>
          <a:xfrm>
            <a:off x="896112" y="1874519"/>
            <a:ext cx="2743200" cy="237744"/>
          </a:xfrm>
          <a:prstGeom prst="rect">
            <a:avLst/>
          </a:prstGeom>
          <a:noFill/>
        </p:spPr>
        <p:txBody>
          <a:bodyPr wrap="square" lIns="0" rIns="0" tIns="0" bIns="0" anchor="t"/>
          <a:lstStyle/>
          <a:p>
            <a:pPr algn="l"/>
            <a:r>
              <a:rPr sz="1100" b="1" i="0">
                <a:solidFill>
                  <a:srgbClr val="B5642A"/>
                </a:solidFill>
                <a:latin typeface="Arial"/>
              </a:rPr>
              <a:t>GUIS</a:t>
            </a:r>
          </a:p>
        </p:txBody>
      </p:sp>
      <p:sp>
        <p:nvSpPr>
          <p:cNvPr id="6" name="Rounded Rectangle 6"/>
          <p:cNvSpPr/>
          <p:nvPr/>
        </p:nvSpPr>
        <p:spPr>
          <a:xfrm>
            <a:off x="2167128" y="1810512"/>
            <a:ext cx="1568197" cy="274320"/>
          </a:xfrm>
          <a:prstGeom prst="roundRect">
            <a:avLst>
              <a:gd name="adj" fmla="val 50000"/>
            </a:avLst>
          </a:prstGeom>
          <a:solidFill>
            <a:srgbClr val="FA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B5642A"/>
                </a:solidFill>
                <a:latin typeface="Arial"/>
              </a:rPr>
              <a:t>Protocol Designer</a:t>
            </a:r>
          </a:p>
        </p:txBody>
      </p:sp>
      <p:sp>
        <p:nvSpPr>
          <p:cNvPr id="7" name="Rounded Rectangle 7"/>
          <p:cNvSpPr/>
          <p:nvPr/>
        </p:nvSpPr>
        <p:spPr>
          <a:xfrm>
            <a:off x="3862325" y="1810512"/>
            <a:ext cx="891256" cy="274320"/>
          </a:xfrm>
          <a:prstGeom prst="roundRect">
            <a:avLst>
              <a:gd name="adj" fmla="val 50000"/>
            </a:avLst>
          </a:prstGeom>
          <a:solidFill>
            <a:srgbClr val="FA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B5642A"/>
                </a:solidFill>
                <a:latin typeface="Arial"/>
              </a:rPr>
              <a:t>RunExpt</a:t>
            </a:r>
          </a:p>
        </p:txBody>
      </p:sp>
      <p:sp>
        <p:nvSpPr>
          <p:cNvPr id="8" name="Rounded Rectangle 8"/>
          <p:cNvSpPr/>
          <p:nvPr/>
        </p:nvSpPr>
        <p:spPr>
          <a:xfrm>
            <a:off x="4880581" y="1810512"/>
            <a:ext cx="1697568" cy="274320"/>
          </a:xfrm>
          <a:prstGeom prst="roundRect">
            <a:avLst>
              <a:gd name="adj" fmla="val 50000"/>
            </a:avLst>
          </a:prstGeom>
          <a:solidFill>
            <a:srgbClr val="FA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B5642A"/>
                </a:solidFill>
                <a:latin typeface="Arial"/>
              </a:rPr>
              <a:t>Subjects &amp; Projects</a:t>
            </a:r>
          </a:p>
        </p:txBody>
      </p:sp>
      <p:sp>
        <p:nvSpPr>
          <p:cNvPr id="9" name="Rounded Rectangle 9"/>
          <p:cNvSpPr/>
          <p:nvPr/>
        </p:nvSpPr>
        <p:spPr>
          <a:xfrm>
            <a:off x="6705149" y="1810512"/>
            <a:ext cx="1303438" cy="274320"/>
          </a:xfrm>
          <a:prstGeom prst="roundRect">
            <a:avLst>
              <a:gd name="adj" fmla="val 50000"/>
            </a:avLst>
          </a:prstGeom>
          <a:solidFill>
            <a:srgbClr val="FA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B5642A"/>
                </a:solidFill>
                <a:latin typeface="Arial"/>
              </a:rPr>
              <a:t>Behavior GUIs</a:t>
            </a:r>
          </a:p>
        </p:txBody>
      </p:sp>
      <p:sp>
        <p:nvSpPr>
          <p:cNvPr id="10" name="Rounded Rectangle 10"/>
          <p:cNvSpPr/>
          <p:nvPr/>
        </p:nvSpPr>
        <p:spPr>
          <a:xfrm>
            <a:off x="8135587" y="1810512"/>
            <a:ext cx="1471921" cy="274320"/>
          </a:xfrm>
          <a:prstGeom prst="roundRect">
            <a:avLst>
              <a:gd name="adj" fmla="val 50000"/>
            </a:avLst>
          </a:prstGeom>
          <a:solidFill>
            <a:srgbClr val="FA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B5642A"/>
                </a:solidFill>
                <a:latin typeface="Arial"/>
              </a:rPr>
              <a:t>Behavior Builder</a:t>
            </a:r>
          </a:p>
        </p:txBody>
      </p:sp>
      <p:sp>
        <p:nvSpPr>
          <p:cNvPr id="11" name="Rounded Rectangle 11"/>
          <p:cNvSpPr/>
          <p:nvPr/>
        </p:nvSpPr>
        <p:spPr>
          <a:xfrm>
            <a:off x="9734508" y="1810512"/>
            <a:ext cx="957445" cy="274320"/>
          </a:xfrm>
          <a:prstGeom prst="roundRect">
            <a:avLst>
              <a:gd name="adj" fmla="val 50000"/>
            </a:avLst>
          </a:prstGeom>
          <a:solidFill>
            <a:srgbClr val="FAF0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B5642A"/>
                </a:solidFill>
                <a:latin typeface="Arial"/>
              </a:rPr>
              <a:t>Self-Test</a:t>
            </a:r>
          </a:p>
        </p:txBody>
      </p:sp>
      <p:sp>
        <p:nvSpPr>
          <p:cNvPr id="12" name="TextBox 12"/>
          <p:cNvSpPr txBox="1"/>
          <p:nvPr/>
        </p:nvSpPr>
        <p:spPr>
          <a:xfrm>
            <a:off x="566928" y="2395728"/>
            <a:ext cx="11057839" cy="274320"/>
          </a:xfrm>
          <a:prstGeom prst="rect">
            <a:avLst/>
          </a:prstGeom>
          <a:noFill/>
        </p:spPr>
        <p:txBody>
          <a:bodyPr wrap="square" lIns="0" rIns="0" tIns="0" bIns="0" anchor="t"/>
          <a:lstStyle/>
          <a:p>
            <a:pPr algn="ctr"/>
            <a:r>
              <a:rPr sz="1800" b="1" i="0">
                <a:solidFill>
                  <a:srgbClr val="1D6E8A"/>
                </a:solidFill>
                <a:latin typeface="Arial"/>
              </a:rPr>
              <a:t>↓</a:t>
            </a:r>
          </a:p>
        </p:txBody>
      </p:sp>
      <p:sp>
        <p:nvSpPr>
          <p:cNvPr id="13" name="Rounded Rectangle 13"/>
          <p:cNvSpPr/>
          <p:nvPr/>
        </p:nvSpPr>
        <p:spPr>
          <a:xfrm>
            <a:off x="566928" y="2724912"/>
            <a:ext cx="4343400" cy="2103120"/>
          </a:xfrm>
          <a:prstGeom prst="roundRect">
            <a:avLst>
              <a:gd name="adj" fmla="val 6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4"/>
          <p:cNvSpPr txBox="1"/>
          <p:nvPr/>
        </p:nvSpPr>
        <p:spPr>
          <a:xfrm>
            <a:off x="841247" y="2944368"/>
            <a:ext cx="3794762" cy="237744"/>
          </a:xfrm>
          <a:prstGeom prst="rect">
            <a:avLst/>
          </a:prstGeom>
          <a:noFill/>
        </p:spPr>
        <p:txBody>
          <a:bodyPr wrap="square" lIns="0" rIns="0" tIns="0" bIns="0" anchor="t"/>
          <a:lstStyle/>
          <a:p>
            <a:pPr algn="l"/>
            <a:r>
              <a:rPr sz="1100" b="1" i="0">
                <a:solidFill>
                  <a:srgbClr val="1D6E8A"/>
                </a:solidFill>
                <a:latin typeface="Arial"/>
              </a:rPr>
              <a:t>EPSYCH CORE</a:t>
            </a:r>
          </a:p>
        </p:txBody>
      </p:sp>
      <p:sp>
        <p:nvSpPr>
          <p:cNvPr id="15" name="Rounded Rectangle 15"/>
          <p:cNvSpPr/>
          <p:nvPr/>
        </p:nvSpPr>
        <p:spPr>
          <a:xfrm>
            <a:off x="841247" y="3200400"/>
            <a:ext cx="88523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Protocol</a:t>
            </a:r>
          </a:p>
        </p:txBody>
      </p:sp>
      <p:sp>
        <p:nvSpPr>
          <p:cNvPr id="16" name="Rounded Rectangle 16"/>
          <p:cNvSpPr/>
          <p:nvPr/>
        </p:nvSpPr>
        <p:spPr>
          <a:xfrm>
            <a:off x="1853485" y="3200400"/>
            <a:ext cx="874708"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Runtime</a:t>
            </a:r>
          </a:p>
        </p:txBody>
      </p:sp>
      <p:sp>
        <p:nvSpPr>
          <p:cNvPr id="17" name="Rounded Rectangle 17"/>
          <p:cNvSpPr/>
          <p:nvPr/>
        </p:nvSpPr>
        <p:spPr>
          <a:xfrm>
            <a:off x="2855193" y="3200400"/>
            <a:ext cx="978506"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EventHub</a:t>
            </a:r>
          </a:p>
        </p:txBody>
      </p:sp>
      <p:sp>
        <p:nvSpPr>
          <p:cNvPr id="18" name="Rounded Rectangle 18"/>
          <p:cNvSpPr/>
          <p:nvPr/>
        </p:nvSpPr>
        <p:spPr>
          <a:xfrm>
            <a:off x="841247" y="3602736"/>
            <a:ext cx="1222205"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TrialSelector</a:t>
            </a:r>
          </a:p>
        </p:txBody>
      </p:sp>
      <p:sp>
        <p:nvSpPr>
          <p:cNvPr id="19" name="Rounded Rectangle 19"/>
          <p:cNvSpPr/>
          <p:nvPr/>
        </p:nvSpPr>
        <p:spPr>
          <a:xfrm>
            <a:off x="2190452" y="3602736"/>
            <a:ext cx="879221"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BitMask</a:t>
            </a:r>
          </a:p>
        </p:txBody>
      </p:sp>
      <p:sp>
        <p:nvSpPr>
          <p:cNvPr id="20" name="Rounded Rectangle 20"/>
          <p:cNvSpPr/>
          <p:nvPr/>
        </p:nvSpPr>
        <p:spPr>
          <a:xfrm>
            <a:off x="841247" y="4005072"/>
            <a:ext cx="1306446"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SubjectRoster</a:t>
            </a:r>
          </a:p>
        </p:txBody>
      </p:sp>
      <p:sp>
        <p:nvSpPr>
          <p:cNvPr id="21" name="Rounded Rectangle 21"/>
          <p:cNvSpPr/>
          <p:nvPr/>
        </p:nvSpPr>
        <p:spPr>
          <a:xfrm>
            <a:off x="2274693" y="4005072"/>
            <a:ext cx="1168049"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TrialJournal</a:t>
            </a:r>
          </a:p>
        </p:txBody>
      </p:sp>
      <p:sp>
        <p:nvSpPr>
          <p:cNvPr id="22" name="TextBox 22"/>
          <p:cNvSpPr txBox="1"/>
          <p:nvPr/>
        </p:nvSpPr>
        <p:spPr>
          <a:xfrm>
            <a:off x="841247" y="4407408"/>
            <a:ext cx="3794762" cy="457200"/>
          </a:xfrm>
          <a:prstGeom prst="rect">
            <a:avLst/>
          </a:prstGeom>
          <a:noFill/>
        </p:spPr>
        <p:txBody>
          <a:bodyPr wrap="square" lIns="0" rIns="0" tIns="0" bIns="0" anchor="t"/>
          <a:lstStyle/>
          <a:p>
            <a:pPr algn="l">
              <a:lnSpc>
                <a:spcPct val="128000"/>
              </a:lnSpc>
            </a:pPr>
            <a:r>
              <a:rPr sz="1100" b="0" i="0">
                <a:solidFill>
                  <a:srgbClr val="1D6E8A"/>
                </a:solidFill>
                <a:latin typeface="Calibri"/>
              </a:rPr>
              <a:t>Trial dispatch, parameter writes, session state, crash-safe saving</a:t>
            </a:r>
          </a:p>
        </p:txBody>
      </p:sp>
      <p:sp>
        <p:nvSpPr>
          <p:cNvPr id="23" name="Rounded Rectangle 23"/>
          <p:cNvSpPr/>
          <p:nvPr/>
        </p:nvSpPr>
        <p:spPr>
          <a:xfrm>
            <a:off x="5020056" y="2724912"/>
            <a:ext cx="3246120" cy="2103120"/>
          </a:xfrm>
          <a:prstGeom prst="roundRect">
            <a:avLst>
              <a:gd name="adj" fmla="val 6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4"/>
          <p:cNvSpPr txBox="1"/>
          <p:nvPr/>
        </p:nvSpPr>
        <p:spPr>
          <a:xfrm>
            <a:off x="5294375" y="2944368"/>
            <a:ext cx="2697482" cy="237744"/>
          </a:xfrm>
          <a:prstGeom prst="rect">
            <a:avLst/>
          </a:prstGeom>
          <a:noFill/>
        </p:spPr>
        <p:txBody>
          <a:bodyPr wrap="square" lIns="0" rIns="0" tIns="0" bIns="0" anchor="t"/>
          <a:lstStyle/>
          <a:p>
            <a:pPr algn="l"/>
            <a:r>
              <a:rPr sz="1100" b="1" i="0">
                <a:solidFill>
                  <a:srgbClr val="B5642A"/>
                </a:solidFill>
                <a:latin typeface="Arial"/>
              </a:rPr>
              <a:t>STIMGEN · SUBMODULE</a:t>
            </a:r>
          </a:p>
        </p:txBody>
      </p:sp>
      <p:sp>
        <p:nvSpPr>
          <p:cNvPr id="25" name="Rounded Rectangle 25"/>
          <p:cNvSpPr/>
          <p:nvPr/>
        </p:nvSpPr>
        <p:spPr>
          <a:xfrm>
            <a:off x="5294375" y="3200400"/>
            <a:ext cx="98001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B5642A"/>
                </a:solidFill>
                <a:latin typeface="Arial"/>
              </a:rPr>
              <a:t>StimType</a:t>
            </a:r>
          </a:p>
        </p:txBody>
      </p:sp>
      <p:sp>
        <p:nvSpPr>
          <p:cNvPr id="26" name="Rounded Rectangle 26"/>
          <p:cNvSpPr/>
          <p:nvPr/>
        </p:nvSpPr>
        <p:spPr>
          <a:xfrm>
            <a:off x="6401385" y="3200400"/>
            <a:ext cx="1079295"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B5642A"/>
                </a:solidFill>
                <a:latin typeface="Arial"/>
              </a:rPr>
              <a:t>StimPlayer</a:t>
            </a:r>
          </a:p>
        </p:txBody>
      </p:sp>
      <p:sp>
        <p:nvSpPr>
          <p:cNvPr id="27" name="Rounded Rectangle 27"/>
          <p:cNvSpPr/>
          <p:nvPr/>
        </p:nvSpPr>
        <p:spPr>
          <a:xfrm>
            <a:off x="5294375" y="3602736"/>
            <a:ext cx="1398210"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B5642A"/>
                </a:solidFill>
                <a:latin typeface="Arial"/>
              </a:rPr>
              <a:t>StimCalibration</a:t>
            </a:r>
          </a:p>
        </p:txBody>
      </p:sp>
      <p:sp>
        <p:nvSpPr>
          <p:cNvPr id="28" name="Rounded Rectangle 28"/>
          <p:cNvSpPr/>
          <p:nvPr/>
        </p:nvSpPr>
        <p:spPr>
          <a:xfrm>
            <a:off x="5294375" y="4005072"/>
            <a:ext cx="130494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B5642A"/>
                </a:solidFill>
                <a:latin typeface="Arial"/>
              </a:rPr>
              <a:t>HardwareHost</a:t>
            </a:r>
          </a:p>
        </p:txBody>
      </p:sp>
      <p:sp>
        <p:nvSpPr>
          <p:cNvPr id="29" name="TextBox 29"/>
          <p:cNvSpPr txBox="1"/>
          <p:nvPr/>
        </p:nvSpPr>
        <p:spPr>
          <a:xfrm>
            <a:off x="5294375" y="4407408"/>
            <a:ext cx="2697482" cy="457200"/>
          </a:xfrm>
          <a:prstGeom prst="rect">
            <a:avLst/>
          </a:prstGeom>
          <a:noFill/>
        </p:spPr>
        <p:txBody>
          <a:bodyPr wrap="square" lIns="0" rIns="0" tIns="0" bIns="0" anchor="t"/>
          <a:lstStyle/>
          <a:p>
            <a:pPr algn="l">
              <a:lnSpc>
                <a:spcPct val="128000"/>
              </a:lnSpc>
            </a:pPr>
            <a:r>
              <a:rPr sz="1100" b="0" i="0">
                <a:solidFill>
                  <a:srgbClr val="B5642A"/>
                </a:solidFill>
                <a:latin typeface="Calibri"/>
              </a:rPr>
              <a:t>Stimulus objects and calibration, reached through the stimbridge seam</a:t>
            </a:r>
          </a:p>
        </p:txBody>
      </p:sp>
      <p:sp>
        <p:nvSpPr>
          <p:cNvPr id="30" name="Rounded Rectangle 30"/>
          <p:cNvSpPr/>
          <p:nvPr/>
        </p:nvSpPr>
        <p:spPr>
          <a:xfrm>
            <a:off x="8375904" y="2724912"/>
            <a:ext cx="3246120" cy="2103120"/>
          </a:xfrm>
          <a:prstGeom prst="roundRect">
            <a:avLst>
              <a:gd name="adj" fmla="val 6000"/>
            </a:avLst>
          </a:prstGeom>
          <a:solidFill>
            <a:srgbClr val="E2E9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1"/>
          <p:cNvSpPr txBox="1"/>
          <p:nvPr/>
        </p:nvSpPr>
        <p:spPr>
          <a:xfrm>
            <a:off x="8650223" y="2944368"/>
            <a:ext cx="2697482" cy="237744"/>
          </a:xfrm>
          <a:prstGeom prst="rect">
            <a:avLst/>
          </a:prstGeom>
          <a:noFill/>
        </p:spPr>
        <p:txBody>
          <a:bodyPr wrap="square" lIns="0" rIns="0" tIns="0" bIns="0" anchor="t"/>
          <a:lstStyle/>
          <a:p>
            <a:pPr algn="l"/>
            <a:r>
              <a:rPr sz="1100" b="1" i="0">
                <a:solidFill>
                  <a:srgbClr val="153A49"/>
                </a:solidFill>
                <a:latin typeface="Arial"/>
              </a:rPr>
              <a:t>PSYCHOPHYSICS</a:t>
            </a:r>
          </a:p>
        </p:txBody>
      </p:sp>
      <p:sp>
        <p:nvSpPr>
          <p:cNvPr id="32" name="Rounded Rectangle 32"/>
          <p:cNvSpPr/>
          <p:nvPr/>
        </p:nvSpPr>
        <p:spPr>
          <a:xfrm>
            <a:off x="8650223" y="3200400"/>
            <a:ext cx="828074"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53A49"/>
                </a:solidFill>
                <a:latin typeface="Arial"/>
              </a:rPr>
              <a:t>Metrics</a:t>
            </a:r>
          </a:p>
        </p:txBody>
      </p:sp>
      <p:sp>
        <p:nvSpPr>
          <p:cNvPr id="33" name="Rounded Rectangle 33"/>
          <p:cNvSpPr/>
          <p:nvPr/>
        </p:nvSpPr>
        <p:spPr>
          <a:xfrm>
            <a:off x="9605297" y="3200400"/>
            <a:ext cx="972489"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53A49"/>
                </a:solidFill>
                <a:latin typeface="Arial"/>
              </a:rPr>
              <a:t>Detection</a:t>
            </a:r>
          </a:p>
        </p:txBody>
      </p:sp>
      <p:sp>
        <p:nvSpPr>
          <p:cNvPr id="34" name="Rounded Rectangle 34"/>
          <p:cNvSpPr/>
          <p:nvPr/>
        </p:nvSpPr>
        <p:spPr>
          <a:xfrm>
            <a:off x="8650223" y="3602736"/>
            <a:ext cx="698703"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53A49"/>
                </a:solidFill>
                <a:latin typeface="Arial"/>
              </a:rPr>
              <a:t>NAFC</a:t>
            </a:r>
          </a:p>
        </p:txBody>
      </p:sp>
      <p:sp>
        <p:nvSpPr>
          <p:cNvPr id="35" name="Rounded Rectangle 35"/>
          <p:cNvSpPr/>
          <p:nvPr/>
        </p:nvSpPr>
        <p:spPr>
          <a:xfrm>
            <a:off x="9475926" y="3602736"/>
            <a:ext cx="972489"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53A49"/>
                </a:solidFill>
                <a:latin typeface="Arial"/>
              </a:rPr>
              <a:t>Staircase</a:t>
            </a:r>
          </a:p>
        </p:txBody>
      </p:sp>
      <p:sp>
        <p:nvSpPr>
          <p:cNvPr id="36" name="Rounded Rectangle 36"/>
          <p:cNvSpPr/>
          <p:nvPr/>
        </p:nvSpPr>
        <p:spPr>
          <a:xfrm>
            <a:off x="8650223" y="4005072"/>
            <a:ext cx="1032661"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53A49"/>
                </a:solidFill>
                <a:latin typeface="Arial"/>
              </a:rPr>
              <a:t>BestPEST</a:t>
            </a:r>
          </a:p>
        </p:txBody>
      </p:sp>
      <p:sp>
        <p:nvSpPr>
          <p:cNvPr id="37" name="Rounded Rectangle 37"/>
          <p:cNvSpPr/>
          <p:nvPr/>
        </p:nvSpPr>
        <p:spPr>
          <a:xfrm>
            <a:off x="9809884" y="4005072"/>
            <a:ext cx="623487"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53A49"/>
                </a:solidFill>
                <a:latin typeface="Arial"/>
              </a:rPr>
              <a:t>MLP</a:t>
            </a:r>
          </a:p>
        </p:txBody>
      </p:sp>
      <p:sp>
        <p:nvSpPr>
          <p:cNvPr id="38" name="TextBox 38"/>
          <p:cNvSpPr txBox="1"/>
          <p:nvPr/>
        </p:nvSpPr>
        <p:spPr>
          <a:xfrm>
            <a:off x="8650223" y="4407408"/>
            <a:ext cx="2697482" cy="457200"/>
          </a:xfrm>
          <a:prstGeom prst="rect">
            <a:avLst/>
          </a:prstGeom>
          <a:noFill/>
        </p:spPr>
        <p:txBody>
          <a:bodyPr wrap="square" lIns="0" rIns="0" tIns="0" bIns="0" anchor="t"/>
          <a:lstStyle/>
          <a:p>
            <a:pPr algn="l">
              <a:lnSpc>
                <a:spcPct val="128000"/>
              </a:lnSpc>
            </a:pPr>
            <a:r>
              <a:rPr sz="1100" b="0" i="0">
                <a:solidFill>
                  <a:srgbClr val="153A49"/>
                </a:solidFill>
                <a:latin typeface="Calibri"/>
              </a:rPr>
              <a:t>Signal-detection arithmetic, online and offline threshold estimation</a:t>
            </a:r>
          </a:p>
        </p:txBody>
      </p:sp>
      <p:sp>
        <p:nvSpPr>
          <p:cNvPr id="39" name="TextBox 39"/>
          <p:cNvSpPr txBox="1"/>
          <p:nvPr/>
        </p:nvSpPr>
        <p:spPr>
          <a:xfrm>
            <a:off x="566928" y="4864608"/>
            <a:ext cx="11057839" cy="274320"/>
          </a:xfrm>
          <a:prstGeom prst="rect">
            <a:avLst/>
          </a:prstGeom>
          <a:noFill/>
        </p:spPr>
        <p:txBody>
          <a:bodyPr wrap="square" lIns="0" rIns="0" tIns="0" bIns="0" anchor="t"/>
          <a:lstStyle/>
          <a:p>
            <a:pPr algn="ctr"/>
            <a:r>
              <a:rPr sz="1800" b="1" i="0">
                <a:solidFill>
                  <a:srgbClr val="1D6E8A"/>
                </a:solidFill>
                <a:latin typeface="Arial"/>
              </a:rPr>
              <a:t>↓</a:t>
            </a:r>
          </a:p>
        </p:txBody>
      </p:sp>
      <p:sp>
        <p:nvSpPr>
          <p:cNvPr id="40" name="Rounded Rectangle 40"/>
          <p:cNvSpPr/>
          <p:nvPr/>
        </p:nvSpPr>
        <p:spPr>
          <a:xfrm>
            <a:off x="566928" y="5175504"/>
            <a:ext cx="11057839" cy="74980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TextBox 41"/>
          <p:cNvSpPr txBox="1"/>
          <p:nvPr/>
        </p:nvSpPr>
        <p:spPr>
          <a:xfrm>
            <a:off x="896112" y="5486400"/>
            <a:ext cx="2743200" cy="237744"/>
          </a:xfrm>
          <a:prstGeom prst="rect">
            <a:avLst/>
          </a:prstGeom>
          <a:noFill/>
        </p:spPr>
        <p:txBody>
          <a:bodyPr wrap="square" lIns="0" rIns="0" tIns="0" bIns="0" anchor="t"/>
          <a:lstStyle/>
          <a:p>
            <a:pPr algn="l"/>
            <a:r>
              <a:rPr sz="1100" b="1" i="0">
                <a:solidFill>
                  <a:srgbClr val="0F1E27"/>
                </a:solidFill>
                <a:latin typeface="Arial"/>
              </a:rPr>
              <a:t>HW.INTERFACE</a:t>
            </a:r>
          </a:p>
        </p:txBody>
      </p:sp>
      <p:sp>
        <p:nvSpPr>
          <p:cNvPr id="42" name="Rounded Rectangle 42"/>
          <p:cNvSpPr/>
          <p:nvPr/>
        </p:nvSpPr>
        <p:spPr>
          <a:xfrm>
            <a:off x="2350008" y="5431536"/>
            <a:ext cx="1107877" cy="274320"/>
          </a:xfrm>
          <a:prstGeom prst="roundRect">
            <a:avLst>
              <a:gd name="adj" fmla="val 50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TDT RPvds</a:t>
            </a:r>
          </a:p>
        </p:txBody>
      </p:sp>
      <p:sp>
        <p:nvSpPr>
          <p:cNvPr id="43" name="Rounded Rectangle 43"/>
          <p:cNvSpPr/>
          <p:nvPr/>
        </p:nvSpPr>
        <p:spPr>
          <a:xfrm>
            <a:off x="3584885" y="5431536"/>
            <a:ext cx="1264326" cy="274320"/>
          </a:xfrm>
          <a:prstGeom prst="roundRect">
            <a:avLst>
              <a:gd name="adj" fmla="val 50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TDT Synapse</a:t>
            </a:r>
          </a:p>
        </p:txBody>
      </p:sp>
      <p:sp>
        <p:nvSpPr>
          <p:cNvPr id="44" name="Rounded Rectangle 44"/>
          <p:cNvSpPr/>
          <p:nvPr/>
        </p:nvSpPr>
        <p:spPr>
          <a:xfrm>
            <a:off x="4976211" y="5431536"/>
            <a:ext cx="819048" cy="274320"/>
          </a:xfrm>
          <a:prstGeom prst="roundRect">
            <a:avLst>
              <a:gd name="adj" fmla="val 50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Teensy</a:t>
            </a:r>
          </a:p>
        </p:txBody>
      </p:sp>
      <p:sp>
        <p:nvSpPr>
          <p:cNvPr id="45" name="Rounded Rectangle 45"/>
          <p:cNvSpPr/>
          <p:nvPr/>
        </p:nvSpPr>
        <p:spPr>
          <a:xfrm>
            <a:off x="5922259" y="5431536"/>
            <a:ext cx="644548" cy="274320"/>
          </a:xfrm>
          <a:prstGeom prst="roundRect">
            <a:avLst>
              <a:gd name="adj" fmla="val 50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Bpod</a:t>
            </a:r>
          </a:p>
        </p:txBody>
      </p:sp>
      <p:sp>
        <p:nvSpPr>
          <p:cNvPr id="46" name="Rounded Rectangle 46"/>
          <p:cNvSpPr/>
          <p:nvPr/>
        </p:nvSpPr>
        <p:spPr>
          <a:xfrm>
            <a:off x="6693807" y="5431536"/>
            <a:ext cx="996558" cy="274320"/>
          </a:xfrm>
          <a:prstGeom prst="roundRect">
            <a:avLst>
              <a:gd name="adj" fmla="val 50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Intan RHX</a:t>
            </a:r>
          </a:p>
        </p:txBody>
      </p:sp>
      <p:sp>
        <p:nvSpPr>
          <p:cNvPr id="47" name="Rounded Rectangle 47"/>
          <p:cNvSpPr/>
          <p:nvPr/>
        </p:nvSpPr>
        <p:spPr>
          <a:xfrm>
            <a:off x="7817365" y="5431536"/>
            <a:ext cx="825066" cy="274320"/>
          </a:xfrm>
          <a:prstGeom prst="roundRect">
            <a:avLst>
              <a:gd name="adj" fmla="val 50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NE1000</a:t>
            </a:r>
          </a:p>
        </p:txBody>
      </p:sp>
      <p:sp>
        <p:nvSpPr>
          <p:cNvPr id="48" name="Rounded Rectangle 48"/>
          <p:cNvSpPr/>
          <p:nvPr/>
        </p:nvSpPr>
        <p:spPr>
          <a:xfrm>
            <a:off x="8769431" y="5431536"/>
            <a:ext cx="593401" cy="274320"/>
          </a:xfrm>
          <a:prstGeom prst="roundRect">
            <a:avLst>
              <a:gd name="adj" fmla="val 50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VLC</a:t>
            </a:r>
          </a:p>
        </p:txBody>
      </p:sp>
      <p:sp>
        <p:nvSpPr>
          <p:cNvPr id="49" name="Rounded Rectangle 49"/>
          <p:cNvSpPr/>
          <p:nvPr/>
        </p:nvSpPr>
        <p:spPr>
          <a:xfrm>
            <a:off x="9489832" y="5431536"/>
            <a:ext cx="937889" cy="274320"/>
          </a:xfrm>
          <a:prstGeom prst="roundRect">
            <a:avLst>
              <a:gd name="adj" fmla="val 50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Software</a:t>
            </a:r>
          </a:p>
        </p:txBody>
      </p:sp>
      <p:sp>
        <p:nvSpPr>
          <p:cNvPr id="50" name="Rounded Rectangle 50"/>
          <p:cNvSpPr/>
          <p:nvPr/>
        </p:nvSpPr>
        <p:spPr>
          <a:xfrm>
            <a:off x="10554721" y="5431536"/>
            <a:ext cx="776928" cy="274320"/>
          </a:xfrm>
          <a:prstGeom prst="roundRect">
            <a:avLst>
              <a:gd name="adj" fmla="val 50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Replay</a:t>
            </a:r>
          </a:p>
        </p:txBody>
      </p:sp>
      <p:sp>
        <p:nvSpPr>
          <p:cNvPr id="51" name="TextBox 51"/>
          <p:cNvSpPr txBox="1"/>
          <p:nvPr/>
        </p:nvSpPr>
        <p:spPr>
          <a:xfrm>
            <a:off x="566928" y="6144768"/>
            <a:ext cx="11057839" cy="320040"/>
          </a:xfrm>
          <a:prstGeom prst="rect">
            <a:avLst/>
          </a:prstGeom>
          <a:noFill/>
        </p:spPr>
        <p:txBody>
          <a:bodyPr wrap="square" lIns="0" rIns="0" tIns="0" bIns="0" anchor="t"/>
          <a:lstStyle/>
          <a:p>
            <a:pPr algn="l"/>
            <a:r>
              <a:rPr sz="1200" b="0" i="0">
                <a:solidFill>
                  <a:srgbClr val="566E7C"/>
                </a:solidFill>
                <a:latin typeface="Calibri"/>
              </a:rPr>
              <a:t>GUIs sit on top; </a:t>
            </a:r>
            <a:r>
              <a:rPr sz="1150" b="0" i="0">
                <a:solidFill>
                  <a:srgbClr val="1D6E8A"/>
                </a:solidFill>
                <a:latin typeface="Consolas"/>
              </a:rPr>
              <a:t>stimgen</a:t>
            </a:r>
            <a:r>
              <a:rPr sz="1200" b="0" i="0">
                <a:solidFill>
                  <a:srgbClr val="566E7C"/>
                </a:solidFill>
                <a:latin typeface="Calibri"/>
              </a:rPr>
              <a:t> is a submodule with no dependency on EPsych, reached only through the </a:t>
            </a:r>
            <a:r>
              <a:rPr sz="1150" b="0" i="0">
                <a:solidFill>
                  <a:srgbClr val="1D6E8A"/>
                </a:solidFill>
                <a:latin typeface="Consolas"/>
              </a:rPr>
              <a:t>stimbridge</a:t>
            </a:r>
            <a:r>
              <a:rPr sz="1200" b="0" i="0">
                <a:solidFill>
                  <a:srgbClr val="566E7C"/>
                </a:solidFill>
                <a:latin typeface="Calibri"/>
              </a:rPr>
              <a:t> seam; every rig lands on one backend contract.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DATA MODEL</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The protocol is the experiment</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epsych.Protocol is the central data model, serialized to a versioned .eprot file.</a:t>
            </a:r>
          </a:p>
        </p:txBody>
      </p:sp>
      <p:sp>
        <p:nvSpPr>
          <p:cNvPr id="5" name="TextBox 5"/>
          <p:cNvSpPr txBox="1"/>
          <p:nvPr/>
        </p:nvSpPr>
        <p:spPr>
          <a:xfrm>
            <a:off x="566928" y="1883664"/>
            <a:ext cx="6035040" cy="274320"/>
          </a:xfrm>
          <a:prstGeom prst="rect">
            <a:avLst/>
          </a:prstGeom>
          <a:noFill/>
        </p:spPr>
        <p:txBody>
          <a:bodyPr wrap="square" lIns="0" rIns="0" tIns="0" bIns="0" anchor="t"/>
          <a:lstStyle/>
          <a:p>
            <a:pPr algn="l"/>
            <a:r>
              <a:rPr sz="1100" b="1" i="0">
                <a:solidFill>
                  <a:srgbClr val="B5642A"/>
                </a:solidFill>
                <a:latin typeface="Arial"/>
              </a:rPr>
              <a:t>WHAT A PROTOCOL CAPTURES</a:t>
            </a:r>
          </a:p>
        </p:txBody>
      </p:sp>
      <p:sp>
        <p:nvSpPr>
          <p:cNvPr id="6" name="Oval 6"/>
          <p:cNvSpPr/>
          <p:nvPr/>
        </p:nvSpPr>
        <p:spPr>
          <a:xfrm>
            <a:off x="566928" y="2295429"/>
            <a:ext cx="77724" cy="7772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7"/>
          <p:cNvSpPr txBox="1"/>
          <p:nvPr/>
        </p:nvSpPr>
        <p:spPr>
          <a:xfrm>
            <a:off x="804672" y="2231136"/>
            <a:ext cx="5797296" cy="409448"/>
          </a:xfrm>
          <a:prstGeom prst="rect">
            <a:avLst/>
          </a:prstGeom>
          <a:noFill/>
        </p:spPr>
        <p:txBody>
          <a:bodyPr wrap="square" lIns="0" rIns="0" tIns="0" bIns="0" anchor="t"/>
          <a:lstStyle/>
          <a:p>
            <a:pPr algn="l">
              <a:lnSpc>
                <a:spcPct val="124000"/>
              </a:lnSpc>
            </a:pPr>
            <a:r>
              <a:rPr sz="1300" b="1" i="0">
                <a:solidFill>
                  <a:srgbClr val="0F1E27"/>
                </a:solidFill>
                <a:latin typeface="Calibri"/>
              </a:rPr>
              <a:t>Interfaces — </a:t>
            </a:r>
            <a:r>
              <a:rPr sz="1300" b="0" i="0">
                <a:solidFill>
                  <a:srgbClr val="0F1E27"/>
                </a:solidFill>
                <a:latin typeface="Calibri"/>
              </a:rPr>
              <a:t>the hw.Interface objects, always including at least one hw.Software design-time parameter store</a:t>
            </a:r>
          </a:p>
        </p:txBody>
      </p:sp>
      <p:sp>
        <p:nvSpPr>
          <p:cNvPr id="8" name="Oval 8"/>
          <p:cNvSpPr/>
          <p:nvPr/>
        </p:nvSpPr>
        <p:spPr>
          <a:xfrm>
            <a:off x="566928" y="2869977"/>
            <a:ext cx="77724" cy="7772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9"/>
          <p:cNvSpPr txBox="1"/>
          <p:nvPr/>
        </p:nvSpPr>
        <p:spPr>
          <a:xfrm>
            <a:off x="804672" y="2805684"/>
            <a:ext cx="5797296" cy="409448"/>
          </a:xfrm>
          <a:prstGeom prst="rect">
            <a:avLst/>
          </a:prstGeom>
          <a:noFill/>
        </p:spPr>
        <p:txBody>
          <a:bodyPr wrap="square" lIns="0" rIns="0" tIns="0" bIns="0" anchor="t"/>
          <a:lstStyle/>
          <a:p>
            <a:pPr algn="l">
              <a:lnSpc>
                <a:spcPct val="124000"/>
              </a:lnSpc>
            </a:pPr>
            <a:r>
              <a:rPr sz="1300" b="1" i="0">
                <a:solidFill>
                  <a:srgbClr val="0F1E27"/>
                </a:solidFill>
                <a:latin typeface="Calibri"/>
              </a:rPr>
              <a:t>Options — </a:t>
            </a:r>
            <a:r>
              <a:rPr sz="1300" b="0" i="0">
                <a:solidFill>
                  <a:srgbClr val="0F1E27"/>
                </a:solidFill>
                <a:latin typeface="Calibri"/>
              </a:rPr>
              <a:t>trial selector class (trialFunc), compileAtRuntime, IncludeWAVBuffers, ConnectionType</a:t>
            </a:r>
          </a:p>
        </p:txBody>
      </p:sp>
      <p:sp>
        <p:nvSpPr>
          <p:cNvPr id="10" name="Oval 10"/>
          <p:cNvSpPr/>
          <p:nvPr/>
        </p:nvSpPr>
        <p:spPr>
          <a:xfrm>
            <a:off x="566928" y="3444525"/>
            <a:ext cx="77724" cy="7772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1"/>
          <p:cNvSpPr txBox="1"/>
          <p:nvPr/>
        </p:nvSpPr>
        <p:spPr>
          <a:xfrm>
            <a:off x="804672" y="3380232"/>
            <a:ext cx="5797296" cy="409448"/>
          </a:xfrm>
          <a:prstGeom prst="rect">
            <a:avLst/>
          </a:prstGeom>
          <a:noFill/>
        </p:spPr>
        <p:txBody>
          <a:bodyPr wrap="square" lIns="0" rIns="0" tIns="0" bIns="0" anchor="t"/>
          <a:lstStyle/>
          <a:p>
            <a:pPr algn="l">
              <a:lnSpc>
                <a:spcPct val="124000"/>
              </a:lnSpc>
            </a:pPr>
            <a:r>
              <a:rPr sz="1300" b="1" i="0">
                <a:solidFill>
                  <a:srgbClr val="0F1E27"/>
                </a:solidFill>
                <a:latin typeface="Calibri"/>
              </a:rPr>
              <a:t>COMPILED — </a:t>
            </a:r>
            <a:r>
              <a:rPr sz="1300" b="0" i="0">
                <a:solidFill>
                  <a:srgbClr val="0F1E27"/>
                </a:solidFill>
                <a:latin typeface="Calibri"/>
              </a:rPr>
              <a:t>the trial table produced by compile(): parameters, trials, writeparams, ntrials</a:t>
            </a:r>
          </a:p>
        </p:txBody>
      </p:sp>
      <p:sp>
        <p:nvSpPr>
          <p:cNvPr id="12" name="Oval 12"/>
          <p:cNvSpPr/>
          <p:nvPr/>
        </p:nvSpPr>
        <p:spPr>
          <a:xfrm>
            <a:off x="566928" y="4019073"/>
            <a:ext cx="77724" cy="7772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3"/>
          <p:cNvSpPr txBox="1"/>
          <p:nvPr/>
        </p:nvSpPr>
        <p:spPr>
          <a:xfrm>
            <a:off x="804672" y="3954780"/>
            <a:ext cx="5797296" cy="409448"/>
          </a:xfrm>
          <a:prstGeom prst="rect">
            <a:avLst/>
          </a:prstGeom>
          <a:noFill/>
        </p:spPr>
        <p:txBody>
          <a:bodyPr wrap="square" lIns="0" rIns="0" tIns="0" bIns="0" anchor="t"/>
          <a:lstStyle/>
          <a:p>
            <a:pPr algn="l">
              <a:lnSpc>
                <a:spcPct val="124000"/>
              </a:lnSpc>
            </a:pPr>
            <a:r>
              <a:rPr sz="1300" b="1" i="0">
                <a:solidFill>
                  <a:srgbClr val="0F1E27"/>
                </a:solidFill>
                <a:latin typeface="Calibri"/>
              </a:rPr>
              <a:t>meta — </a:t>
            </a:r>
            <a:r>
              <a:rPr sz="1300" b="0" i="0">
                <a:solidFill>
                  <a:srgbClr val="0F1E27"/>
                </a:solidFill>
                <a:latin typeface="Calibri"/>
              </a:rPr>
              <a:t>format version, EPsych version, and a protocolVersion bumped on every save</a:t>
            </a:r>
          </a:p>
        </p:txBody>
      </p:sp>
      <p:sp>
        <p:nvSpPr>
          <p:cNvPr id="14" name="Rounded Rectangle 14"/>
          <p:cNvSpPr/>
          <p:nvPr/>
        </p:nvSpPr>
        <p:spPr>
          <a:xfrm>
            <a:off x="566928" y="4553712"/>
            <a:ext cx="6035040" cy="151790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5"/>
          <p:cNvSpPr txBox="1"/>
          <p:nvPr/>
        </p:nvSpPr>
        <p:spPr>
          <a:xfrm>
            <a:off x="795528" y="4782312"/>
            <a:ext cx="5577840" cy="274320"/>
          </a:xfrm>
          <a:prstGeom prst="rect">
            <a:avLst/>
          </a:prstGeom>
          <a:noFill/>
        </p:spPr>
        <p:txBody>
          <a:bodyPr wrap="square" lIns="0" rIns="0" tIns="0" bIns="0" anchor="t"/>
          <a:lstStyle/>
          <a:p>
            <a:pPr algn="l"/>
            <a:r>
              <a:rPr sz="1100" b="1" i="0">
                <a:solidFill>
                  <a:srgbClr val="B5642A"/>
                </a:solidFill>
                <a:latin typeface="Arial"/>
              </a:rPr>
              <a:t>WHAT ENDS UP ON DISK</a:t>
            </a:r>
          </a:p>
        </p:txBody>
      </p:sp>
      <p:sp>
        <p:nvSpPr>
          <p:cNvPr id="16" name="TextBox 16"/>
          <p:cNvSpPr txBox="1"/>
          <p:nvPr/>
        </p:nvSpPr>
        <p:spPr>
          <a:xfrm>
            <a:off x="795528" y="5102352"/>
            <a:ext cx="5577840" cy="619125"/>
          </a:xfrm>
          <a:prstGeom prst="rect">
            <a:avLst/>
          </a:prstGeom>
          <a:noFill/>
        </p:spPr>
        <p:txBody>
          <a:bodyPr wrap="square" lIns="0" rIns="0" tIns="0" bIns="0" anchor="t"/>
          <a:lstStyle/>
          <a:p>
            <a:pPr algn="l">
              <a:lnSpc>
                <a:spcPct val="130000"/>
              </a:lnSpc>
            </a:pPr>
            <a:r>
              <a:rPr sz="1200" b="1" i="0">
                <a:solidFill>
                  <a:srgbClr val="1D6E8A"/>
                </a:solidFill>
                <a:latin typeface="Consolas"/>
              </a:rPr>
              <a:t>.eprot</a:t>
            </a:r>
            <a:r>
              <a:rPr sz="1250" b="0" i="0">
                <a:solidFill>
                  <a:srgbClr val="0F1E27"/>
                </a:solidFill>
                <a:latin typeface="Calibri"/>
              </a:rPr>
              <a:t> protocols, carrying their own version archive   ·   </a:t>
            </a:r>
            <a:r>
              <a:rPr sz="1200" b="1" i="0">
                <a:solidFill>
                  <a:srgbClr val="1D6E8A"/>
                </a:solidFill>
                <a:latin typeface="Consolas"/>
              </a:rPr>
              <a:t>.esub</a:t>
            </a:r>
            <a:r>
              <a:rPr sz="1250" b="0" i="0">
                <a:solidFill>
                  <a:srgbClr val="0F1E27"/>
                </a:solidFill>
                <a:latin typeface="Calibri"/>
              </a:rPr>
              <a:t> the shared subject roster   ·   </a:t>
            </a:r>
            <a:r>
              <a:rPr sz="1200" b="1" i="0">
                <a:solidFill>
                  <a:srgbClr val="1D6E8A"/>
                </a:solidFill>
                <a:latin typeface="Consolas"/>
              </a:rPr>
              <a:t>.eblt</a:t>
            </a:r>
            <a:r>
              <a:rPr sz="1250" b="0" i="0">
                <a:solidFill>
                  <a:srgbClr val="0F1E27"/>
                </a:solidFill>
                <a:latin typeface="Calibri"/>
              </a:rPr>
              <a:t> behavior-GUI layout specs   ·   </a:t>
            </a:r>
            <a:r>
              <a:rPr sz="1200" b="1" i="0">
                <a:solidFill>
                  <a:srgbClr val="1D6E8A"/>
                </a:solidFill>
                <a:latin typeface="Consolas"/>
              </a:rPr>
              <a:t>.epj</a:t>
            </a:r>
            <a:r>
              <a:rPr sz="1250" b="0" i="0">
                <a:solidFill>
                  <a:srgbClr val="0F1E27"/>
                </a:solidFill>
                <a:latin typeface="Calibri"/>
              </a:rPr>
              <a:t> the crash-safe trial journal. The legacy .prot and .ecfg formats were retired in 2026.</a:t>
            </a:r>
          </a:p>
        </p:txBody>
      </p:sp>
      <p:sp>
        <p:nvSpPr>
          <p:cNvPr id="17" name="Rounded Rectangle 17"/>
          <p:cNvSpPr/>
          <p:nvPr/>
        </p:nvSpPr>
        <p:spPr>
          <a:xfrm>
            <a:off x="6903720" y="1883664"/>
            <a:ext cx="4718304" cy="2084831"/>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8"/>
          <p:cNvSpPr txBox="1"/>
          <p:nvPr/>
        </p:nvSpPr>
        <p:spPr>
          <a:xfrm>
            <a:off x="7132320" y="2112264"/>
            <a:ext cx="4261104" cy="274320"/>
          </a:xfrm>
          <a:prstGeom prst="rect">
            <a:avLst/>
          </a:prstGeom>
          <a:noFill/>
        </p:spPr>
        <p:txBody>
          <a:bodyPr wrap="square" lIns="0" rIns="0" tIns="0" bIns="0" anchor="t"/>
          <a:lstStyle/>
          <a:p>
            <a:pPr algn="l"/>
            <a:r>
              <a:rPr sz="1100" b="1" i="0">
                <a:solidFill>
                  <a:srgbClr val="B5642A"/>
                </a:solidFill>
                <a:latin typeface="Arial"/>
              </a:rPr>
              <a:t>COMPILATION</a:t>
            </a:r>
          </a:p>
        </p:txBody>
      </p:sp>
      <p:sp>
        <p:nvSpPr>
          <p:cNvPr id="19" name="TextBox 19"/>
          <p:cNvSpPr txBox="1"/>
          <p:nvPr/>
        </p:nvSpPr>
        <p:spPr>
          <a:xfrm>
            <a:off x="7132320" y="2432304"/>
            <a:ext cx="4261104" cy="858520"/>
          </a:xfrm>
          <a:prstGeom prst="rect">
            <a:avLst/>
          </a:prstGeom>
          <a:noFill/>
        </p:spPr>
        <p:txBody>
          <a:bodyPr wrap="square" lIns="0" rIns="0" tIns="0" bIns="0" anchor="t"/>
          <a:lstStyle/>
          <a:p>
            <a:pPr algn="l">
              <a:lnSpc>
                <a:spcPct val="130000"/>
              </a:lnSpc>
            </a:pPr>
            <a:r>
              <a:rPr sz="1250" b="1" i="0">
                <a:solidFill>
                  <a:srgbClr val="1D6E8A"/>
                </a:solidFill>
                <a:latin typeface="Consolas"/>
              </a:rPr>
              <a:t>compile()</a:t>
            </a:r>
            <a:r>
              <a:rPr sz="1300" b="0" i="0">
                <a:solidFill>
                  <a:srgbClr val="0F1E27"/>
                </a:solidFill>
                <a:latin typeface="Calibri"/>
              </a:rPr>
              <a:t> expands the cross-product of unpaired parameter levels into the trials matrix. </a:t>
            </a:r>
            <a:r>
              <a:rPr sz="1300" b="1" i="0">
                <a:solidFill>
                  <a:srgbClr val="0F1E27"/>
                </a:solidFill>
                <a:latin typeface="Calibri"/>
              </a:rPr>
              <a:t>Paired parameters advance together. </a:t>
            </a:r>
            <a:r>
              <a:rPr sz="1300" b="0" i="0">
                <a:solidFill>
                  <a:srgbClr val="0F1E27"/>
                </a:solidFill>
                <a:latin typeface="Calibri"/>
              </a:rPr>
              <a:t>Several parts of the codebase depend on the compiled structure being stable.</a:t>
            </a:r>
          </a:p>
        </p:txBody>
      </p:sp>
      <p:sp>
        <p:nvSpPr>
          <p:cNvPr id="20" name="Rounded Rectangle 20"/>
          <p:cNvSpPr/>
          <p:nvPr/>
        </p:nvSpPr>
        <p:spPr>
          <a:xfrm>
            <a:off x="6903720" y="4133087"/>
            <a:ext cx="4718304" cy="1938528"/>
          </a:xfrm>
          <a:prstGeom prst="roundRect">
            <a:avLst>
              <a:gd name="adj" fmla="val 8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1"/>
          <p:cNvSpPr txBox="1"/>
          <p:nvPr/>
        </p:nvSpPr>
        <p:spPr>
          <a:xfrm>
            <a:off x="7132320" y="4361687"/>
            <a:ext cx="4261104" cy="274320"/>
          </a:xfrm>
          <a:prstGeom prst="rect">
            <a:avLst/>
          </a:prstGeom>
          <a:noFill/>
        </p:spPr>
        <p:txBody>
          <a:bodyPr wrap="square" lIns="0" rIns="0" tIns="0" bIns="0" anchor="t"/>
          <a:lstStyle/>
          <a:p>
            <a:pPr algn="l"/>
            <a:r>
              <a:rPr sz="1100" b="1" i="0">
                <a:solidFill>
                  <a:srgbClr val="1D6E8A"/>
                </a:solidFill>
                <a:latin typeface="Arial"/>
              </a:rPr>
              <a:t>PARAMETER EXPRESSIONS</a:t>
            </a:r>
          </a:p>
        </p:txBody>
      </p:sp>
      <p:sp>
        <p:nvSpPr>
          <p:cNvPr id="22" name="TextBox 22"/>
          <p:cNvSpPr txBox="1"/>
          <p:nvPr/>
        </p:nvSpPr>
        <p:spPr>
          <a:xfrm>
            <a:off x="7132320" y="4681727"/>
            <a:ext cx="4261104" cy="858520"/>
          </a:xfrm>
          <a:prstGeom prst="rect">
            <a:avLst/>
          </a:prstGeom>
          <a:noFill/>
        </p:spPr>
        <p:txBody>
          <a:bodyPr wrap="square" lIns="0" rIns="0" tIns="0" bIns="0" anchor="t"/>
          <a:lstStyle/>
          <a:p>
            <a:pPr algn="l">
              <a:lnSpc>
                <a:spcPct val="130000"/>
              </a:lnSpc>
            </a:pPr>
            <a:r>
              <a:rPr sz="1300" b="0" i="0">
                <a:solidFill>
                  <a:srgbClr val="0F1E27"/>
                </a:solidFill>
                <a:latin typeface="Calibri"/>
              </a:rPr>
              <a:t>A parameter can reference another — </a:t>
            </a:r>
            <a:r>
              <a:rPr sz="1200" b="0" i="0">
                <a:solidFill>
                  <a:srgbClr val="153A49"/>
                </a:solidFill>
                <a:latin typeface="Consolas"/>
              </a:rPr>
              <a:t>Param.Prop</a:t>
            </a:r>
            <a:r>
              <a:rPr sz="1300" b="0" i="0">
                <a:solidFill>
                  <a:srgbClr val="0F1E27"/>
                </a:solidFill>
                <a:latin typeface="Calibri"/>
              </a:rPr>
              <a:t> or </a:t>
            </a:r>
            <a:r>
              <a:rPr sz="1200" b="0" i="0">
                <a:solidFill>
                  <a:srgbClr val="153A49"/>
                </a:solidFill>
                <a:latin typeface="Consolas"/>
              </a:rPr>
              <a:t>Module.Param.Prop</a:t>
            </a:r>
            <a:r>
              <a:rPr sz="1300" b="0" i="0">
                <a:solidFill>
                  <a:srgbClr val="0F1E27"/>
                </a:solidFill>
                <a:latin typeface="Calibri"/>
              </a:rPr>
              <a:t>. On String and StimType parameters the result is a 1-based index into Values instead of the value itself.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VERSIONING</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Every protocol keeps its own history</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A subject carries no version of its own, so the roster is the only thing that can notice a protocol edited between sessions.</a:t>
            </a:r>
          </a:p>
        </p:txBody>
      </p:sp>
      <p:sp>
        <p:nvSpPr>
          <p:cNvPr id="5" name="Rounded Rectangle 5"/>
          <p:cNvSpPr/>
          <p:nvPr/>
        </p:nvSpPr>
        <p:spPr>
          <a:xfrm>
            <a:off x="566928" y="1737360"/>
            <a:ext cx="5532120" cy="27432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6"/>
          <p:cNvSpPr txBox="1"/>
          <p:nvPr/>
        </p:nvSpPr>
        <p:spPr>
          <a:xfrm>
            <a:off x="795528" y="1965960"/>
            <a:ext cx="5074920" cy="274320"/>
          </a:xfrm>
          <a:prstGeom prst="rect">
            <a:avLst/>
          </a:prstGeom>
          <a:noFill/>
        </p:spPr>
        <p:txBody>
          <a:bodyPr wrap="square" lIns="0" rIns="0" tIns="0" bIns="0" anchor="t"/>
          <a:lstStyle/>
          <a:p>
            <a:pPr algn="l"/>
            <a:r>
              <a:rPr sz="1100" b="1" i="0">
                <a:solidFill>
                  <a:srgbClr val="B5642A"/>
                </a:solidFill>
                <a:latin typeface="Arial"/>
              </a:rPr>
              <a:t>FOUR VARIABLES INSIDE EVERY .eprot</a:t>
            </a:r>
          </a:p>
        </p:txBody>
      </p:sp>
      <p:sp>
        <p:nvSpPr>
          <p:cNvPr id="7" name="Oval 7"/>
          <p:cNvSpPr/>
          <p:nvPr/>
        </p:nvSpPr>
        <p:spPr>
          <a:xfrm>
            <a:off x="795528" y="2377440"/>
            <a:ext cx="256032" cy="256032"/>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8"/>
          <p:cNvSpPr txBox="1"/>
          <p:nvPr/>
        </p:nvSpPr>
        <p:spPr>
          <a:xfrm>
            <a:off x="1143000" y="2377440"/>
            <a:ext cx="4480560" cy="256032"/>
          </a:xfrm>
          <a:prstGeom prst="rect">
            <a:avLst/>
          </a:prstGeom>
          <a:noFill/>
        </p:spPr>
        <p:txBody>
          <a:bodyPr wrap="square" lIns="0" rIns="0" tIns="0" bIns="0" anchor="t"/>
          <a:lstStyle/>
          <a:p>
            <a:pPr algn="l"/>
            <a:r>
              <a:rPr sz="1200" b="1" i="0">
                <a:solidFill>
                  <a:srgbClr val="153A49"/>
                </a:solidFill>
                <a:latin typeface="Consolas"/>
              </a:rPr>
              <a:t>protocol</a:t>
            </a:r>
            <a:r>
              <a:rPr sz="1150" b="0" i="0">
                <a:solidFill>
                  <a:srgbClr val="566E7C"/>
                </a:solidFill>
                <a:latin typeface="Calibri"/>
              </a:rPr>
              <a:t>   the current definition, unchanged</a:t>
            </a:r>
          </a:p>
        </p:txBody>
      </p:sp>
      <p:sp>
        <p:nvSpPr>
          <p:cNvPr id="9" name="Oval 9"/>
          <p:cNvSpPr/>
          <p:nvPr/>
        </p:nvSpPr>
        <p:spPr>
          <a:xfrm>
            <a:off x="795528" y="2798352"/>
            <a:ext cx="256032" cy="256032"/>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10"/>
          <p:cNvSpPr txBox="1"/>
          <p:nvPr/>
        </p:nvSpPr>
        <p:spPr>
          <a:xfrm>
            <a:off x="1143000" y="2798352"/>
            <a:ext cx="4480560" cy="256032"/>
          </a:xfrm>
          <a:prstGeom prst="rect">
            <a:avLst/>
          </a:prstGeom>
          <a:noFill/>
        </p:spPr>
        <p:txBody>
          <a:bodyPr wrap="square" lIns="0" rIns="0" tIns="0" bIns="0" anchor="t"/>
          <a:lstStyle/>
          <a:p>
            <a:pPr algn="l"/>
            <a:r>
              <a:rPr sz="1200" b="1" i="0">
                <a:solidFill>
                  <a:srgbClr val="153A49"/>
                </a:solidFill>
                <a:latin typeface="Consolas"/>
              </a:rPr>
              <a:t>history</a:t>
            </a:r>
            <a:r>
              <a:rPr sz="1150" b="0" i="0">
                <a:solidFill>
                  <a:srgbClr val="566E7C"/>
                </a:solidFill>
                <a:latin typeface="Calibri"/>
              </a:rPr>
              <a:t>   the payload of every version it replaced</a:t>
            </a:r>
          </a:p>
        </p:txBody>
      </p:sp>
      <p:sp>
        <p:nvSpPr>
          <p:cNvPr id="11" name="Oval 11"/>
          <p:cNvSpPr/>
          <p:nvPr/>
        </p:nvSpPr>
        <p:spPr>
          <a:xfrm>
            <a:off x="795528" y="3219264"/>
            <a:ext cx="256032" cy="256032"/>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2"/>
          <p:cNvSpPr txBox="1"/>
          <p:nvPr/>
        </p:nvSpPr>
        <p:spPr>
          <a:xfrm>
            <a:off x="1143000" y="3219264"/>
            <a:ext cx="4480560" cy="256032"/>
          </a:xfrm>
          <a:prstGeom prst="rect">
            <a:avLst/>
          </a:prstGeom>
          <a:noFill/>
        </p:spPr>
        <p:txBody>
          <a:bodyPr wrap="square" lIns="0" rIns="0" tIns="0" bIns="0" anchor="t"/>
          <a:lstStyle/>
          <a:p>
            <a:pPr algn="l"/>
            <a:r>
              <a:rPr sz="1200" b="1" i="0">
                <a:solidFill>
                  <a:srgbClr val="153A49"/>
                </a:solidFill>
                <a:latin typeface="Consolas"/>
              </a:rPr>
              <a:t>historyIndex</a:t>
            </a:r>
            <a:r>
              <a:rPr sz="1150" b="0" i="0">
                <a:solidFill>
                  <a:srgbClr val="566E7C"/>
                </a:solidFill>
                <a:latin typeface="Calibri"/>
              </a:rPr>
              <a:t>   the archive lookup table</a:t>
            </a:r>
          </a:p>
        </p:txBody>
      </p:sp>
      <p:sp>
        <p:nvSpPr>
          <p:cNvPr id="13" name="Oval 13"/>
          <p:cNvSpPr/>
          <p:nvPr/>
        </p:nvSpPr>
        <p:spPr>
          <a:xfrm>
            <a:off x="795528" y="3640176"/>
            <a:ext cx="256032" cy="256032"/>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4"/>
          <p:cNvSpPr txBox="1"/>
          <p:nvPr/>
        </p:nvSpPr>
        <p:spPr>
          <a:xfrm>
            <a:off x="1143000" y="3640176"/>
            <a:ext cx="4480560" cy="256032"/>
          </a:xfrm>
          <a:prstGeom prst="rect">
            <a:avLst/>
          </a:prstGeom>
          <a:noFill/>
        </p:spPr>
        <p:txBody>
          <a:bodyPr wrap="square" lIns="0" rIns="0" tIns="0" bIns="0" anchor="t"/>
          <a:lstStyle/>
          <a:p>
            <a:pPr algn="l"/>
            <a:r>
              <a:rPr sz="1200" b="1" i="0">
                <a:solidFill>
                  <a:srgbClr val="153A49"/>
                </a:solidFill>
                <a:latin typeface="Consolas"/>
              </a:rPr>
              <a:t>historyFormat</a:t>
            </a:r>
            <a:r>
              <a:rPr sz="1150" b="0" i="0">
                <a:solidFill>
                  <a:srgbClr val="566E7C"/>
                </a:solidFill>
                <a:latin typeface="Calibri"/>
              </a:rPr>
              <a:t>   the archive's own schema version</a:t>
            </a:r>
          </a:p>
        </p:txBody>
      </p:sp>
      <p:sp>
        <p:nvSpPr>
          <p:cNvPr id="15" name="TextBox 15"/>
          <p:cNvSpPr txBox="1"/>
          <p:nvPr/>
        </p:nvSpPr>
        <p:spPr>
          <a:xfrm>
            <a:off x="795528" y="4114800"/>
            <a:ext cx="5074920" cy="320040"/>
          </a:xfrm>
          <a:prstGeom prst="rect">
            <a:avLst/>
          </a:prstGeom>
          <a:noFill/>
        </p:spPr>
        <p:txBody>
          <a:bodyPr wrap="square" lIns="0" rIns="0" tIns="0" bIns="0" anchor="t"/>
          <a:lstStyle/>
          <a:p>
            <a:pPr algn="l">
              <a:lnSpc>
                <a:spcPct val="128000"/>
              </a:lnSpc>
            </a:pPr>
            <a:r>
              <a:rPr sz="1100" b="0" i="0">
                <a:solidFill>
                  <a:srgbClr val="566E7C"/>
                </a:solidFill>
                <a:latin typeface="Calibri"/>
              </a:rPr>
              <a:t>epsych.Protocol.writeProtocolFile is the one writer, atomic and shared with phase saves, so a save cannot drop the archive.</a:t>
            </a:r>
          </a:p>
        </p:txBody>
      </p:sp>
      <p:sp>
        <p:nvSpPr>
          <p:cNvPr id="16" name="Rounded Rectangle 16"/>
          <p:cNvSpPr/>
          <p:nvPr/>
        </p:nvSpPr>
        <p:spPr>
          <a:xfrm>
            <a:off x="6903720" y="1737360"/>
            <a:ext cx="4718304" cy="2743200"/>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7"/>
          <p:cNvSpPr txBox="1"/>
          <p:nvPr/>
        </p:nvSpPr>
        <p:spPr>
          <a:xfrm>
            <a:off x="7132320" y="1965960"/>
            <a:ext cx="4261104" cy="274320"/>
          </a:xfrm>
          <a:prstGeom prst="rect">
            <a:avLst/>
          </a:prstGeom>
          <a:noFill/>
        </p:spPr>
        <p:txBody>
          <a:bodyPr wrap="square" lIns="0" rIns="0" tIns="0" bIns="0" anchor="t"/>
          <a:lstStyle/>
          <a:p>
            <a:pPr algn="l"/>
            <a:r>
              <a:rPr sz="1100" b="1" i="0">
                <a:solidFill>
                  <a:srgbClr val="1D6E8A"/>
                </a:solidFill>
                <a:latin typeface="Arial"/>
              </a:rPr>
              <a:t>WHAT protocolStatus REPORTS</a:t>
            </a:r>
          </a:p>
        </p:txBody>
      </p:sp>
      <p:sp>
        <p:nvSpPr>
          <p:cNvPr id="18" name="Rounded Rectangle 18"/>
          <p:cNvSpPr/>
          <p:nvPr/>
        </p:nvSpPr>
        <p:spPr>
          <a:xfrm>
            <a:off x="7132320" y="2286000"/>
            <a:ext cx="720357"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current</a:t>
            </a:r>
          </a:p>
        </p:txBody>
      </p:sp>
      <p:sp>
        <p:nvSpPr>
          <p:cNvPr id="19" name="TextBox 19"/>
          <p:cNvSpPr txBox="1"/>
          <p:nvPr/>
        </p:nvSpPr>
        <p:spPr>
          <a:xfrm>
            <a:off x="7989837" y="2313432"/>
            <a:ext cx="3312147" cy="219456"/>
          </a:xfrm>
          <a:prstGeom prst="rect">
            <a:avLst/>
          </a:prstGeom>
          <a:noFill/>
        </p:spPr>
        <p:txBody>
          <a:bodyPr wrap="square" lIns="0" rIns="0" tIns="0" bIns="0" anchor="t"/>
          <a:lstStyle/>
          <a:p>
            <a:pPr algn="l"/>
            <a:r>
              <a:rPr sz="1100" b="0" i="0">
                <a:solidFill>
                  <a:srgbClr val="0F1E27"/>
                </a:solidFill>
                <a:latin typeface="Calibri"/>
              </a:rPr>
              <a:t>the membership is on the version in the file</a:t>
            </a:r>
          </a:p>
        </p:txBody>
      </p:sp>
      <p:sp>
        <p:nvSpPr>
          <p:cNvPr id="20" name="Rounded Rectangle 20"/>
          <p:cNvSpPr/>
          <p:nvPr/>
        </p:nvSpPr>
        <p:spPr>
          <a:xfrm>
            <a:off x="7132320" y="2651760"/>
            <a:ext cx="830237"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outdated</a:t>
            </a:r>
          </a:p>
        </p:txBody>
      </p:sp>
      <p:sp>
        <p:nvSpPr>
          <p:cNvPr id="21" name="TextBox 21"/>
          <p:cNvSpPr txBox="1"/>
          <p:nvPr/>
        </p:nvSpPr>
        <p:spPr>
          <a:xfrm>
            <a:off x="8099717" y="2679192"/>
            <a:ext cx="3202267" cy="219456"/>
          </a:xfrm>
          <a:prstGeom prst="rect">
            <a:avLst/>
          </a:prstGeom>
          <a:noFill/>
        </p:spPr>
        <p:txBody>
          <a:bodyPr wrap="square" lIns="0" rIns="0" tIns="0" bIns="0" anchor="t"/>
          <a:lstStyle/>
          <a:p>
            <a:pPr algn="l"/>
            <a:r>
              <a:rPr sz="1100" b="0" i="0">
                <a:solidFill>
                  <a:srgbClr val="0F1E27"/>
                </a:solidFill>
                <a:latin typeface="Calibri"/>
              </a:rPr>
              <a:t>the file has been saved since</a:t>
            </a:r>
          </a:p>
        </p:txBody>
      </p:sp>
      <p:sp>
        <p:nvSpPr>
          <p:cNvPr id="22" name="Rounded Rectangle 22"/>
          <p:cNvSpPr/>
          <p:nvPr/>
        </p:nvSpPr>
        <p:spPr>
          <a:xfrm>
            <a:off x="7132320" y="3017520"/>
            <a:ext cx="692887"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pinned</a:t>
            </a:r>
          </a:p>
        </p:txBody>
      </p:sp>
      <p:sp>
        <p:nvSpPr>
          <p:cNvPr id="23" name="TextBox 23"/>
          <p:cNvSpPr txBox="1"/>
          <p:nvPr/>
        </p:nvSpPr>
        <p:spPr>
          <a:xfrm>
            <a:off x="7962367" y="3044952"/>
            <a:ext cx="3339617" cy="219456"/>
          </a:xfrm>
          <a:prstGeom prst="rect">
            <a:avLst/>
          </a:prstGeom>
          <a:noFill/>
        </p:spPr>
        <p:txBody>
          <a:bodyPr wrap="square" lIns="0" rIns="0" tIns="0" bIns="0" anchor="t"/>
          <a:lstStyle/>
          <a:p>
            <a:pPr algn="l"/>
            <a:r>
              <a:rPr sz="1100" b="0" i="0">
                <a:solidFill>
                  <a:srgbClr val="0F1E27"/>
                </a:solidFill>
                <a:latin typeface="Calibri"/>
              </a:rPr>
              <a:t>a restored version is held for this subject</a:t>
            </a:r>
          </a:p>
        </p:txBody>
      </p:sp>
      <p:sp>
        <p:nvSpPr>
          <p:cNvPr id="24" name="Rounded Rectangle 24"/>
          <p:cNvSpPr/>
          <p:nvPr/>
        </p:nvSpPr>
        <p:spPr>
          <a:xfrm>
            <a:off x="7132320" y="3383280"/>
            <a:ext cx="681899"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differs</a:t>
            </a:r>
          </a:p>
        </p:txBody>
      </p:sp>
      <p:sp>
        <p:nvSpPr>
          <p:cNvPr id="25" name="TextBox 25"/>
          <p:cNvSpPr txBox="1"/>
          <p:nvPr/>
        </p:nvSpPr>
        <p:spPr>
          <a:xfrm>
            <a:off x="7951379" y="3410712"/>
            <a:ext cx="3350605" cy="219456"/>
          </a:xfrm>
          <a:prstGeom prst="rect">
            <a:avLst/>
          </a:prstGeom>
          <a:noFill/>
        </p:spPr>
        <p:txBody>
          <a:bodyPr wrap="square" lIns="0" rIns="0" tIns="0" bIns="0" anchor="t"/>
          <a:lstStyle/>
          <a:p>
            <a:pPr algn="l"/>
            <a:r>
              <a:rPr sz="1100" b="0" i="0">
                <a:solidFill>
                  <a:srgbClr val="0F1E27"/>
                </a:solidFill>
                <a:latin typeface="Calibri"/>
              </a:rPr>
              <a:t>not the project's default protocol</a:t>
            </a:r>
          </a:p>
        </p:txBody>
      </p:sp>
      <p:sp>
        <p:nvSpPr>
          <p:cNvPr id="26" name="Rounded Rectangle 26"/>
          <p:cNvSpPr/>
          <p:nvPr/>
        </p:nvSpPr>
        <p:spPr>
          <a:xfrm>
            <a:off x="7132320" y="3749040"/>
            <a:ext cx="850840"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unknown</a:t>
            </a:r>
          </a:p>
        </p:txBody>
      </p:sp>
      <p:sp>
        <p:nvSpPr>
          <p:cNvPr id="27" name="TextBox 27"/>
          <p:cNvSpPr txBox="1"/>
          <p:nvPr/>
        </p:nvSpPr>
        <p:spPr>
          <a:xfrm>
            <a:off x="8120320" y="3776472"/>
            <a:ext cx="3181664" cy="219456"/>
          </a:xfrm>
          <a:prstGeom prst="rect">
            <a:avLst/>
          </a:prstGeom>
          <a:noFill/>
        </p:spPr>
        <p:txBody>
          <a:bodyPr wrap="square" lIns="0" rIns="0" tIns="0" bIns="0" anchor="t"/>
          <a:lstStyle/>
          <a:p>
            <a:pPr algn="l"/>
            <a:r>
              <a:rPr sz="1100" b="0" i="0">
                <a:solidFill>
                  <a:srgbClr val="0F1E27"/>
                </a:solidFill>
                <a:latin typeface="Calibri"/>
              </a:rPr>
              <a:t>no version was ever recorded</a:t>
            </a:r>
          </a:p>
        </p:txBody>
      </p:sp>
      <p:sp>
        <p:nvSpPr>
          <p:cNvPr id="28" name="Rounded Rectangle 28"/>
          <p:cNvSpPr/>
          <p:nvPr/>
        </p:nvSpPr>
        <p:spPr>
          <a:xfrm>
            <a:off x="7132320" y="4114800"/>
            <a:ext cx="773923"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1D6E8A"/>
                </a:solidFill>
                <a:latin typeface="Arial"/>
              </a:rPr>
              <a:t>missing</a:t>
            </a:r>
          </a:p>
        </p:txBody>
      </p:sp>
      <p:sp>
        <p:nvSpPr>
          <p:cNvPr id="29" name="TextBox 29"/>
          <p:cNvSpPr txBox="1"/>
          <p:nvPr/>
        </p:nvSpPr>
        <p:spPr>
          <a:xfrm>
            <a:off x="8043403" y="4142232"/>
            <a:ext cx="3258581" cy="219456"/>
          </a:xfrm>
          <a:prstGeom prst="rect">
            <a:avLst/>
          </a:prstGeom>
          <a:noFill/>
        </p:spPr>
        <p:txBody>
          <a:bodyPr wrap="square" lIns="0" rIns="0" tIns="0" bIns="0" anchor="t"/>
          <a:lstStyle/>
          <a:p>
            <a:pPr algn="l"/>
            <a:r>
              <a:rPr sz="1100" b="0" i="0">
                <a:solidFill>
                  <a:srgbClr val="0F1E27"/>
                </a:solidFill>
                <a:latin typeface="Calibri"/>
              </a:rPr>
              <a:t>the protocol file is gone</a:t>
            </a:r>
          </a:p>
        </p:txBody>
      </p:sp>
      <p:sp>
        <p:nvSpPr>
          <p:cNvPr id="30" name="Rounded Rectangle 30"/>
          <p:cNvSpPr/>
          <p:nvPr/>
        </p:nvSpPr>
        <p:spPr>
          <a:xfrm>
            <a:off x="566928" y="4663440"/>
            <a:ext cx="11057839" cy="1580000"/>
          </a:xfrm>
          <a:prstGeom prst="roundRect">
            <a:avLst>
              <a:gd name="adj" fmla="val 8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1"/>
          <p:cNvSpPr txBox="1"/>
          <p:nvPr/>
        </p:nvSpPr>
        <p:spPr>
          <a:xfrm>
            <a:off x="795528" y="4892040"/>
            <a:ext cx="10600639" cy="274320"/>
          </a:xfrm>
          <a:prstGeom prst="rect">
            <a:avLst/>
          </a:prstGeom>
          <a:noFill/>
        </p:spPr>
        <p:txBody>
          <a:bodyPr wrap="square" lIns="0" rIns="0" tIns="0" bIns="0" anchor="t"/>
          <a:lstStyle/>
          <a:p>
            <a:pPr algn="l"/>
            <a:r>
              <a:rPr sz="1100" b="1" i="0">
                <a:solidFill>
                  <a:srgbClr val="B5642A"/>
                </a:solidFill>
                <a:latin typeface="Arial"/>
              </a:rPr>
              <a:t>REVERT, AND MAKE IT STICK</a:t>
            </a:r>
          </a:p>
        </p:txBody>
      </p:sp>
      <p:sp>
        <p:nvSpPr>
          <p:cNvPr id="32" name="TextBox 32"/>
          <p:cNvSpPr txBox="1"/>
          <p:nvPr/>
        </p:nvSpPr>
        <p:spPr>
          <a:xfrm>
            <a:off x="795528" y="5212080"/>
            <a:ext cx="10600639" cy="1009269"/>
          </a:xfrm>
          <a:prstGeom prst="rect">
            <a:avLst/>
          </a:prstGeom>
          <a:noFill/>
        </p:spPr>
        <p:txBody>
          <a:bodyPr wrap="square" lIns="0" rIns="0" tIns="0" bIns="0" anchor="t"/>
          <a:lstStyle/>
          <a:p>
            <a:pPr algn="l">
              <a:lnSpc>
                <a:spcPct val="130000"/>
              </a:lnSpc>
            </a:pPr>
            <a:r>
              <a:rPr sz="1200" b="1" i="0">
                <a:solidFill>
                  <a:srgbClr val="B5642A"/>
                </a:solidFill>
                <a:latin typeface="Consolas"/>
              </a:rPr>
              <a:t>revertProtocol</a:t>
            </a:r>
            <a:r>
              <a:rPr sz="1250" b="0" i="0">
                <a:solidFill>
                  <a:srgbClr val="0F1E27"/>
                </a:solidFill>
                <a:latin typeface="Calibri"/>
              </a:rPr>
              <a:t> restores a membership from the archive and reports where it came from: </a:t>
            </a:r>
            <a:r>
              <a:rPr sz="1150" b="0" i="0">
                <a:solidFill>
                  <a:srgbClr val="B5642A"/>
                </a:solidFill>
                <a:latin typeface="Consolas"/>
              </a:rPr>
              <a:t>disk</a:t>
            </a:r>
            <a:r>
              <a:rPr sz="1250" b="0" i="0">
                <a:solidFill>
                  <a:srgbClr val="0F1E27"/>
                </a:solidFill>
                <a:latin typeface="Calibri"/>
              </a:rPr>
              <a:t>, </a:t>
            </a:r>
            <a:r>
              <a:rPr sz="1150" b="0" i="0">
                <a:solidFill>
                  <a:srgbClr val="B5642A"/>
                </a:solidFill>
                <a:latin typeface="Consolas"/>
              </a:rPr>
              <a:t>archive</a:t>
            </a:r>
            <a:r>
              <a:rPr sz="1250" b="0" i="0">
                <a:solidFill>
                  <a:srgbClr val="0F1E27"/>
                </a:solidFill>
                <a:latin typeface="Calibri"/>
              </a:rPr>
              <a:t> or </a:t>
            </a:r>
            <a:r>
              <a:rPr sz="1150" b="0" i="0">
                <a:solidFill>
                  <a:srgbClr val="B5642A"/>
                </a:solidFill>
                <a:latin typeface="Consolas"/>
              </a:rPr>
              <a:t>none</a:t>
            </a:r>
            <a:r>
              <a:rPr sz="1250" b="0" i="0">
                <a:solidFill>
                  <a:srgbClr val="0F1E27"/>
                </a:solidFill>
                <a:latin typeface="Calibri"/>
              </a:rPr>
              <a:t>. A revert that does not rewrite the shared file </a:t>
            </a:r>
            <a:r>
              <a:rPr sz="1250" b="1" i="0">
                <a:solidFill>
                  <a:srgbClr val="0F1E27"/>
                </a:solidFill>
                <a:latin typeface="Calibri"/>
              </a:rPr>
              <a:t>pins</a:t>
            </a:r>
            <a:r>
              <a:rPr sz="1250" b="0" i="0">
                <a:solidFill>
                  <a:srgbClr val="0F1E27"/>
                </a:solidFill>
                <a:latin typeface="Calibri"/>
              </a:rPr>
              <a:t> the membership, and the session then loads that version out of the archive instead of the file. Without the pin, adding the subject to a session silently undid the revert.</a:t>
            </a:r>
          </a:p>
          <a:p>
            <a:pPr algn="l">
              <a:lnSpc>
                <a:spcPct val="128000"/>
              </a:lnSpc>
            </a:pPr>
            <a:r>
              <a:rPr sz="1150" b="1" i="0">
                <a:solidFill>
                  <a:srgbClr val="B5642A"/>
                </a:solidFill>
                <a:latin typeface="Consolas"/>
              </a:rPr>
              <a:t>epsych.Protocol.compareVersions</a:t>
            </a:r>
            <a:r>
              <a:rPr sz="1200" b="0" i="0">
                <a:solidFill>
                  <a:srgbClr val="566E7C"/>
                </a:solidFill>
                <a:latin typeface="Calibri"/>
              </a:rPr>
              <a:t> diffs two versions straight from their stored payloads, without rebuilding the object graph, so it can compare a version naming a backend this installation cannot construct. </a:t>
            </a:r>
            <a:r>
              <a:rPr sz="1150" b="1" i="0">
                <a:solidFill>
                  <a:srgbClr val="B5642A"/>
                </a:solidFill>
                <a:latin typeface="Consolas"/>
              </a:rPr>
              <a:t>gui.compareProtocolVersions</a:t>
            </a:r>
            <a:r>
              <a:rPr sz="1200" b="0" i="0">
                <a:solidFill>
                  <a:srgbClr val="566E7C"/>
                </a:solidFill>
                <a:latin typeface="Calibri"/>
              </a:rPr>
              <a:t> is the window over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SESSION CONFIGURATION</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Subjects, projects, and what a session inherits</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The shared .esub roster replaced the per-session .ecfg file: selecting a subject selects everything needed to run it.</a:t>
            </a:r>
          </a:p>
        </p:txBody>
      </p:sp>
      <p:sp>
        <p:nvSpPr>
          <p:cNvPr id="5" name="Rounded Rectangle 5"/>
          <p:cNvSpPr/>
          <p:nvPr/>
        </p:nvSpPr>
        <p:spPr>
          <a:xfrm>
            <a:off x="566928" y="1737360"/>
            <a:ext cx="3456432" cy="1600200"/>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6"/>
          <p:cNvSpPr txBox="1"/>
          <p:nvPr/>
        </p:nvSpPr>
        <p:spPr>
          <a:xfrm>
            <a:off x="795528" y="1965960"/>
            <a:ext cx="2999232" cy="274320"/>
          </a:xfrm>
          <a:prstGeom prst="rect">
            <a:avLst/>
          </a:prstGeom>
          <a:noFill/>
        </p:spPr>
        <p:txBody>
          <a:bodyPr wrap="square" lIns="0" rIns="0" tIns="0" bIns="0" anchor="t"/>
          <a:lstStyle/>
          <a:p>
            <a:pPr algn="l"/>
            <a:r>
              <a:rPr sz="1100" b="1" i="0">
                <a:solidFill>
                  <a:srgbClr val="1D6E8A"/>
                </a:solidFill>
                <a:latin typeface="Arial"/>
              </a:rPr>
              <a:t>PROJECT</a:t>
            </a:r>
          </a:p>
        </p:txBody>
      </p:sp>
      <p:sp>
        <p:nvSpPr>
          <p:cNvPr id="7" name="TextBox 7"/>
          <p:cNvSpPr txBox="1"/>
          <p:nvPr/>
        </p:nvSpPr>
        <p:spPr>
          <a:xfrm>
            <a:off x="795528" y="2286000"/>
            <a:ext cx="2999232" cy="619125"/>
          </a:xfrm>
          <a:prstGeom prst="rect">
            <a:avLst/>
          </a:prstGeom>
          <a:noFill/>
        </p:spPr>
        <p:txBody>
          <a:bodyPr wrap="square" lIns="0" rIns="0" tIns="0" bIns="0" anchor="t"/>
          <a:lstStyle/>
          <a:p>
            <a:pPr algn="l">
              <a:lnSpc>
                <a:spcPct val="130000"/>
              </a:lnSpc>
            </a:pPr>
            <a:r>
              <a:rPr sz="1250" b="0" i="0">
                <a:solidFill>
                  <a:srgbClr val="0F1E27"/>
                </a:solidFill>
                <a:latin typeface="Calibri"/>
              </a:rPr>
              <a:t>Investigator, IACUC protocol, links and an archived flag — plus a Session Defaults template.</a:t>
            </a:r>
          </a:p>
        </p:txBody>
      </p:sp>
      <p:sp>
        <p:nvSpPr>
          <p:cNvPr id="8" name="Rounded Rectangle 8"/>
          <p:cNvSpPr/>
          <p:nvPr/>
        </p:nvSpPr>
        <p:spPr>
          <a:xfrm>
            <a:off x="4368360" y="1737360"/>
            <a:ext cx="3456432" cy="16002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9"/>
          <p:cNvSpPr txBox="1"/>
          <p:nvPr/>
        </p:nvSpPr>
        <p:spPr>
          <a:xfrm>
            <a:off x="4596960" y="1965960"/>
            <a:ext cx="2999232" cy="274320"/>
          </a:xfrm>
          <a:prstGeom prst="rect">
            <a:avLst/>
          </a:prstGeom>
          <a:noFill/>
        </p:spPr>
        <p:txBody>
          <a:bodyPr wrap="square" lIns="0" rIns="0" tIns="0" bIns="0" anchor="t"/>
          <a:lstStyle/>
          <a:p>
            <a:pPr algn="l"/>
            <a:r>
              <a:rPr sz="1100" b="1" i="0">
                <a:solidFill>
                  <a:srgbClr val="B5642A"/>
                </a:solidFill>
                <a:latin typeface="Arial"/>
              </a:rPr>
              <a:t>MEMBERSHIP</a:t>
            </a:r>
          </a:p>
        </p:txBody>
      </p:sp>
      <p:sp>
        <p:nvSpPr>
          <p:cNvPr id="10" name="TextBox 10"/>
          <p:cNvSpPr txBox="1"/>
          <p:nvPr/>
        </p:nvSpPr>
        <p:spPr>
          <a:xfrm>
            <a:off x="4596960" y="2286000"/>
            <a:ext cx="2999232" cy="619125"/>
          </a:xfrm>
          <a:prstGeom prst="rect">
            <a:avLst/>
          </a:prstGeom>
          <a:noFill/>
        </p:spPr>
        <p:txBody>
          <a:bodyPr wrap="square" lIns="0" rIns="0" tIns="0" bIns="0" anchor="t"/>
          <a:lstStyle/>
          <a:p>
            <a:pPr algn="l">
              <a:lnSpc>
                <a:spcPct val="130000"/>
              </a:lnSpc>
            </a:pPr>
            <a:r>
              <a:rPr sz="1250" b="0" i="0">
                <a:solidFill>
                  <a:srgbClr val="0F1E27"/>
                </a:solidFill>
                <a:latin typeface="Calibri"/>
              </a:rPr>
              <a:t>Stamped from that template at assign. Carries the protocol, its version, box memory and the session fields.</a:t>
            </a:r>
          </a:p>
        </p:txBody>
      </p:sp>
      <p:sp>
        <p:nvSpPr>
          <p:cNvPr id="11" name="Rounded Rectangle 11"/>
          <p:cNvSpPr/>
          <p:nvPr/>
        </p:nvSpPr>
        <p:spPr>
          <a:xfrm>
            <a:off x="8169792" y="1737360"/>
            <a:ext cx="3456432" cy="1600200"/>
          </a:xfrm>
          <a:prstGeom prst="roundRect">
            <a:avLst>
              <a:gd name="adj" fmla="val 9000"/>
            </a:avLst>
          </a:prstGeom>
          <a:solidFill>
            <a:srgbClr val="E2E9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2"/>
          <p:cNvSpPr txBox="1"/>
          <p:nvPr/>
        </p:nvSpPr>
        <p:spPr>
          <a:xfrm>
            <a:off x="8398392" y="1965960"/>
            <a:ext cx="2999232" cy="274320"/>
          </a:xfrm>
          <a:prstGeom prst="rect">
            <a:avLst/>
          </a:prstGeom>
          <a:noFill/>
        </p:spPr>
        <p:txBody>
          <a:bodyPr wrap="square" lIns="0" rIns="0" tIns="0" bIns="0" anchor="t"/>
          <a:lstStyle/>
          <a:p>
            <a:pPr algn="l"/>
            <a:r>
              <a:rPr sz="1100" b="1" i="0">
                <a:solidFill>
                  <a:srgbClr val="153A49"/>
                </a:solidFill>
                <a:latin typeface="Arial"/>
              </a:rPr>
              <a:t>SESSION</a:t>
            </a:r>
          </a:p>
        </p:txBody>
      </p:sp>
      <p:sp>
        <p:nvSpPr>
          <p:cNvPr id="13" name="TextBox 13"/>
          <p:cNvSpPr txBox="1"/>
          <p:nvPr/>
        </p:nvSpPr>
        <p:spPr>
          <a:xfrm>
            <a:off x="8398392" y="2286000"/>
            <a:ext cx="2999232" cy="619125"/>
          </a:xfrm>
          <a:prstGeom prst="rect">
            <a:avLst/>
          </a:prstGeom>
          <a:noFill/>
        </p:spPr>
        <p:txBody>
          <a:bodyPr wrap="square" lIns="0" rIns="0" tIns="0" bIns="0" anchor="t"/>
          <a:lstStyle/>
          <a:p>
            <a:pPr algn="l">
              <a:lnSpc>
                <a:spcPct val="130000"/>
              </a:lnSpc>
            </a:pPr>
            <a:r>
              <a:rPr sz="1250" b="0" i="0">
                <a:solidFill>
                  <a:srgbClr val="0F1E27"/>
                </a:solidFill>
                <a:latin typeface="Calibri"/>
              </a:rPr>
              <a:t>assignToSession resolves every planned subject first and refuses the batch when they disagree.</a:t>
            </a:r>
          </a:p>
        </p:txBody>
      </p:sp>
      <p:sp>
        <p:nvSpPr>
          <p:cNvPr id="14" name="TextBox 14"/>
          <p:cNvSpPr txBox="1"/>
          <p:nvPr/>
        </p:nvSpPr>
        <p:spPr>
          <a:xfrm>
            <a:off x="4093920" y="2400300"/>
            <a:ext cx="274440" cy="274320"/>
          </a:xfrm>
          <a:prstGeom prst="rect">
            <a:avLst/>
          </a:prstGeom>
          <a:noFill/>
        </p:spPr>
        <p:txBody>
          <a:bodyPr wrap="square" lIns="0" rIns="0" tIns="0" bIns="0" anchor="t"/>
          <a:lstStyle/>
          <a:p>
            <a:pPr algn="ctr"/>
            <a:r>
              <a:rPr sz="1900" b="1" i="0">
                <a:solidFill>
                  <a:srgbClr val="1D6E8A"/>
                </a:solidFill>
                <a:latin typeface="Arial"/>
              </a:rPr>
              <a:t>→</a:t>
            </a:r>
          </a:p>
        </p:txBody>
      </p:sp>
      <p:sp>
        <p:nvSpPr>
          <p:cNvPr id="15" name="TextBox 15"/>
          <p:cNvSpPr txBox="1"/>
          <p:nvPr/>
        </p:nvSpPr>
        <p:spPr>
          <a:xfrm>
            <a:off x="7895352" y="2400300"/>
            <a:ext cx="274440" cy="274320"/>
          </a:xfrm>
          <a:prstGeom prst="rect">
            <a:avLst/>
          </a:prstGeom>
          <a:noFill/>
        </p:spPr>
        <p:txBody>
          <a:bodyPr wrap="square" lIns="0" rIns="0" tIns="0" bIns="0" anchor="t"/>
          <a:lstStyle/>
          <a:p>
            <a:pPr algn="ctr"/>
            <a:r>
              <a:rPr sz="1900" b="1" i="0">
                <a:solidFill>
                  <a:srgbClr val="1D6E8A"/>
                </a:solidFill>
                <a:latin typeface="Arial"/>
              </a:rPr>
              <a:t>→</a:t>
            </a:r>
          </a:p>
        </p:txBody>
      </p:sp>
      <p:sp>
        <p:nvSpPr>
          <p:cNvPr id="16" name="TextBox 16"/>
          <p:cNvSpPr txBox="1"/>
          <p:nvPr/>
        </p:nvSpPr>
        <p:spPr>
          <a:xfrm>
            <a:off x="566928" y="3566160"/>
            <a:ext cx="11057839" cy="274320"/>
          </a:xfrm>
          <a:prstGeom prst="rect">
            <a:avLst/>
          </a:prstGeom>
          <a:noFill/>
        </p:spPr>
        <p:txBody>
          <a:bodyPr wrap="square" lIns="0" rIns="0" tIns="0" bIns="0" anchor="t"/>
          <a:lstStyle/>
          <a:p>
            <a:pPr algn="l"/>
            <a:r>
              <a:rPr sz="1100" b="1" i="0">
                <a:solidFill>
                  <a:srgbClr val="B5642A"/>
                </a:solidFill>
                <a:latin typeface="Arial"/>
              </a:rPr>
              <a:t>WHAT THE MEMBERSHIP CARRIES ONTO THE SESSION</a:t>
            </a:r>
          </a:p>
        </p:txBody>
      </p:sp>
      <p:sp>
        <p:nvSpPr>
          <p:cNvPr id="17" name="Rounded Rectangle 17"/>
          <p:cNvSpPr/>
          <p:nvPr/>
        </p:nvSpPr>
        <p:spPr>
          <a:xfrm>
            <a:off x="566928" y="3886200"/>
            <a:ext cx="1402169" cy="26517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D6E8A"/>
                </a:solidFill>
                <a:latin typeface="Arial"/>
              </a:rPr>
              <a:t>DefaultDataPath</a:t>
            </a:r>
          </a:p>
        </p:txBody>
      </p:sp>
      <p:sp>
        <p:nvSpPr>
          <p:cNvPr id="18" name="Rounded Rectangle 18"/>
          <p:cNvSpPr/>
          <p:nvPr/>
        </p:nvSpPr>
        <p:spPr>
          <a:xfrm>
            <a:off x="2106257" y="3886200"/>
            <a:ext cx="1010785" cy="26517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D6E8A"/>
                </a:solidFill>
                <a:latin typeface="Arial"/>
              </a:rPr>
              <a:t>SavingFcn</a:t>
            </a:r>
          </a:p>
        </p:txBody>
      </p:sp>
      <p:sp>
        <p:nvSpPr>
          <p:cNvPr id="19" name="Rounded Rectangle 19"/>
          <p:cNvSpPr/>
          <p:nvPr/>
        </p:nvSpPr>
        <p:spPr>
          <a:xfrm>
            <a:off x="3254202" y="3886200"/>
            <a:ext cx="1123020" cy="26517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D6E8A"/>
                </a:solidFill>
                <a:latin typeface="Arial"/>
              </a:rPr>
              <a:t>BehaviorGUI</a:t>
            </a:r>
          </a:p>
        </p:txBody>
      </p:sp>
      <p:sp>
        <p:nvSpPr>
          <p:cNvPr id="20" name="Rounded Rectangle 20"/>
          <p:cNvSpPr/>
          <p:nvPr/>
        </p:nvSpPr>
        <p:spPr>
          <a:xfrm>
            <a:off x="4514382" y="3886200"/>
            <a:ext cx="1115826" cy="26517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D6E8A"/>
                </a:solidFill>
                <a:latin typeface="Arial"/>
              </a:rPr>
              <a:t>TimerPeriod</a:t>
            </a:r>
          </a:p>
        </p:txBody>
      </p:sp>
      <p:sp>
        <p:nvSpPr>
          <p:cNvPr id="21" name="Rounded Rectangle 21"/>
          <p:cNvSpPr/>
          <p:nvPr/>
        </p:nvSpPr>
        <p:spPr>
          <a:xfrm>
            <a:off x="5767368" y="3886200"/>
            <a:ext cx="1020858" cy="26517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D6E8A"/>
                </a:solidFill>
                <a:latin typeface="Arial"/>
              </a:rPr>
              <a:t>Timer*Fcn</a:t>
            </a:r>
          </a:p>
        </p:txBody>
      </p:sp>
      <p:sp>
        <p:nvSpPr>
          <p:cNvPr id="22" name="Rounded Rectangle 22"/>
          <p:cNvSpPr/>
          <p:nvPr/>
        </p:nvSpPr>
        <p:spPr>
          <a:xfrm>
            <a:off x="6925386" y="3886200"/>
            <a:ext cx="953229" cy="26517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D6E8A"/>
                </a:solidFill>
                <a:latin typeface="Arial"/>
              </a:rPr>
              <a:t>video root</a:t>
            </a:r>
          </a:p>
        </p:txBody>
      </p:sp>
      <p:sp>
        <p:nvSpPr>
          <p:cNvPr id="23" name="Rounded Rectangle 23"/>
          <p:cNvSpPr/>
          <p:nvPr/>
        </p:nvSpPr>
        <p:spPr>
          <a:xfrm>
            <a:off x="8015775" y="3886200"/>
            <a:ext cx="921573" cy="26517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D6E8A"/>
                </a:solidFill>
                <a:latin typeface="Arial"/>
              </a:rPr>
              <a:t>Intan root</a:t>
            </a:r>
          </a:p>
        </p:txBody>
      </p:sp>
      <p:sp>
        <p:nvSpPr>
          <p:cNvPr id="24" name="Rounded Rectangle 24"/>
          <p:cNvSpPr/>
          <p:nvPr/>
        </p:nvSpPr>
        <p:spPr>
          <a:xfrm>
            <a:off x="566928" y="4480560"/>
            <a:ext cx="5356419" cy="16002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5"/>
          <p:cNvSpPr txBox="1"/>
          <p:nvPr/>
        </p:nvSpPr>
        <p:spPr>
          <a:xfrm>
            <a:off x="795528" y="4709160"/>
            <a:ext cx="4899219" cy="274320"/>
          </a:xfrm>
          <a:prstGeom prst="rect">
            <a:avLst/>
          </a:prstGeom>
          <a:noFill/>
        </p:spPr>
        <p:txBody>
          <a:bodyPr wrap="square" lIns="0" rIns="0" tIns="0" bIns="0" anchor="t"/>
          <a:lstStyle/>
          <a:p>
            <a:pPr algn="l"/>
            <a:r>
              <a:rPr sz="1100" b="1" i="0">
                <a:solidFill>
                  <a:srgbClr val="B5642A"/>
                </a:solidFill>
                <a:latin typeface="Arial"/>
              </a:rPr>
              <a:t>EMPTY MEANS INHERIT</a:t>
            </a:r>
          </a:p>
        </p:txBody>
      </p:sp>
      <p:sp>
        <p:nvSpPr>
          <p:cNvPr id="26" name="TextBox 26"/>
          <p:cNvSpPr txBox="1"/>
          <p:nvPr/>
        </p:nvSpPr>
        <p:spPr>
          <a:xfrm>
            <a:off x="795528" y="5029200"/>
            <a:ext cx="4899219" cy="825500"/>
          </a:xfrm>
          <a:prstGeom prst="rect">
            <a:avLst/>
          </a:prstGeom>
          <a:noFill/>
        </p:spPr>
        <p:txBody>
          <a:bodyPr wrap="square" lIns="0" rIns="0" tIns="0" bIns="0" anchor="t"/>
          <a:lstStyle/>
          <a:p>
            <a:pPr algn="l">
              <a:lnSpc>
                <a:spcPct val="130000"/>
              </a:lnSpc>
            </a:pPr>
            <a:r>
              <a:rPr sz="1250" b="0" i="0">
                <a:solidFill>
                  <a:srgbClr val="0F1E27"/>
                </a:solidFill>
                <a:latin typeface="Calibri"/>
              </a:rPr>
              <a:t>A blank field means the built-in default </a:t>
            </a:r>
            <a:r>
              <a:rPr sz="1250" b="0" i="0">
                <a:solidFill>
                  <a:srgbClr val="0F1E27"/>
                </a:solidFill>
                <a:latin typeface="Calibri"/>
              </a:rPr>
              <a:t>— NaN for TimerPeriod, ep_TimerFcn_* for the callbacks. There is no rig-preference floor underneath them any more, which is the only reading an older roster can have. </a:t>
            </a:r>
            <a:r>
              <a:rPr sz="1250" b="0" i="0">
                <a:solidFill>
                  <a:srgbClr val="0F1E27"/>
                </a:solidFill>
                <a:latin typeface="Calibri"/>
              </a:rPr>
              <a:t>BehaviorGUI has a third state: none runs no GUI at all.</a:t>
            </a:r>
          </a:p>
        </p:txBody>
      </p:sp>
      <p:sp>
        <p:nvSpPr>
          <p:cNvPr id="27" name="Rounded Rectangle 27"/>
          <p:cNvSpPr/>
          <p:nvPr/>
        </p:nvSpPr>
        <p:spPr>
          <a:xfrm>
            <a:off x="6268347" y="4480560"/>
            <a:ext cx="5356420" cy="1600200"/>
          </a:xfrm>
          <a:prstGeom prst="roundRect">
            <a:avLst>
              <a:gd name="adj" fmla="val 9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TextBox 28"/>
          <p:cNvSpPr txBox="1"/>
          <p:nvPr/>
        </p:nvSpPr>
        <p:spPr>
          <a:xfrm>
            <a:off x="6496947" y="4709160"/>
            <a:ext cx="4899220" cy="274320"/>
          </a:xfrm>
          <a:prstGeom prst="rect">
            <a:avLst/>
          </a:prstGeom>
          <a:noFill/>
        </p:spPr>
        <p:txBody>
          <a:bodyPr wrap="square" lIns="0" rIns="0" tIns="0" bIns="0" anchor="t"/>
          <a:lstStyle/>
          <a:p>
            <a:pPr algn="l"/>
            <a:r>
              <a:rPr sz="1100" b="1" i="0">
                <a:solidFill>
                  <a:srgbClr val="B5642A"/>
                </a:solidFill>
                <a:latin typeface="Arial"/>
              </a:rPr>
              <a:t>NOTHING IS WRITTEN BACK</a:t>
            </a:r>
          </a:p>
        </p:txBody>
      </p:sp>
      <p:sp>
        <p:nvSpPr>
          <p:cNvPr id="29" name="TextBox 29"/>
          <p:cNvSpPr txBox="1"/>
          <p:nvPr/>
        </p:nvSpPr>
        <p:spPr>
          <a:xfrm>
            <a:off x="6496947" y="5029200"/>
            <a:ext cx="4899220" cy="825500"/>
          </a:xfrm>
          <a:prstGeom prst="rect">
            <a:avLst/>
          </a:prstGeom>
          <a:noFill/>
        </p:spPr>
        <p:txBody>
          <a:bodyPr wrap="square" lIns="0" rIns="0" tIns="0" bIns="0" anchor="t"/>
          <a:lstStyle/>
          <a:p>
            <a:pPr algn="l">
              <a:lnSpc>
                <a:spcPct val="130000"/>
              </a:lnSpc>
            </a:pPr>
            <a:r>
              <a:rPr sz="1250" b="0" i="0">
                <a:solidFill>
                  <a:srgbClr val="0F1E27"/>
                </a:solidFill>
                <a:latin typeface="Calibri"/>
              </a:rPr>
              <a:t>Closing a session persists nothing to the preferences. What stays on RunExpt</a:t>
            </a:r>
            <a:r>
              <a:rPr sz="1250" b="0" i="0">
                <a:solidFill>
                  <a:srgbClr val="0F1E27"/>
                </a:solidFill>
                <a:latin typeface="Calibri"/>
              </a:rPr>
              <a:t>'s Customize dialog describes the machine — log path and viewer, roster file, add-subject function, the rig's default data path. Everything that describes the experiment moved onto the membership.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EXECUTION</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Runtime and the trial lifecycle</a:t>
            </a:r>
          </a:p>
        </p:txBody>
      </p:sp>
      <p:sp>
        <p:nvSpPr>
          <p:cNvPr id="4" name="Rounded Rectangle 4"/>
          <p:cNvSpPr/>
          <p:nvPr/>
        </p:nvSpPr>
        <p:spPr>
          <a:xfrm>
            <a:off x="566928" y="1572768"/>
            <a:ext cx="1572768"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5"/>
          <p:cNvSpPr txBox="1"/>
          <p:nvPr/>
        </p:nvSpPr>
        <p:spPr>
          <a:xfrm>
            <a:off x="566928" y="1687068"/>
            <a:ext cx="1572768" cy="274320"/>
          </a:xfrm>
          <a:prstGeom prst="rect">
            <a:avLst/>
          </a:prstGeom>
          <a:noFill/>
        </p:spPr>
        <p:txBody>
          <a:bodyPr wrap="square" lIns="0" rIns="0" tIns="0" bIns="0" anchor="t"/>
          <a:lstStyle/>
          <a:p>
            <a:pPr algn="ctr"/>
            <a:r>
              <a:rPr sz="1050" b="1" i="0">
                <a:solidFill>
                  <a:srgbClr val="0F1E27"/>
                </a:solidFill>
                <a:latin typeface="Arial"/>
              </a:rPr>
              <a:t>NOCONFIG</a:t>
            </a:r>
          </a:p>
        </p:txBody>
      </p:sp>
      <p:sp>
        <p:nvSpPr>
          <p:cNvPr id="6" name="TextBox 6"/>
          <p:cNvSpPr txBox="1"/>
          <p:nvPr/>
        </p:nvSpPr>
        <p:spPr>
          <a:xfrm>
            <a:off x="2139696" y="1687068"/>
            <a:ext cx="292608" cy="274320"/>
          </a:xfrm>
          <a:prstGeom prst="rect">
            <a:avLst/>
          </a:prstGeom>
          <a:noFill/>
        </p:spPr>
        <p:txBody>
          <a:bodyPr wrap="square" lIns="0" rIns="0" tIns="0" bIns="0" anchor="t"/>
          <a:lstStyle/>
          <a:p>
            <a:pPr algn="ctr"/>
            <a:r>
              <a:rPr sz="1500" b="1" i="0">
                <a:solidFill>
                  <a:srgbClr val="9FB4BF"/>
                </a:solidFill>
                <a:latin typeface="Arial"/>
              </a:rPr>
              <a:t>›</a:t>
            </a:r>
          </a:p>
        </p:txBody>
      </p:sp>
      <p:sp>
        <p:nvSpPr>
          <p:cNvPr id="7" name="Rounded Rectangle 7"/>
          <p:cNvSpPr/>
          <p:nvPr/>
        </p:nvSpPr>
        <p:spPr>
          <a:xfrm>
            <a:off x="2432304" y="1572768"/>
            <a:ext cx="1572768"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8"/>
          <p:cNvSpPr txBox="1"/>
          <p:nvPr/>
        </p:nvSpPr>
        <p:spPr>
          <a:xfrm>
            <a:off x="2432304" y="1687068"/>
            <a:ext cx="1572768" cy="274320"/>
          </a:xfrm>
          <a:prstGeom prst="rect">
            <a:avLst/>
          </a:prstGeom>
          <a:noFill/>
        </p:spPr>
        <p:txBody>
          <a:bodyPr wrap="square" lIns="0" rIns="0" tIns="0" bIns="0" anchor="t"/>
          <a:lstStyle/>
          <a:p>
            <a:pPr algn="ctr"/>
            <a:r>
              <a:rPr sz="1050" b="1" i="0">
                <a:solidFill>
                  <a:srgbClr val="0F1E27"/>
                </a:solidFill>
                <a:latin typeface="Arial"/>
              </a:rPr>
              <a:t>CONFIGLOADED</a:t>
            </a:r>
          </a:p>
        </p:txBody>
      </p:sp>
      <p:sp>
        <p:nvSpPr>
          <p:cNvPr id="9" name="TextBox 9"/>
          <p:cNvSpPr txBox="1"/>
          <p:nvPr/>
        </p:nvSpPr>
        <p:spPr>
          <a:xfrm>
            <a:off x="4005072" y="1687068"/>
            <a:ext cx="292608" cy="274320"/>
          </a:xfrm>
          <a:prstGeom prst="rect">
            <a:avLst/>
          </a:prstGeom>
          <a:noFill/>
        </p:spPr>
        <p:txBody>
          <a:bodyPr wrap="square" lIns="0" rIns="0" tIns="0" bIns="0" anchor="t"/>
          <a:lstStyle/>
          <a:p>
            <a:pPr algn="ctr"/>
            <a:r>
              <a:rPr sz="1500" b="1" i="0">
                <a:solidFill>
                  <a:srgbClr val="9FB4BF"/>
                </a:solidFill>
                <a:latin typeface="Arial"/>
              </a:rPr>
              <a:t>›</a:t>
            </a:r>
          </a:p>
        </p:txBody>
      </p:sp>
      <p:sp>
        <p:nvSpPr>
          <p:cNvPr id="10" name="Rounded Rectangle 10"/>
          <p:cNvSpPr/>
          <p:nvPr/>
        </p:nvSpPr>
        <p:spPr>
          <a:xfrm>
            <a:off x="4297680" y="1572768"/>
            <a:ext cx="1572768"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1"/>
          <p:cNvSpPr txBox="1"/>
          <p:nvPr/>
        </p:nvSpPr>
        <p:spPr>
          <a:xfrm>
            <a:off x="4297680" y="1687068"/>
            <a:ext cx="1572768" cy="274320"/>
          </a:xfrm>
          <a:prstGeom prst="rect">
            <a:avLst/>
          </a:prstGeom>
          <a:noFill/>
        </p:spPr>
        <p:txBody>
          <a:bodyPr wrap="square" lIns="0" rIns="0" tIns="0" bIns="0" anchor="t"/>
          <a:lstStyle/>
          <a:p>
            <a:pPr algn="ctr"/>
            <a:r>
              <a:rPr sz="1050" b="1" i="0">
                <a:solidFill>
                  <a:srgbClr val="0F1E27"/>
                </a:solidFill>
                <a:latin typeface="Arial"/>
              </a:rPr>
              <a:t>READY</a:t>
            </a:r>
          </a:p>
        </p:txBody>
      </p:sp>
      <p:sp>
        <p:nvSpPr>
          <p:cNvPr id="12" name="TextBox 12"/>
          <p:cNvSpPr txBox="1"/>
          <p:nvPr/>
        </p:nvSpPr>
        <p:spPr>
          <a:xfrm>
            <a:off x="5870448" y="1687068"/>
            <a:ext cx="292608" cy="274320"/>
          </a:xfrm>
          <a:prstGeom prst="rect">
            <a:avLst/>
          </a:prstGeom>
          <a:noFill/>
        </p:spPr>
        <p:txBody>
          <a:bodyPr wrap="square" lIns="0" rIns="0" tIns="0" bIns="0" anchor="t"/>
          <a:lstStyle/>
          <a:p>
            <a:pPr algn="ctr"/>
            <a:r>
              <a:rPr sz="1500" b="1" i="0">
                <a:solidFill>
                  <a:srgbClr val="9FB4BF"/>
                </a:solidFill>
                <a:latin typeface="Arial"/>
              </a:rPr>
              <a:t>›</a:t>
            </a:r>
          </a:p>
        </p:txBody>
      </p:sp>
      <p:sp>
        <p:nvSpPr>
          <p:cNvPr id="13" name="Rounded Rectangle 13"/>
          <p:cNvSpPr/>
          <p:nvPr/>
        </p:nvSpPr>
        <p:spPr>
          <a:xfrm>
            <a:off x="6163056" y="1572768"/>
            <a:ext cx="1572768" cy="457200"/>
          </a:xfrm>
          <a:prstGeom prst="roundRect">
            <a:avLst>
              <a:gd name="adj" fmla="val 20000"/>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4"/>
          <p:cNvSpPr txBox="1"/>
          <p:nvPr/>
        </p:nvSpPr>
        <p:spPr>
          <a:xfrm>
            <a:off x="6163056" y="1687068"/>
            <a:ext cx="1572768" cy="274320"/>
          </a:xfrm>
          <a:prstGeom prst="rect">
            <a:avLst/>
          </a:prstGeom>
          <a:noFill/>
        </p:spPr>
        <p:txBody>
          <a:bodyPr wrap="square" lIns="0" rIns="0" tIns="0" bIns="0" anchor="t"/>
          <a:lstStyle/>
          <a:p>
            <a:pPr algn="ctr"/>
            <a:r>
              <a:rPr sz="1050" b="1" i="0">
                <a:solidFill>
                  <a:srgbClr val="FFFFFF"/>
                </a:solidFill>
                <a:latin typeface="Arial"/>
              </a:rPr>
              <a:t>RUNNING</a:t>
            </a:r>
          </a:p>
        </p:txBody>
      </p:sp>
      <p:sp>
        <p:nvSpPr>
          <p:cNvPr id="15" name="TextBox 15"/>
          <p:cNvSpPr txBox="1"/>
          <p:nvPr/>
        </p:nvSpPr>
        <p:spPr>
          <a:xfrm>
            <a:off x="7735824" y="1687068"/>
            <a:ext cx="292608" cy="274320"/>
          </a:xfrm>
          <a:prstGeom prst="rect">
            <a:avLst/>
          </a:prstGeom>
          <a:noFill/>
        </p:spPr>
        <p:txBody>
          <a:bodyPr wrap="square" lIns="0" rIns="0" tIns="0" bIns="0" anchor="t"/>
          <a:lstStyle/>
          <a:p>
            <a:pPr algn="ctr"/>
            <a:r>
              <a:rPr sz="1500" b="1" i="0">
                <a:solidFill>
                  <a:srgbClr val="9FB4BF"/>
                </a:solidFill>
                <a:latin typeface="Arial"/>
              </a:rPr>
              <a:t>›</a:t>
            </a:r>
          </a:p>
        </p:txBody>
      </p:sp>
      <p:sp>
        <p:nvSpPr>
          <p:cNvPr id="16" name="Rounded Rectangle 16"/>
          <p:cNvSpPr/>
          <p:nvPr/>
        </p:nvSpPr>
        <p:spPr>
          <a:xfrm>
            <a:off x="8028432" y="1572768"/>
            <a:ext cx="1572768"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7"/>
          <p:cNvSpPr txBox="1"/>
          <p:nvPr/>
        </p:nvSpPr>
        <p:spPr>
          <a:xfrm>
            <a:off x="8028432" y="1687068"/>
            <a:ext cx="1572768" cy="274320"/>
          </a:xfrm>
          <a:prstGeom prst="rect">
            <a:avLst/>
          </a:prstGeom>
          <a:noFill/>
        </p:spPr>
        <p:txBody>
          <a:bodyPr wrap="square" lIns="0" rIns="0" tIns="0" bIns="0" anchor="t"/>
          <a:lstStyle/>
          <a:p>
            <a:pPr algn="ctr"/>
            <a:r>
              <a:rPr sz="1050" b="1" i="0">
                <a:solidFill>
                  <a:srgbClr val="0F1E27"/>
                </a:solidFill>
                <a:latin typeface="Arial"/>
              </a:rPr>
              <a:t>POSTRUN</a:t>
            </a:r>
          </a:p>
        </p:txBody>
      </p:sp>
      <p:sp>
        <p:nvSpPr>
          <p:cNvPr id="18" name="TextBox 18"/>
          <p:cNvSpPr txBox="1"/>
          <p:nvPr/>
        </p:nvSpPr>
        <p:spPr>
          <a:xfrm>
            <a:off x="9601200" y="1687068"/>
            <a:ext cx="292608" cy="274320"/>
          </a:xfrm>
          <a:prstGeom prst="rect">
            <a:avLst/>
          </a:prstGeom>
          <a:noFill/>
        </p:spPr>
        <p:txBody>
          <a:bodyPr wrap="square" lIns="0" rIns="0" tIns="0" bIns="0" anchor="t"/>
          <a:lstStyle/>
          <a:p>
            <a:pPr algn="ctr"/>
            <a:r>
              <a:rPr sz="1500" b="1" i="0">
                <a:solidFill>
                  <a:srgbClr val="9FB4BF"/>
                </a:solidFill>
                <a:latin typeface="Arial"/>
              </a:rPr>
              <a:t>›</a:t>
            </a:r>
          </a:p>
        </p:txBody>
      </p:sp>
      <p:sp>
        <p:nvSpPr>
          <p:cNvPr id="19" name="Rounded Rectangle 19"/>
          <p:cNvSpPr/>
          <p:nvPr/>
        </p:nvSpPr>
        <p:spPr>
          <a:xfrm>
            <a:off x="9893808" y="1572768"/>
            <a:ext cx="1572768"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20"/>
          <p:cNvSpPr txBox="1"/>
          <p:nvPr/>
        </p:nvSpPr>
        <p:spPr>
          <a:xfrm>
            <a:off x="9893808" y="1687068"/>
            <a:ext cx="1572768" cy="274320"/>
          </a:xfrm>
          <a:prstGeom prst="rect">
            <a:avLst/>
          </a:prstGeom>
          <a:noFill/>
        </p:spPr>
        <p:txBody>
          <a:bodyPr wrap="square" lIns="0" rIns="0" tIns="0" bIns="0" anchor="t"/>
          <a:lstStyle/>
          <a:p>
            <a:pPr algn="ctr"/>
            <a:r>
              <a:rPr sz="1050" b="1" i="0">
                <a:solidFill>
                  <a:srgbClr val="0F1E27"/>
                </a:solidFill>
                <a:latin typeface="Arial"/>
              </a:rPr>
              <a:t>STOP</a:t>
            </a:r>
          </a:p>
        </p:txBody>
      </p:sp>
      <p:sp>
        <p:nvSpPr>
          <p:cNvPr id="21" name="TextBox 21"/>
          <p:cNvSpPr txBox="1"/>
          <p:nvPr/>
        </p:nvSpPr>
        <p:spPr>
          <a:xfrm>
            <a:off x="566928" y="2139696"/>
            <a:ext cx="11057839" cy="274320"/>
          </a:xfrm>
          <a:prstGeom prst="rect">
            <a:avLst/>
          </a:prstGeom>
          <a:noFill/>
        </p:spPr>
        <p:txBody>
          <a:bodyPr wrap="square" lIns="0" rIns="0" tIns="0" bIns="0" anchor="t"/>
          <a:lstStyle/>
          <a:p>
            <a:pPr algn="l"/>
            <a:r>
              <a:rPr sz="1100" b="0" i="0">
                <a:solidFill>
                  <a:srgbClr val="1D6E8A"/>
                </a:solidFill>
                <a:latin typeface="Consolas"/>
              </a:rPr>
              <a:t>PRGMSTATE</a:t>
            </a:r>
            <a:r>
              <a:rPr sz="1150" b="0" i="0">
                <a:solidFill>
                  <a:srgbClr val="566E7C"/>
                </a:solidFill>
                <a:latin typeface="Calibri"/>
              </a:rPr>
              <a:t>  —  ERROR is reachable from any state.</a:t>
            </a:r>
          </a:p>
        </p:txBody>
      </p:sp>
      <p:sp>
        <p:nvSpPr>
          <p:cNvPr id="22" name="TextBox 22"/>
          <p:cNvSpPr txBox="1"/>
          <p:nvPr/>
        </p:nvSpPr>
        <p:spPr>
          <a:xfrm>
            <a:off x="566928" y="2724912"/>
            <a:ext cx="11057839" cy="274320"/>
          </a:xfrm>
          <a:prstGeom prst="rect">
            <a:avLst/>
          </a:prstGeom>
          <a:noFill/>
        </p:spPr>
        <p:txBody>
          <a:bodyPr wrap="square" lIns="0" rIns="0" tIns="0" bIns="0" anchor="t"/>
          <a:lstStyle/>
          <a:p>
            <a:pPr algn="l"/>
            <a:r>
              <a:rPr sz="1100" b="1" i="0">
                <a:solidFill>
                  <a:srgbClr val="B5642A"/>
                </a:solidFill>
                <a:latin typeface="Arial"/>
              </a:rPr>
              <a:t>TIMER CALLBACK CHAIN</a:t>
            </a:r>
          </a:p>
        </p:txBody>
      </p:sp>
      <p:sp>
        <p:nvSpPr>
          <p:cNvPr id="23" name="Rounded Rectangle 23"/>
          <p:cNvSpPr/>
          <p:nvPr/>
        </p:nvSpPr>
        <p:spPr>
          <a:xfrm>
            <a:off x="566928" y="3072384"/>
            <a:ext cx="7882127" cy="78638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Oval 24"/>
          <p:cNvSpPr/>
          <p:nvPr/>
        </p:nvSpPr>
        <p:spPr>
          <a:xfrm>
            <a:off x="786384" y="3287268"/>
            <a:ext cx="356616" cy="356616"/>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a:rPr>
              <a:t>1</a:t>
            </a:r>
          </a:p>
        </p:txBody>
      </p:sp>
      <p:sp>
        <p:nvSpPr>
          <p:cNvPr id="25" name="TextBox 25"/>
          <p:cNvSpPr txBox="1"/>
          <p:nvPr/>
        </p:nvSpPr>
        <p:spPr>
          <a:xfrm>
            <a:off x="1280160" y="3200400"/>
            <a:ext cx="6949440" cy="566928"/>
          </a:xfrm>
          <a:prstGeom prst="rect">
            <a:avLst/>
          </a:prstGeom>
          <a:noFill/>
        </p:spPr>
        <p:txBody>
          <a:bodyPr wrap="square" lIns="0" rIns="0" tIns="0" bIns="0" anchor="t"/>
          <a:lstStyle/>
          <a:p>
            <a:pPr algn="l">
              <a:spcAft>
                <a:spcPts val="200"/>
              </a:spcAft>
            </a:pPr>
            <a:r>
              <a:rPr sz="1250" b="1" i="0">
                <a:solidFill>
                  <a:srgbClr val="1D6E8A"/>
                </a:solidFill>
                <a:latin typeface="Consolas"/>
              </a:rPr>
              <a:t>ep_TimerFcn_Start</a:t>
            </a:r>
          </a:p>
          <a:p>
            <a:pPr algn="l">
              <a:lnSpc>
                <a:spcPct val="122000"/>
              </a:lnSpc>
            </a:pPr>
            <a:r>
              <a:rPr sz="1150" b="0" i="0">
                <a:solidFill>
                  <a:srgbClr val="566E7C"/>
                </a:solidFill>
                <a:latin typeface="Calibri"/>
              </a:rPr>
              <a:t>Build RUNTIME.TRIALS, create the trial selectors, capture the session snapshot, resolve the CORE trigger parameters, and dispatch the first trial.</a:t>
            </a:r>
          </a:p>
        </p:txBody>
      </p:sp>
      <p:sp>
        <p:nvSpPr>
          <p:cNvPr id="26" name="Rounded Rectangle 26"/>
          <p:cNvSpPr/>
          <p:nvPr/>
        </p:nvSpPr>
        <p:spPr>
          <a:xfrm>
            <a:off x="566928" y="3968496"/>
            <a:ext cx="7882127" cy="78638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Oval 27"/>
          <p:cNvSpPr/>
          <p:nvPr/>
        </p:nvSpPr>
        <p:spPr>
          <a:xfrm>
            <a:off x="786384" y="4183380"/>
            <a:ext cx="356616" cy="356616"/>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a:rPr>
              <a:t>2</a:t>
            </a:r>
          </a:p>
        </p:txBody>
      </p:sp>
      <p:sp>
        <p:nvSpPr>
          <p:cNvPr id="28" name="TextBox 28"/>
          <p:cNvSpPr txBox="1"/>
          <p:nvPr/>
        </p:nvSpPr>
        <p:spPr>
          <a:xfrm>
            <a:off x="1280160" y="4096512"/>
            <a:ext cx="6949440" cy="566928"/>
          </a:xfrm>
          <a:prstGeom prst="rect">
            <a:avLst/>
          </a:prstGeom>
          <a:noFill/>
        </p:spPr>
        <p:txBody>
          <a:bodyPr wrap="square" lIns="0" rIns="0" tIns="0" bIns="0" anchor="t"/>
          <a:lstStyle/>
          <a:p>
            <a:pPr algn="l">
              <a:spcAft>
                <a:spcPts val="200"/>
              </a:spcAft>
            </a:pPr>
            <a:r>
              <a:rPr sz="1250" b="1" i="0">
                <a:solidFill>
                  <a:srgbClr val="1D6E8A"/>
                </a:solidFill>
                <a:latin typeface="Consolas"/>
              </a:rPr>
              <a:t>ep_TimerFcn_RunTime</a:t>
            </a:r>
          </a:p>
          <a:p>
            <a:pPr algn="l">
              <a:lnSpc>
                <a:spcPct val="122000"/>
              </a:lnSpc>
            </a:pPr>
            <a:r>
              <a:rPr sz="1150" b="0" i="0">
                <a:solidFill>
                  <a:srgbClr val="566E7C"/>
                </a:solidFill>
                <a:latin typeface="Calibri"/>
              </a:rPr>
              <a:t>Poll the TrialComplete trigger; on completion append the trial to the crash-safe journal, pick the next trial, dispatch it.</a:t>
            </a:r>
          </a:p>
        </p:txBody>
      </p:sp>
      <p:sp>
        <p:nvSpPr>
          <p:cNvPr id="29" name="Rounded Rectangle 29"/>
          <p:cNvSpPr/>
          <p:nvPr/>
        </p:nvSpPr>
        <p:spPr>
          <a:xfrm>
            <a:off x="566928" y="4864608"/>
            <a:ext cx="7882127" cy="78638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Oval 30"/>
          <p:cNvSpPr/>
          <p:nvPr/>
        </p:nvSpPr>
        <p:spPr>
          <a:xfrm>
            <a:off x="786384" y="5079492"/>
            <a:ext cx="356616" cy="356616"/>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a:rPr>
              <a:t>3</a:t>
            </a:r>
          </a:p>
        </p:txBody>
      </p:sp>
      <p:sp>
        <p:nvSpPr>
          <p:cNvPr id="31" name="TextBox 31"/>
          <p:cNvSpPr txBox="1"/>
          <p:nvPr/>
        </p:nvSpPr>
        <p:spPr>
          <a:xfrm>
            <a:off x="1280160" y="4992624"/>
            <a:ext cx="6949440" cy="566928"/>
          </a:xfrm>
          <a:prstGeom prst="rect">
            <a:avLst/>
          </a:prstGeom>
          <a:noFill/>
        </p:spPr>
        <p:txBody>
          <a:bodyPr wrap="square" lIns="0" rIns="0" tIns="0" bIns="0" anchor="t"/>
          <a:lstStyle/>
          <a:p>
            <a:pPr algn="l">
              <a:spcAft>
                <a:spcPts val="200"/>
              </a:spcAft>
            </a:pPr>
            <a:r>
              <a:rPr sz="1250" b="1" i="0">
                <a:solidFill>
                  <a:srgbClr val="1D6E8A"/>
                </a:solidFill>
                <a:latin typeface="Consolas"/>
              </a:rPr>
              <a:t>ep_TimerFcn_Stop</a:t>
            </a:r>
          </a:p>
          <a:p>
            <a:pPr algn="l">
              <a:lnSpc>
                <a:spcPct val="122000"/>
              </a:lnSpc>
            </a:pPr>
            <a:r>
              <a:rPr sz="1150" b="0" i="0">
                <a:solidFill>
                  <a:srgbClr val="566E7C"/>
                </a:solidFill>
                <a:latin typeface="Calibri"/>
              </a:rPr>
              <a:t>Return interfaces to Idle, broadcast ModeChange, merge the journal back into the data file, save via the configured save function.</a:t>
            </a:r>
          </a:p>
        </p:txBody>
      </p:sp>
      <p:sp>
        <p:nvSpPr>
          <p:cNvPr id="32" name="Rounded Rectangle 32"/>
          <p:cNvSpPr/>
          <p:nvPr/>
        </p:nvSpPr>
        <p:spPr>
          <a:xfrm>
            <a:off x="566928" y="5760720"/>
            <a:ext cx="7882127" cy="78638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Oval 33"/>
          <p:cNvSpPr/>
          <p:nvPr/>
        </p:nvSpPr>
        <p:spPr>
          <a:xfrm>
            <a:off x="786384" y="5975604"/>
            <a:ext cx="356616" cy="356616"/>
          </a:xfrm>
          <a:prstGeom prst="ellipse">
            <a:avLst/>
          </a:prstGeom>
          <a:solidFill>
            <a:srgbClr val="B5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a:rPr>
              <a:t>4</a:t>
            </a:r>
          </a:p>
        </p:txBody>
      </p:sp>
      <p:sp>
        <p:nvSpPr>
          <p:cNvPr id="34" name="TextBox 34"/>
          <p:cNvSpPr txBox="1"/>
          <p:nvPr/>
        </p:nvSpPr>
        <p:spPr>
          <a:xfrm>
            <a:off x="1280160" y="5888736"/>
            <a:ext cx="6949440" cy="566928"/>
          </a:xfrm>
          <a:prstGeom prst="rect">
            <a:avLst/>
          </a:prstGeom>
          <a:noFill/>
        </p:spPr>
        <p:txBody>
          <a:bodyPr wrap="square" lIns="0" rIns="0" tIns="0" bIns="0" anchor="t"/>
          <a:lstStyle/>
          <a:p>
            <a:pPr algn="l">
              <a:spcAft>
                <a:spcPts val="200"/>
              </a:spcAft>
            </a:pPr>
            <a:r>
              <a:rPr sz="1250" b="1" i="0">
                <a:solidFill>
                  <a:srgbClr val="1D6E8A"/>
                </a:solidFill>
                <a:latin typeface="Consolas"/>
              </a:rPr>
              <a:t>ep_TimerFcn_Error</a:t>
            </a:r>
          </a:p>
          <a:p>
            <a:pPr algn="l">
              <a:lnSpc>
                <a:spcPct val="122000"/>
              </a:lnSpc>
            </a:pPr>
            <a:r>
              <a:rPr sz="1150" b="0" i="0">
                <a:solidFill>
                  <a:srgbClr val="566E7C"/>
                </a:solidFill>
                <a:latin typeface="Calibri"/>
              </a:rPr>
              <a:t>Handle timer errors while preserving collected data.</a:t>
            </a:r>
          </a:p>
        </p:txBody>
      </p:sp>
      <p:sp>
        <p:nvSpPr>
          <p:cNvPr id="35" name="Rounded Rectangle 35"/>
          <p:cNvSpPr/>
          <p:nvPr/>
        </p:nvSpPr>
        <p:spPr>
          <a:xfrm>
            <a:off x="8686800" y="3072384"/>
            <a:ext cx="2944368" cy="2999232"/>
          </a:xfrm>
          <a:prstGeom prst="roundRect">
            <a:avLst>
              <a:gd name="adj" fmla="val 8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6"/>
          <p:cNvSpPr txBox="1"/>
          <p:nvPr/>
        </p:nvSpPr>
        <p:spPr>
          <a:xfrm>
            <a:off x="8915400" y="3300984"/>
            <a:ext cx="2487168" cy="274320"/>
          </a:xfrm>
          <a:prstGeom prst="rect">
            <a:avLst/>
          </a:prstGeom>
          <a:noFill/>
        </p:spPr>
        <p:txBody>
          <a:bodyPr wrap="square" lIns="0" rIns="0" tIns="0" bIns="0" anchor="t"/>
          <a:lstStyle/>
          <a:p>
            <a:pPr algn="l"/>
            <a:r>
              <a:rPr sz="1100" b="1" i="0">
                <a:solidFill>
                  <a:srgbClr val="B5642A"/>
                </a:solidFill>
                <a:latin typeface="Arial"/>
              </a:rPr>
              <a:t>SWAPPABLE</a:t>
            </a:r>
          </a:p>
        </p:txBody>
      </p:sp>
      <p:sp>
        <p:nvSpPr>
          <p:cNvPr id="37" name="TextBox 37"/>
          <p:cNvSpPr txBox="1"/>
          <p:nvPr/>
        </p:nvSpPr>
        <p:spPr>
          <a:xfrm>
            <a:off x="8915400" y="3621024"/>
            <a:ext cx="2487168" cy="1669796"/>
          </a:xfrm>
          <a:prstGeom prst="rect">
            <a:avLst/>
          </a:prstGeom>
          <a:noFill/>
        </p:spPr>
        <p:txBody>
          <a:bodyPr wrap="square" lIns="0" rIns="0" tIns="0" bIns="0" anchor="t"/>
          <a:lstStyle/>
          <a:p>
            <a:pPr algn="l">
              <a:lnSpc>
                <a:spcPct val="132000"/>
              </a:lnSpc>
              <a:spcAft>
                <a:spcPts val="800"/>
              </a:spcAft>
            </a:pPr>
            <a:r>
              <a:rPr sz="1250" b="0" i="0">
                <a:solidFill>
                  <a:srgbClr val="0F1E27"/>
                </a:solidFill>
                <a:latin typeface="Calibri"/>
              </a:rPr>
              <a:t>The four callback names are session settings carried on the subject roster membership, so a paradigm substitutes its own trial loop without touching core runtime files. Left empty, they inherit ep_TimerFcn_*.</a:t>
            </a:r>
          </a:p>
          <a:p>
            <a:pPr algn="l">
              <a:lnSpc>
                <a:spcPct val="132000"/>
              </a:lnSpc>
            </a:pPr>
            <a:r>
              <a:rPr sz="1200" b="0" i="0">
                <a:solidFill>
                  <a:srgbClr val="566E7C"/>
                </a:solidFill>
                <a:latin typeface="Calibri"/>
              </a:rPr>
              <a:t>Hardware interfaces stay connected across reruns within one session.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DURABILITY</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A session that survives being killed</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Per-trial data is appended to a journal during the run and merged back into the data file at the end.</a:t>
            </a:r>
          </a:p>
        </p:txBody>
      </p:sp>
      <p:sp>
        <p:nvSpPr>
          <p:cNvPr id="5" name="Rounded Rectangle 5"/>
          <p:cNvSpPr/>
          <p:nvPr/>
        </p:nvSpPr>
        <p:spPr>
          <a:xfrm>
            <a:off x="566928" y="1737360"/>
            <a:ext cx="11057839" cy="1188720"/>
          </a:xfrm>
          <a:prstGeom prst="roundRect">
            <a:avLst>
              <a:gd name="adj" fmla="val 8000"/>
            </a:avLst>
          </a:prstGeom>
          <a:solidFill>
            <a:srgbClr val="0E28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6"/>
          <p:cNvSpPr txBox="1"/>
          <p:nvPr/>
        </p:nvSpPr>
        <p:spPr>
          <a:xfrm>
            <a:off x="841248" y="1965960"/>
            <a:ext cx="3200400" cy="640080"/>
          </a:xfrm>
          <a:prstGeom prst="rect">
            <a:avLst/>
          </a:prstGeom>
          <a:noFill/>
        </p:spPr>
        <p:txBody>
          <a:bodyPr wrap="square" lIns="0" rIns="0" tIns="0" bIns="0" anchor="t"/>
          <a:lstStyle/>
          <a:p>
            <a:pPr algn="l">
              <a:spcAft>
                <a:spcPts val="100"/>
              </a:spcAft>
            </a:pPr>
            <a:r>
              <a:rPr sz="2600" b="1" i="0">
                <a:solidFill>
                  <a:srgbClr val="8FD4EC"/>
                </a:solidFill>
                <a:latin typeface="Arial"/>
              </a:rPr>
              <a:t>~2 ms</a:t>
            </a:r>
          </a:p>
          <a:p>
            <a:pPr algn="l"/>
            <a:r>
              <a:rPr sz="1150" b="0" i="0">
                <a:solidFill>
                  <a:srgbClr val="9FB4BF"/>
                </a:solidFill>
                <a:latin typeface="Calibri"/>
              </a:rPr>
              <a:t>flat, every trial, epsych.TrialJournal</a:t>
            </a:r>
          </a:p>
        </p:txBody>
      </p:sp>
      <p:sp>
        <p:nvSpPr>
          <p:cNvPr id="7" name="TextBox 7"/>
          <p:cNvSpPr txBox="1"/>
          <p:nvPr/>
        </p:nvSpPr>
        <p:spPr>
          <a:xfrm>
            <a:off x="4572000" y="1965960"/>
            <a:ext cx="3200400" cy="640080"/>
          </a:xfrm>
          <a:prstGeom prst="rect">
            <a:avLst/>
          </a:prstGeom>
          <a:noFill/>
        </p:spPr>
        <p:txBody>
          <a:bodyPr wrap="square" lIns="0" rIns="0" tIns="0" bIns="0" anchor="t"/>
          <a:lstStyle/>
          <a:p>
            <a:pPr algn="l">
              <a:spcAft>
                <a:spcPts val="100"/>
              </a:spcAft>
            </a:pPr>
            <a:r>
              <a:rPr sz="2600" b="1" i="0">
                <a:solidFill>
                  <a:srgbClr val="E09353"/>
                </a:solidFill>
                <a:latin typeface="Arial"/>
              </a:rPr>
              <a:t>40 ms</a:t>
            </a:r>
          </a:p>
          <a:p>
            <a:pPr algn="l"/>
            <a:r>
              <a:rPr sz="1150" b="0" i="0">
                <a:solidFill>
                  <a:srgbClr val="9FB4BF"/>
                </a:solidFill>
                <a:latin typeface="Calibri"/>
              </a:rPr>
              <a:t>by trial 600, with save('-append')</a:t>
            </a:r>
          </a:p>
        </p:txBody>
      </p:sp>
      <p:sp>
        <p:nvSpPr>
          <p:cNvPr id="8" name="TextBox 8"/>
          <p:cNvSpPr txBox="1"/>
          <p:nvPr/>
        </p:nvSpPr>
        <p:spPr>
          <a:xfrm>
            <a:off x="8229600" y="2011680"/>
            <a:ext cx="3200400" cy="640080"/>
          </a:xfrm>
          <a:prstGeom prst="rect">
            <a:avLst/>
          </a:prstGeom>
          <a:noFill/>
        </p:spPr>
        <p:txBody>
          <a:bodyPr wrap="square" lIns="0" rIns="0" tIns="0" bIns="0" anchor="t"/>
          <a:lstStyle/>
          <a:p>
            <a:pPr algn="l">
              <a:lnSpc>
                <a:spcPct val="130000"/>
              </a:lnSpc>
            </a:pPr>
            <a:r>
              <a:rPr sz="1200" b="0" i="0">
                <a:solidFill>
                  <a:srgbClr val="B8CDD8"/>
                </a:solidFill>
                <a:latin typeface="Calibri"/>
              </a:rPr>
              <a:t>Durability is guarded by a hard-kill harness, not a throughput benchmark.</a:t>
            </a:r>
          </a:p>
        </p:txBody>
      </p:sp>
      <p:sp>
        <p:nvSpPr>
          <p:cNvPr id="9" name="Rounded Rectangle 9"/>
          <p:cNvSpPr/>
          <p:nvPr/>
        </p:nvSpPr>
        <p:spPr>
          <a:xfrm>
            <a:off x="566928" y="3200400"/>
            <a:ext cx="2487168" cy="1371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10"/>
          <p:cNvSpPr txBox="1"/>
          <p:nvPr/>
        </p:nvSpPr>
        <p:spPr>
          <a:xfrm>
            <a:off x="822960" y="3429000"/>
            <a:ext cx="1975104" cy="274320"/>
          </a:xfrm>
          <a:prstGeom prst="rect">
            <a:avLst/>
          </a:prstGeom>
          <a:noFill/>
        </p:spPr>
        <p:txBody>
          <a:bodyPr wrap="square" lIns="0" rIns="0" tIns="0" bIns="0" anchor="t"/>
          <a:lstStyle/>
          <a:p>
            <a:pPr algn="l"/>
            <a:r>
              <a:rPr sz="1400" b="1" i="0">
                <a:solidFill>
                  <a:srgbClr val="0F1E27"/>
                </a:solidFill>
                <a:latin typeface="Arial"/>
              </a:rPr>
              <a:t>During the run</a:t>
            </a:r>
          </a:p>
        </p:txBody>
      </p:sp>
      <p:sp>
        <p:nvSpPr>
          <p:cNvPr id="11" name="TextBox 11"/>
          <p:cNvSpPr txBox="1"/>
          <p:nvPr/>
        </p:nvSpPr>
        <p:spPr>
          <a:xfrm>
            <a:off x="822960" y="3794760"/>
            <a:ext cx="1975104" cy="640080"/>
          </a:xfrm>
          <a:prstGeom prst="rect">
            <a:avLst/>
          </a:prstGeom>
          <a:noFill/>
        </p:spPr>
        <p:txBody>
          <a:bodyPr wrap="square" lIns="0" rIns="0" tIns="0" bIns="0" anchor="t"/>
          <a:lstStyle/>
          <a:p>
            <a:pPr algn="l">
              <a:lnSpc>
                <a:spcPct val="130000"/>
              </a:lnSpc>
            </a:pPr>
            <a:r>
              <a:rPr sz="1100" b="0" i="0">
                <a:solidFill>
                  <a:srgbClr val="566E7C"/>
                </a:solidFill>
                <a:latin typeface="Calibri"/>
              </a:rPr>
              <a:t>each completed trial is appended to RUNTIME_DATA_x.epj</a:t>
            </a:r>
          </a:p>
        </p:txBody>
      </p:sp>
      <p:sp>
        <p:nvSpPr>
          <p:cNvPr id="12" name="TextBox 12"/>
          <p:cNvSpPr txBox="1"/>
          <p:nvPr/>
        </p:nvSpPr>
        <p:spPr>
          <a:xfrm>
            <a:off x="3054096" y="3749040"/>
            <a:ext cx="374904" cy="310896"/>
          </a:xfrm>
          <a:prstGeom prst="rect">
            <a:avLst/>
          </a:prstGeom>
          <a:noFill/>
        </p:spPr>
        <p:txBody>
          <a:bodyPr wrap="square" lIns="0" rIns="0" tIns="0" bIns="0" anchor="t"/>
          <a:lstStyle/>
          <a:p>
            <a:pPr algn="ctr"/>
            <a:r>
              <a:rPr sz="1900" b="1" i="0">
                <a:solidFill>
                  <a:srgbClr val="1D6E8A"/>
                </a:solidFill>
                <a:latin typeface="Arial"/>
              </a:rPr>
              <a:t>→</a:t>
            </a:r>
          </a:p>
        </p:txBody>
      </p:sp>
      <p:sp>
        <p:nvSpPr>
          <p:cNvPr id="13" name="Rounded Rectangle 13"/>
          <p:cNvSpPr/>
          <p:nvPr/>
        </p:nvSpPr>
        <p:spPr>
          <a:xfrm>
            <a:off x="3429000" y="3200400"/>
            <a:ext cx="2487168" cy="1371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4"/>
          <p:cNvSpPr txBox="1"/>
          <p:nvPr/>
        </p:nvSpPr>
        <p:spPr>
          <a:xfrm>
            <a:off x="3685032" y="3429000"/>
            <a:ext cx="1975104" cy="274320"/>
          </a:xfrm>
          <a:prstGeom prst="rect">
            <a:avLst/>
          </a:prstGeom>
          <a:noFill/>
        </p:spPr>
        <p:txBody>
          <a:bodyPr wrap="square" lIns="0" rIns="0" tIns="0" bIns="0" anchor="t"/>
          <a:lstStyle/>
          <a:p>
            <a:pPr algn="l"/>
            <a:r>
              <a:rPr sz="1400" b="1" i="0">
                <a:solidFill>
                  <a:srgbClr val="0F1E27"/>
                </a:solidFill>
                <a:latin typeface="Arial"/>
              </a:rPr>
              <a:t>At the stop</a:t>
            </a:r>
          </a:p>
        </p:txBody>
      </p:sp>
      <p:sp>
        <p:nvSpPr>
          <p:cNvPr id="15" name="TextBox 15"/>
          <p:cNvSpPr txBox="1"/>
          <p:nvPr/>
        </p:nvSpPr>
        <p:spPr>
          <a:xfrm>
            <a:off x="3685032" y="3794760"/>
            <a:ext cx="1975104" cy="640080"/>
          </a:xfrm>
          <a:prstGeom prst="rect">
            <a:avLst/>
          </a:prstGeom>
          <a:noFill/>
        </p:spPr>
        <p:txBody>
          <a:bodyPr wrap="square" lIns="0" rIns="0" tIns="0" bIns="0" anchor="t"/>
          <a:lstStyle/>
          <a:p>
            <a:pPr algn="l">
              <a:lnSpc>
                <a:spcPct val="130000"/>
              </a:lnSpc>
            </a:pPr>
            <a:r>
              <a:rPr sz="1100" b="0" i="0">
                <a:solidFill>
                  <a:srgbClr val="566E7C"/>
                </a:solidFill>
                <a:latin typeface="Calibri"/>
              </a:rPr>
              <a:t>ep_TimerFcn_Stop merges the journal into the seed .mat</a:t>
            </a:r>
          </a:p>
        </p:txBody>
      </p:sp>
      <p:sp>
        <p:nvSpPr>
          <p:cNvPr id="16" name="TextBox 16"/>
          <p:cNvSpPr txBox="1"/>
          <p:nvPr/>
        </p:nvSpPr>
        <p:spPr>
          <a:xfrm>
            <a:off x="5916168" y="3749040"/>
            <a:ext cx="374904" cy="310896"/>
          </a:xfrm>
          <a:prstGeom prst="rect">
            <a:avLst/>
          </a:prstGeom>
          <a:noFill/>
        </p:spPr>
        <p:txBody>
          <a:bodyPr wrap="square" lIns="0" rIns="0" tIns="0" bIns="0" anchor="t"/>
          <a:lstStyle/>
          <a:p>
            <a:pPr algn="ctr"/>
            <a:r>
              <a:rPr sz="1900" b="1" i="0">
                <a:solidFill>
                  <a:srgbClr val="1D6E8A"/>
                </a:solidFill>
                <a:latin typeface="Arial"/>
              </a:rPr>
              <a:t>→</a:t>
            </a:r>
          </a:p>
        </p:txBody>
      </p:sp>
      <p:sp>
        <p:nvSpPr>
          <p:cNvPr id="17" name="Rounded Rectangle 17"/>
          <p:cNvSpPr/>
          <p:nvPr/>
        </p:nvSpPr>
        <p:spPr>
          <a:xfrm>
            <a:off x="6291072" y="3200400"/>
            <a:ext cx="2487168" cy="1371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8"/>
          <p:cNvSpPr txBox="1"/>
          <p:nvPr/>
        </p:nvSpPr>
        <p:spPr>
          <a:xfrm>
            <a:off x="6547104" y="3429000"/>
            <a:ext cx="1975104" cy="274320"/>
          </a:xfrm>
          <a:prstGeom prst="rect">
            <a:avLst/>
          </a:prstGeom>
          <a:noFill/>
        </p:spPr>
        <p:txBody>
          <a:bodyPr wrap="square" lIns="0" rIns="0" tIns="0" bIns="0" anchor="t"/>
          <a:lstStyle/>
          <a:p>
            <a:pPr algn="l"/>
            <a:r>
              <a:rPr sz="1400" b="1" i="0">
                <a:solidFill>
                  <a:srgbClr val="0F1E27"/>
                </a:solidFill>
                <a:latin typeface="Arial"/>
              </a:rPr>
              <a:t>The saved file</a:t>
            </a:r>
          </a:p>
        </p:txBody>
      </p:sp>
      <p:sp>
        <p:nvSpPr>
          <p:cNvPr id="19" name="TextBox 19"/>
          <p:cNvSpPr txBox="1"/>
          <p:nvPr/>
        </p:nvSpPr>
        <p:spPr>
          <a:xfrm>
            <a:off x="6547104" y="3794760"/>
            <a:ext cx="1975104" cy="640080"/>
          </a:xfrm>
          <a:prstGeom prst="rect">
            <a:avLst/>
          </a:prstGeom>
          <a:noFill/>
        </p:spPr>
        <p:txBody>
          <a:bodyPr wrap="square" lIns="0" rIns="0" tIns="0" bIns="0" anchor="t"/>
          <a:lstStyle/>
          <a:p>
            <a:pPr algn="l">
              <a:lnSpc>
                <a:spcPct val="130000"/>
              </a:lnSpc>
            </a:pPr>
            <a:r>
              <a:rPr sz="1100" b="0" i="0">
                <a:solidFill>
                  <a:srgbClr val="566E7C"/>
                </a:solidFill>
                <a:latin typeface="Calibri"/>
              </a:rPr>
              <a:t>keeps its info + data_NNNN layout, so no save function changes</a:t>
            </a:r>
          </a:p>
        </p:txBody>
      </p:sp>
      <p:sp>
        <p:nvSpPr>
          <p:cNvPr id="20" name="TextBox 20"/>
          <p:cNvSpPr txBox="1"/>
          <p:nvPr/>
        </p:nvSpPr>
        <p:spPr>
          <a:xfrm>
            <a:off x="8778240" y="3749040"/>
            <a:ext cx="374904" cy="310896"/>
          </a:xfrm>
          <a:prstGeom prst="rect">
            <a:avLst/>
          </a:prstGeom>
          <a:noFill/>
        </p:spPr>
        <p:txBody>
          <a:bodyPr wrap="square" lIns="0" rIns="0" tIns="0" bIns="0" anchor="t"/>
          <a:lstStyle/>
          <a:p>
            <a:pPr algn="ctr"/>
            <a:r>
              <a:rPr sz="1900" b="1" i="0">
                <a:solidFill>
                  <a:srgbClr val="1D6E8A"/>
                </a:solidFill>
                <a:latin typeface="Arial"/>
              </a:rPr>
              <a:t>→</a:t>
            </a:r>
          </a:p>
        </p:txBody>
      </p:sp>
      <p:sp>
        <p:nvSpPr>
          <p:cNvPr id="21" name="Rounded Rectangle 21"/>
          <p:cNvSpPr/>
          <p:nvPr/>
        </p:nvSpPr>
        <p:spPr>
          <a:xfrm>
            <a:off x="9153144" y="3200400"/>
            <a:ext cx="2487168" cy="1371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2"/>
          <p:cNvSpPr txBox="1"/>
          <p:nvPr/>
        </p:nvSpPr>
        <p:spPr>
          <a:xfrm>
            <a:off x="9409176" y="3429000"/>
            <a:ext cx="1975104" cy="274320"/>
          </a:xfrm>
          <a:prstGeom prst="rect">
            <a:avLst/>
          </a:prstGeom>
          <a:noFill/>
        </p:spPr>
        <p:txBody>
          <a:bodyPr wrap="square" lIns="0" rIns="0" tIns="0" bIns="0" anchor="t"/>
          <a:lstStyle/>
          <a:p>
            <a:pPr algn="l"/>
            <a:r>
              <a:rPr sz="1400" b="1" i="0">
                <a:solidFill>
                  <a:srgbClr val="0F1E27"/>
                </a:solidFill>
                <a:latin typeface="Arial"/>
              </a:rPr>
              <a:t>After a crash</a:t>
            </a:r>
          </a:p>
        </p:txBody>
      </p:sp>
      <p:sp>
        <p:nvSpPr>
          <p:cNvPr id="23" name="TextBox 23"/>
          <p:cNvSpPr txBox="1"/>
          <p:nvPr/>
        </p:nvSpPr>
        <p:spPr>
          <a:xfrm>
            <a:off x="9409176" y="3794760"/>
            <a:ext cx="1975104" cy="640080"/>
          </a:xfrm>
          <a:prstGeom prst="rect">
            <a:avLst/>
          </a:prstGeom>
          <a:noFill/>
        </p:spPr>
        <p:txBody>
          <a:bodyPr wrap="square" lIns="0" rIns="0" tIns="0" bIns="0" anchor="t"/>
          <a:lstStyle/>
          <a:p>
            <a:pPr algn="l">
              <a:lnSpc>
                <a:spcPct val="130000"/>
              </a:lnSpc>
            </a:pPr>
            <a:r>
              <a:rPr sz="1100" b="0" i="0">
                <a:solidFill>
                  <a:srgbClr val="566E7C"/>
                </a:solidFill>
                <a:latin typeface="Calibri"/>
              </a:rPr>
              <a:t>TrialJournal.recover rebuilds the .mat from the journal</a:t>
            </a:r>
          </a:p>
        </p:txBody>
      </p:sp>
      <p:sp>
        <p:nvSpPr>
          <p:cNvPr id="24" name="Rounded Rectangle 24"/>
          <p:cNvSpPr/>
          <p:nvPr/>
        </p:nvSpPr>
        <p:spPr>
          <a:xfrm>
            <a:off x="566928" y="4754880"/>
            <a:ext cx="5356419" cy="1747520"/>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5"/>
          <p:cNvSpPr txBox="1"/>
          <p:nvPr/>
        </p:nvSpPr>
        <p:spPr>
          <a:xfrm>
            <a:off x="795528" y="4983480"/>
            <a:ext cx="4899219" cy="274320"/>
          </a:xfrm>
          <a:prstGeom prst="rect">
            <a:avLst/>
          </a:prstGeom>
          <a:noFill/>
        </p:spPr>
        <p:txBody>
          <a:bodyPr wrap="square" lIns="0" rIns="0" tIns="0" bIns="0" anchor="t"/>
          <a:lstStyle/>
          <a:p>
            <a:pPr algn="l"/>
            <a:r>
              <a:rPr sz="1100" b="1" i="0">
                <a:solidFill>
                  <a:srgbClr val="1D6E8A"/>
                </a:solidFill>
                <a:latin typeface="Arial"/>
              </a:rPr>
              <a:t>THE SNAPSHOT</a:t>
            </a:r>
          </a:p>
        </p:txBody>
      </p:sp>
      <p:sp>
        <p:nvSpPr>
          <p:cNvPr id="26" name="TextBox 26"/>
          <p:cNvSpPr txBox="1"/>
          <p:nvPr/>
        </p:nvSpPr>
        <p:spPr>
          <a:xfrm>
            <a:off x="795528" y="5303520"/>
            <a:ext cx="4899219" cy="971550"/>
          </a:xfrm>
          <a:prstGeom prst="rect">
            <a:avLst/>
          </a:prstGeom>
          <a:noFill/>
        </p:spPr>
        <p:txBody>
          <a:bodyPr wrap="square" lIns="0" rIns="0" tIns="0" bIns="0" anchor="t"/>
          <a:lstStyle/>
          <a:p>
            <a:pPr algn="l">
              <a:lnSpc>
                <a:spcPct val="130000"/>
              </a:lnSpc>
            </a:pPr>
            <a:r>
              <a:rPr sz="1150" b="1" i="0">
                <a:solidFill>
                  <a:srgbClr val="153A49"/>
                </a:solidFill>
                <a:latin typeface="Consolas"/>
              </a:rPr>
              <a:t>epsych.SessionSnapshot.forSubject(RUNTIME,i)</a:t>
            </a:r>
            <a:r>
              <a:rPr sz="1250" b="0" i="0">
                <a:solidFill>
                  <a:srgbClr val="0F1E27"/>
                </a:solidFill>
                <a:latin typeface="Calibri"/>
              </a:rPr>
              <a:t> is the one line a saving function needs to make its file reviewable later. It keeps every buffer's metadata but blanks the contents — the difference between a 67 kB snapshot and a 16 MB one in every saved file.</a:t>
            </a:r>
          </a:p>
        </p:txBody>
      </p:sp>
      <p:sp>
        <p:nvSpPr>
          <p:cNvPr id="27" name="Rounded Rectangle 27"/>
          <p:cNvSpPr/>
          <p:nvPr/>
        </p:nvSpPr>
        <p:spPr>
          <a:xfrm>
            <a:off x="6268347" y="4754880"/>
            <a:ext cx="5356420" cy="1747520"/>
          </a:xfrm>
          <a:prstGeom prst="roundRect">
            <a:avLst>
              <a:gd name="adj" fmla="val 9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TextBox 28"/>
          <p:cNvSpPr txBox="1"/>
          <p:nvPr/>
        </p:nvSpPr>
        <p:spPr>
          <a:xfrm>
            <a:off x="6496947" y="4983480"/>
            <a:ext cx="4899220" cy="274320"/>
          </a:xfrm>
          <a:prstGeom prst="rect">
            <a:avLst/>
          </a:prstGeom>
          <a:noFill/>
        </p:spPr>
        <p:txBody>
          <a:bodyPr wrap="square" lIns="0" rIns="0" tIns="0" bIns="0" anchor="t"/>
          <a:lstStyle/>
          <a:p>
            <a:pPr algn="l"/>
            <a:r>
              <a:rPr sz="1100" b="1" i="0">
                <a:solidFill>
                  <a:srgbClr val="B5642A"/>
                </a:solidFill>
                <a:latin typeface="Arial"/>
              </a:rPr>
              <a:t>THE NOTES</a:t>
            </a:r>
          </a:p>
        </p:txBody>
      </p:sp>
      <p:sp>
        <p:nvSpPr>
          <p:cNvPr id="29" name="TextBox 29"/>
          <p:cNvSpPr txBox="1"/>
          <p:nvPr/>
        </p:nvSpPr>
        <p:spPr>
          <a:xfrm>
            <a:off x="6496947" y="5303520"/>
            <a:ext cx="4899220" cy="971550"/>
          </a:xfrm>
          <a:prstGeom prst="rect">
            <a:avLst/>
          </a:prstGeom>
          <a:noFill/>
        </p:spPr>
        <p:txBody>
          <a:bodyPr wrap="square" lIns="0" rIns="0" tIns="0" bIns="0" anchor="t"/>
          <a:lstStyle/>
          <a:p>
            <a:pPr algn="l">
              <a:lnSpc>
                <a:spcPct val="130000"/>
              </a:lnSpc>
            </a:pPr>
            <a:r>
              <a:rPr sz="1150" b="1" i="0">
                <a:solidFill>
                  <a:srgbClr val="B5642A"/>
                </a:solidFill>
                <a:latin typeface="Consolas"/>
              </a:rPr>
              <a:t>epsych.SessionNotes</a:t>
            </a:r>
            <a:r>
              <a:rPr sz="1250" b="0" i="0">
                <a:solidFill>
                  <a:srgbClr val="0F1E27"/>
                </a:solidFill>
                <a:latin typeface="Calibri"/>
              </a:rPr>
              <a:t> stamps every note with the completed trial count, not the wall clock, because the trial index is the axis the data is already on. Each commit rewrites the whole log into the journal, so a crash leaves the newest complete log.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COMMUNICATION</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Everything reacts to events</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epsych.EventHub is the broadcaster on Runtime.EVENTS. GUIs and analysis objects subscribe rather than poll.</a:t>
            </a:r>
          </a:p>
        </p:txBody>
      </p:sp>
      <p:sp>
        <p:nvSpPr>
          <p:cNvPr id="5" name="Rounded Rectangle 5"/>
          <p:cNvSpPr/>
          <p:nvPr/>
        </p:nvSpPr>
        <p:spPr>
          <a:xfrm>
            <a:off x="566928" y="2084831"/>
            <a:ext cx="3538728" cy="157276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Oval 6"/>
          <p:cNvSpPr/>
          <p:nvPr/>
        </p:nvSpPr>
        <p:spPr>
          <a:xfrm>
            <a:off x="822960" y="2340864"/>
            <a:ext cx="274320" cy="274320"/>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7"/>
          <p:cNvSpPr txBox="1"/>
          <p:nvPr/>
        </p:nvSpPr>
        <p:spPr>
          <a:xfrm>
            <a:off x="1225296" y="2340864"/>
            <a:ext cx="2651760" cy="310896"/>
          </a:xfrm>
          <a:prstGeom prst="rect">
            <a:avLst/>
          </a:prstGeom>
          <a:noFill/>
        </p:spPr>
        <p:txBody>
          <a:bodyPr wrap="square" lIns="0" rIns="0" tIns="0" bIns="0" anchor="t"/>
          <a:lstStyle/>
          <a:p>
            <a:pPr algn="l"/>
            <a:r>
              <a:rPr sz="1600" b="1" i="0">
                <a:solidFill>
                  <a:srgbClr val="0F1E27"/>
                </a:solidFill>
                <a:latin typeface="Arial"/>
              </a:rPr>
              <a:t>NewTrial</a:t>
            </a:r>
          </a:p>
        </p:txBody>
      </p:sp>
      <p:sp>
        <p:nvSpPr>
          <p:cNvPr id="8" name="TextBox 8"/>
          <p:cNvSpPr txBox="1"/>
          <p:nvPr/>
        </p:nvSpPr>
        <p:spPr>
          <a:xfrm>
            <a:off x="822960" y="2816352"/>
            <a:ext cx="3017520" cy="777240"/>
          </a:xfrm>
          <a:prstGeom prst="rect">
            <a:avLst/>
          </a:prstGeom>
          <a:noFill/>
        </p:spPr>
        <p:txBody>
          <a:bodyPr wrap="square" lIns="0" rIns="0" tIns="0" bIns="0" anchor="t"/>
          <a:lstStyle/>
          <a:p>
            <a:pPr algn="l">
              <a:lnSpc>
                <a:spcPct val="128000"/>
              </a:lnSpc>
              <a:spcAft>
                <a:spcPts val="700"/>
              </a:spcAft>
            </a:pPr>
            <a:r>
              <a:rPr sz="1200" b="0" i="0">
                <a:solidFill>
                  <a:srgbClr val="566E7C"/>
                </a:solidFill>
                <a:latin typeface="Calibri"/>
              </a:rPr>
              <a:t>A new trial begins and parameters are written to hardware.</a:t>
            </a:r>
          </a:p>
          <a:p>
            <a:pPr algn="l"/>
            <a:r>
              <a:rPr sz="1000" b="0" i="0">
                <a:solidFill>
                  <a:srgbClr val="9FB4BF"/>
                </a:solidFill>
                <a:latin typeface="Calibri"/>
              </a:rPr>
              <a:t>payload  </a:t>
            </a:r>
            <a:r>
              <a:rPr sz="1050" b="0" i="0">
                <a:solidFill>
                  <a:srgbClr val="1D6E8A"/>
                </a:solidFill>
                <a:latin typeface="Consolas"/>
              </a:rPr>
              <a:t>epsych.TrialsData</a:t>
            </a:r>
          </a:p>
        </p:txBody>
      </p:sp>
      <p:sp>
        <p:nvSpPr>
          <p:cNvPr id="9" name="Rounded Rectangle 9"/>
          <p:cNvSpPr/>
          <p:nvPr/>
        </p:nvSpPr>
        <p:spPr>
          <a:xfrm>
            <a:off x="4327128" y="2084831"/>
            <a:ext cx="3538728" cy="157276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Oval 10"/>
          <p:cNvSpPr/>
          <p:nvPr/>
        </p:nvSpPr>
        <p:spPr>
          <a:xfrm>
            <a:off x="4583160" y="2340864"/>
            <a:ext cx="274320" cy="274320"/>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1"/>
          <p:cNvSpPr txBox="1"/>
          <p:nvPr/>
        </p:nvSpPr>
        <p:spPr>
          <a:xfrm>
            <a:off x="4985496" y="2340864"/>
            <a:ext cx="2651760" cy="310896"/>
          </a:xfrm>
          <a:prstGeom prst="rect">
            <a:avLst/>
          </a:prstGeom>
          <a:noFill/>
        </p:spPr>
        <p:txBody>
          <a:bodyPr wrap="square" lIns="0" rIns="0" tIns="0" bIns="0" anchor="t"/>
          <a:lstStyle/>
          <a:p>
            <a:pPr algn="l"/>
            <a:r>
              <a:rPr sz="1600" b="1" i="0">
                <a:solidFill>
                  <a:srgbClr val="0F1E27"/>
                </a:solidFill>
                <a:latin typeface="Arial"/>
              </a:rPr>
              <a:t>NewData</a:t>
            </a:r>
          </a:p>
        </p:txBody>
      </p:sp>
      <p:sp>
        <p:nvSpPr>
          <p:cNvPr id="12" name="TextBox 12"/>
          <p:cNvSpPr txBox="1"/>
          <p:nvPr/>
        </p:nvSpPr>
        <p:spPr>
          <a:xfrm>
            <a:off x="4583160" y="2816352"/>
            <a:ext cx="3017520" cy="777240"/>
          </a:xfrm>
          <a:prstGeom prst="rect">
            <a:avLst/>
          </a:prstGeom>
          <a:noFill/>
        </p:spPr>
        <p:txBody>
          <a:bodyPr wrap="square" lIns="0" rIns="0" tIns="0" bIns="0" anchor="t"/>
          <a:lstStyle/>
          <a:p>
            <a:pPr algn="l">
              <a:lnSpc>
                <a:spcPct val="128000"/>
              </a:lnSpc>
              <a:spcAft>
                <a:spcPts val="700"/>
              </a:spcAft>
            </a:pPr>
            <a:r>
              <a:rPr sz="1200" b="0" i="0">
                <a:solidFill>
                  <a:srgbClr val="566E7C"/>
                </a:solidFill>
                <a:latin typeface="Calibri"/>
              </a:rPr>
              <a:t>A trial completed; listeners fold in the result.</a:t>
            </a:r>
          </a:p>
          <a:p>
            <a:pPr algn="l"/>
            <a:r>
              <a:rPr sz="1000" b="0" i="0">
                <a:solidFill>
                  <a:srgbClr val="9FB4BF"/>
                </a:solidFill>
                <a:latin typeface="Calibri"/>
              </a:rPr>
              <a:t>payload  </a:t>
            </a:r>
            <a:r>
              <a:rPr sz="1050" b="0" i="0">
                <a:solidFill>
                  <a:srgbClr val="1D6E8A"/>
                </a:solidFill>
                <a:latin typeface="Consolas"/>
              </a:rPr>
              <a:t>epsych.TrialsData</a:t>
            </a:r>
          </a:p>
        </p:txBody>
      </p:sp>
      <p:sp>
        <p:nvSpPr>
          <p:cNvPr id="13" name="Rounded Rectangle 13"/>
          <p:cNvSpPr/>
          <p:nvPr/>
        </p:nvSpPr>
        <p:spPr>
          <a:xfrm>
            <a:off x="8087328" y="2084831"/>
            <a:ext cx="3538728" cy="157276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Oval 14"/>
          <p:cNvSpPr/>
          <p:nvPr/>
        </p:nvSpPr>
        <p:spPr>
          <a:xfrm>
            <a:off x="8343360" y="2340864"/>
            <a:ext cx="274320" cy="274320"/>
          </a:xfrm>
          <a:prstGeom prst="ellipse">
            <a:avLst/>
          </a:prstGeom>
          <a:solidFill>
            <a:srgbClr val="B5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5"/>
          <p:cNvSpPr txBox="1"/>
          <p:nvPr/>
        </p:nvSpPr>
        <p:spPr>
          <a:xfrm>
            <a:off x="8745696" y="2340864"/>
            <a:ext cx="2651760" cy="310896"/>
          </a:xfrm>
          <a:prstGeom prst="rect">
            <a:avLst/>
          </a:prstGeom>
          <a:noFill/>
        </p:spPr>
        <p:txBody>
          <a:bodyPr wrap="square" lIns="0" rIns="0" tIns="0" bIns="0" anchor="t"/>
          <a:lstStyle/>
          <a:p>
            <a:pPr algn="l"/>
            <a:r>
              <a:rPr sz="1600" b="1" i="0">
                <a:solidFill>
                  <a:srgbClr val="0F1E27"/>
                </a:solidFill>
                <a:latin typeface="Arial"/>
              </a:rPr>
              <a:t>ModeChange</a:t>
            </a:r>
          </a:p>
        </p:txBody>
      </p:sp>
      <p:sp>
        <p:nvSpPr>
          <p:cNvPr id="16" name="TextBox 16"/>
          <p:cNvSpPr txBox="1"/>
          <p:nvPr/>
        </p:nvSpPr>
        <p:spPr>
          <a:xfrm>
            <a:off x="8343360" y="2816352"/>
            <a:ext cx="3017520" cy="777240"/>
          </a:xfrm>
          <a:prstGeom prst="rect">
            <a:avLst/>
          </a:prstGeom>
          <a:noFill/>
        </p:spPr>
        <p:txBody>
          <a:bodyPr wrap="square" lIns="0" rIns="0" tIns="0" bIns="0" anchor="t"/>
          <a:lstStyle/>
          <a:p>
            <a:pPr algn="l">
              <a:lnSpc>
                <a:spcPct val="128000"/>
              </a:lnSpc>
              <a:spcAft>
                <a:spcPts val="700"/>
              </a:spcAft>
            </a:pPr>
            <a:r>
              <a:rPr sz="1200" b="0" i="0">
                <a:solidFill>
                  <a:srgbClr val="566E7C"/>
                </a:solidFill>
                <a:latin typeface="Calibri"/>
              </a:rPr>
              <a:t>The session changed mode — run, pause, standby, stop.</a:t>
            </a:r>
          </a:p>
          <a:p>
            <a:pPr algn="l"/>
            <a:r>
              <a:rPr sz="1000" b="0" i="0">
                <a:solidFill>
                  <a:srgbClr val="9FB4BF"/>
                </a:solidFill>
                <a:latin typeface="Calibri"/>
              </a:rPr>
              <a:t>payload  </a:t>
            </a:r>
            <a:r>
              <a:rPr sz="1050" b="0" i="0">
                <a:solidFill>
                  <a:srgbClr val="B5642A"/>
                </a:solidFill>
                <a:latin typeface="Consolas"/>
              </a:rPr>
              <a:t>epsych.eventModeChange</a:t>
            </a:r>
          </a:p>
        </p:txBody>
      </p:sp>
      <p:sp>
        <p:nvSpPr>
          <p:cNvPr id="17" name="TextBox 17"/>
          <p:cNvSpPr txBox="1"/>
          <p:nvPr/>
        </p:nvSpPr>
        <p:spPr>
          <a:xfrm>
            <a:off x="566928" y="4114800"/>
            <a:ext cx="7772400" cy="274320"/>
          </a:xfrm>
          <a:prstGeom prst="rect">
            <a:avLst/>
          </a:prstGeom>
          <a:noFill/>
        </p:spPr>
        <p:txBody>
          <a:bodyPr wrap="square" lIns="0" rIns="0" tIns="0" bIns="0" anchor="t"/>
          <a:lstStyle/>
          <a:p>
            <a:pPr algn="l"/>
            <a:r>
              <a:rPr sz="1100" b="1" i="0">
                <a:solidFill>
                  <a:srgbClr val="B5642A"/>
                </a:solidFill>
                <a:latin typeface="Arial"/>
              </a:rPr>
              <a:t>WHO IS LISTENING</a:t>
            </a:r>
          </a:p>
        </p:txBody>
      </p:sp>
      <p:sp>
        <p:nvSpPr>
          <p:cNvPr id="18" name="Oval 18"/>
          <p:cNvSpPr/>
          <p:nvPr/>
        </p:nvSpPr>
        <p:spPr>
          <a:xfrm>
            <a:off x="566928" y="4526565"/>
            <a:ext cx="77724" cy="7772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9"/>
          <p:cNvSpPr txBox="1"/>
          <p:nvPr/>
        </p:nvSpPr>
        <p:spPr>
          <a:xfrm>
            <a:off x="804672" y="4462272"/>
            <a:ext cx="7534656" cy="204724"/>
          </a:xfrm>
          <a:prstGeom prst="rect">
            <a:avLst/>
          </a:prstGeom>
          <a:noFill/>
        </p:spPr>
        <p:txBody>
          <a:bodyPr wrap="square" lIns="0" rIns="0" tIns="0" bIns="0" anchor="t"/>
          <a:lstStyle/>
          <a:p>
            <a:pPr algn="l">
              <a:lnSpc>
                <a:spcPct val="124000"/>
              </a:lnSpc>
            </a:pPr>
            <a:r>
              <a:rPr sz="1300" b="1" i="0">
                <a:solidFill>
                  <a:srgbClr val="0F1E27"/>
                </a:solidFill>
                <a:latin typeface="Calibri"/>
              </a:rPr>
              <a:t>psychophysics.Psych subclasses — </a:t>
            </a:r>
            <a:r>
              <a:rPr sz="1300" b="0" i="0">
                <a:solidFill>
                  <a:srgbClr val="0F1E27"/>
                </a:solidFill>
                <a:latin typeface="Calibri"/>
              </a:rPr>
              <a:t>constructed with a Runtime, they update results trial by trial</a:t>
            </a:r>
          </a:p>
        </p:txBody>
      </p:sp>
      <p:sp>
        <p:nvSpPr>
          <p:cNvPr id="20" name="Oval 20"/>
          <p:cNvSpPr/>
          <p:nvPr/>
        </p:nvSpPr>
        <p:spPr>
          <a:xfrm>
            <a:off x="566928" y="4909083"/>
            <a:ext cx="77724" cy="7772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1"/>
          <p:cNvSpPr txBox="1"/>
          <p:nvPr/>
        </p:nvSpPr>
        <p:spPr>
          <a:xfrm>
            <a:off x="804672" y="4844790"/>
            <a:ext cx="7534656" cy="204724"/>
          </a:xfrm>
          <a:prstGeom prst="rect">
            <a:avLst/>
          </a:prstGeom>
          <a:noFill/>
        </p:spPr>
        <p:txBody>
          <a:bodyPr wrap="square" lIns="0" rIns="0" tIns="0" bIns="0" anchor="t"/>
          <a:lstStyle/>
          <a:p>
            <a:pPr algn="l">
              <a:lnSpc>
                <a:spcPct val="124000"/>
              </a:lnSpc>
            </a:pPr>
            <a:r>
              <a:rPr sz="1300" b="1" i="0">
                <a:solidFill>
                  <a:srgbClr val="0F1E27"/>
                </a:solidFill>
                <a:latin typeface="Calibri"/>
              </a:rPr>
              <a:t>gui.OnlinePlot, gui.SessionPerformance, gui.PsychPlot, gui.History — </a:t>
            </a:r>
            <a:r>
              <a:rPr sz="1300" b="0" i="0">
                <a:solidFill>
                  <a:srgbClr val="0F1E27"/>
                </a:solidFill>
                <a:latin typeface="Calibri"/>
              </a:rPr>
              <a:t>real-time visualization</a:t>
            </a:r>
          </a:p>
        </p:txBody>
      </p:sp>
      <p:sp>
        <p:nvSpPr>
          <p:cNvPr id="22" name="Oval 22"/>
          <p:cNvSpPr/>
          <p:nvPr/>
        </p:nvSpPr>
        <p:spPr>
          <a:xfrm>
            <a:off x="566928" y="5291601"/>
            <a:ext cx="77724" cy="7772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TextBox 23"/>
          <p:cNvSpPr txBox="1"/>
          <p:nvPr/>
        </p:nvSpPr>
        <p:spPr>
          <a:xfrm>
            <a:off x="804672" y="5227308"/>
            <a:ext cx="7534656" cy="409448"/>
          </a:xfrm>
          <a:prstGeom prst="rect">
            <a:avLst/>
          </a:prstGeom>
          <a:noFill/>
        </p:spPr>
        <p:txBody>
          <a:bodyPr wrap="square" lIns="0" rIns="0" tIns="0" bIns="0" anchor="t"/>
          <a:lstStyle/>
          <a:p>
            <a:pPr algn="l">
              <a:lnSpc>
                <a:spcPct val="124000"/>
              </a:lnSpc>
            </a:pPr>
            <a:r>
              <a:rPr sz="1300" b="1" i="0">
                <a:solidFill>
                  <a:srgbClr val="0F1E27"/>
                </a:solidFill>
                <a:latin typeface="Calibri"/>
              </a:rPr>
              <a:t>gui.BehaviorGUI subclasses — </a:t>
            </a:r>
            <a:r>
              <a:rPr sz="1300" b="0" i="0">
                <a:solidFill>
                  <a:srgbClr val="0F1E27"/>
                </a:solidFill>
                <a:latin typeface="Calibri"/>
              </a:rPr>
              <a:t>onNewTrial / onNewData / onModeChange hooks; the base class owns listener lifecycle and teardown</a:t>
            </a:r>
          </a:p>
        </p:txBody>
      </p:sp>
      <p:sp>
        <p:nvSpPr>
          <p:cNvPr id="24" name="Oval 24"/>
          <p:cNvSpPr/>
          <p:nvPr/>
        </p:nvSpPr>
        <p:spPr>
          <a:xfrm>
            <a:off x="566928" y="5833049"/>
            <a:ext cx="77724" cy="7772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5"/>
          <p:cNvSpPr txBox="1"/>
          <p:nvPr/>
        </p:nvSpPr>
        <p:spPr>
          <a:xfrm>
            <a:off x="804672" y="5768756"/>
            <a:ext cx="7534656" cy="409448"/>
          </a:xfrm>
          <a:prstGeom prst="rect">
            <a:avLst/>
          </a:prstGeom>
          <a:noFill/>
        </p:spPr>
        <p:txBody>
          <a:bodyPr wrap="square" lIns="0" rIns="0" tIns="0" bIns="0" anchor="t"/>
          <a:lstStyle/>
          <a:p>
            <a:pPr algn="l">
              <a:lnSpc>
                <a:spcPct val="124000"/>
              </a:lnSpc>
            </a:pPr>
            <a:r>
              <a:rPr sz="1300" b="1" i="0">
                <a:solidFill>
                  <a:srgbClr val="0F1E27"/>
                </a:solidFill>
                <a:latin typeface="Calibri"/>
              </a:rPr>
              <a:t>paradigm code under paradigms/ — </a:t>
            </a:r>
            <a:r>
              <a:rPr sz="1300" b="0" i="0">
                <a:solidFill>
                  <a:srgbClr val="0F1E27"/>
                </a:solidFill>
                <a:latin typeface="Calibri"/>
              </a:rPr>
              <a:t>the reference pattern for extending the runtime without modifying it</a:t>
            </a:r>
          </a:p>
        </p:txBody>
      </p:sp>
      <p:sp>
        <p:nvSpPr>
          <p:cNvPr id="26" name="Rounded Rectangle 26"/>
          <p:cNvSpPr/>
          <p:nvPr/>
        </p:nvSpPr>
        <p:spPr>
          <a:xfrm>
            <a:off x="8543239" y="4462272"/>
            <a:ext cx="3081528" cy="1691640"/>
          </a:xfrm>
          <a:prstGeom prst="roundRect">
            <a:avLst>
              <a:gd name="adj" fmla="val 8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TextBox 27"/>
          <p:cNvSpPr txBox="1"/>
          <p:nvPr/>
        </p:nvSpPr>
        <p:spPr>
          <a:xfrm>
            <a:off x="8771839" y="4690872"/>
            <a:ext cx="2624328" cy="274320"/>
          </a:xfrm>
          <a:prstGeom prst="rect">
            <a:avLst/>
          </a:prstGeom>
          <a:noFill/>
        </p:spPr>
        <p:txBody>
          <a:bodyPr wrap="square" lIns="0" rIns="0" tIns="0" bIns="0" anchor="t"/>
          <a:lstStyle/>
          <a:p>
            <a:pPr algn="l"/>
            <a:r>
              <a:rPr sz="1100" b="1" i="0">
                <a:solidFill>
                  <a:srgbClr val="1D6E8A"/>
                </a:solidFill>
                <a:latin typeface="Arial"/>
              </a:rPr>
              <a:t>WHY IT MATTERS</a:t>
            </a:r>
          </a:p>
        </p:txBody>
      </p:sp>
      <p:sp>
        <p:nvSpPr>
          <p:cNvPr id="28" name="TextBox 28"/>
          <p:cNvSpPr txBox="1"/>
          <p:nvPr/>
        </p:nvSpPr>
        <p:spPr>
          <a:xfrm>
            <a:off x="8771839" y="5010912"/>
            <a:ext cx="2624328" cy="1188720"/>
          </a:xfrm>
          <a:prstGeom prst="rect">
            <a:avLst/>
          </a:prstGeom>
          <a:noFill/>
        </p:spPr>
        <p:txBody>
          <a:bodyPr wrap="square" lIns="0" rIns="0" tIns="0" bIns="0" anchor="t"/>
          <a:lstStyle/>
          <a:p>
            <a:pPr algn="l">
              <a:lnSpc>
                <a:spcPct val="130000"/>
              </a:lnSpc>
            </a:pPr>
            <a:r>
              <a:rPr sz="1200" b="0" i="0">
                <a:solidFill>
                  <a:srgbClr val="0F1E27"/>
                </a:solidFill>
                <a:latin typeface="Calibri"/>
              </a:rPr>
              <a:t>New analysis or visualization attaches to a running session without any change to the trial loop. The events are declared NotifyAccess = public, which is also what lets a finished session be replayed through the same displays.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ABSTRACTION</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One contract, many rigs</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Every backend inherits from hw.Interface. Code reads and writes through hw.Parameter, never a backend-specific API. A failed connect can offer the operator a port picker, or let the session run without that device.</a:t>
            </a:r>
          </a:p>
        </p:txBody>
      </p:sp>
      <p:sp>
        <p:nvSpPr>
          <p:cNvPr id="5" name="TextBox 5"/>
          <p:cNvSpPr txBox="1"/>
          <p:nvPr/>
        </p:nvSpPr>
        <p:spPr>
          <a:xfrm>
            <a:off x="566928" y="1920240"/>
            <a:ext cx="5852160" cy="274320"/>
          </a:xfrm>
          <a:prstGeom prst="rect">
            <a:avLst/>
          </a:prstGeom>
          <a:noFill/>
        </p:spPr>
        <p:txBody>
          <a:bodyPr wrap="square" lIns="0" rIns="0" tIns="0" bIns="0" anchor="t"/>
          <a:lstStyle/>
          <a:p>
            <a:pPr algn="l"/>
            <a:r>
              <a:rPr sz="1100" b="1" i="0">
                <a:solidFill>
                  <a:srgbClr val="B5642A"/>
                </a:solidFill>
                <a:latin typeface="Arial"/>
              </a:rPr>
              <a:t>THE hw.Interface CONTRACT</a:t>
            </a:r>
          </a:p>
        </p:txBody>
      </p:sp>
      <p:sp>
        <p:nvSpPr>
          <p:cNvPr id="6" name="Rounded Rectangle 6"/>
          <p:cNvSpPr/>
          <p:nvPr/>
        </p:nvSpPr>
        <p:spPr>
          <a:xfrm>
            <a:off x="566928" y="2267712"/>
            <a:ext cx="1712973"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D6E8A"/>
                </a:solidFill>
                <a:latin typeface="Arial"/>
              </a:rPr>
              <a:t>connect / disconnect</a:t>
            </a:r>
          </a:p>
        </p:txBody>
      </p:sp>
      <p:sp>
        <p:nvSpPr>
          <p:cNvPr id="7" name="Rounded Rectangle 7"/>
          <p:cNvSpPr/>
          <p:nvPr/>
        </p:nvSpPr>
        <p:spPr>
          <a:xfrm>
            <a:off x="2417061" y="2267712"/>
            <a:ext cx="2397895"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D6E8A"/>
                </a:solidFill>
                <a:latin typeface="Arial"/>
              </a:rPr>
              <a:t>get_parameter / set_parameter</a:t>
            </a:r>
          </a:p>
        </p:txBody>
      </p:sp>
      <p:sp>
        <p:nvSpPr>
          <p:cNvPr id="8" name="Rounded Rectangle 8"/>
          <p:cNvSpPr/>
          <p:nvPr/>
        </p:nvSpPr>
        <p:spPr>
          <a:xfrm>
            <a:off x="4952116" y="2267712"/>
            <a:ext cx="714370"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D6E8A"/>
                </a:solidFill>
                <a:latin typeface="Arial"/>
              </a:rPr>
              <a:t>trigger</a:t>
            </a:r>
          </a:p>
        </p:txBody>
      </p:sp>
      <p:sp>
        <p:nvSpPr>
          <p:cNvPr id="9" name="Rounded Rectangle 9"/>
          <p:cNvSpPr/>
          <p:nvPr/>
        </p:nvSpPr>
        <p:spPr>
          <a:xfrm>
            <a:off x="5803646" y="2267712"/>
            <a:ext cx="1453970"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D6E8A"/>
                </a:solidFill>
                <a:latin typeface="Arial"/>
              </a:rPr>
              <a:t>setup_interface()</a:t>
            </a:r>
          </a:p>
        </p:txBody>
      </p:sp>
      <p:sp>
        <p:nvSpPr>
          <p:cNvPr id="10" name="Rounded Rectangle 10"/>
          <p:cNvSpPr/>
          <p:nvPr/>
        </p:nvSpPr>
        <p:spPr>
          <a:xfrm>
            <a:off x="7394776" y="2267712"/>
            <a:ext cx="1520160" cy="2468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1D6E8A"/>
                </a:solidFill>
                <a:latin typeface="Arial"/>
              </a:rPr>
              <a:t>getCreationSpec()</a:t>
            </a:r>
          </a:p>
        </p:txBody>
      </p:sp>
      <p:sp>
        <p:nvSpPr>
          <p:cNvPr id="11" name="Rounded Rectangle 11"/>
          <p:cNvSpPr/>
          <p:nvPr/>
        </p:nvSpPr>
        <p:spPr>
          <a:xfrm>
            <a:off x="566928" y="2834640"/>
            <a:ext cx="541000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2"/>
          <p:cNvSpPr txBox="1"/>
          <p:nvPr/>
        </p:nvSpPr>
        <p:spPr>
          <a:xfrm>
            <a:off x="795528" y="2916936"/>
            <a:ext cx="4952800" cy="219456"/>
          </a:xfrm>
          <a:prstGeom prst="rect">
            <a:avLst/>
          </a:prstGeom>
          <a:noFill/>
        </p:spPr>
        <p:txBody>
          <a:bodyPr wrap="square" lIns="0" rIns="0" tIns="0" bIns="0" anchor="t"/>
          <a:lstStyle/>
          <a:p>
            <a:pPr algn="l"/>
            <a:r>
              <a:rPr sz="1150" b="1" i="0">
                <a:solidFill>
                  <a:srgbClr val="1D6E8A"/>
                </a:solidFill>
                <a:latin typeface="Consolas"/>
              </a:rPr>
              <a:t>hw.TDT_RPcox</a:t>
            </a:r>
          </a:p>
        </p:txBody>
      </p:sp>
      <p:sp>
        <p:nvSpPr>
          <p:cNvPr id="13" name="TextBox 13"/>
          <p:cNvSpPr txBox="1"/>
          <p:nvPr/>
        </p:nvSpPr>
        <p:spPr>
          <a:xfrm>
            <a:off x="795528" y="3154680"/>
            <a:ext cx="4952800" cy="219456"/>
          </a:xfrm>
          <a:prstGeom prst="rect">
            <a:avLst/>
          </a:prstGeom>
          <a:noFill/>
        </p:spPr>
        <p:txBody>
          <a:bodyPr wrap="square" lIns="0" rIns="0" tIns="0" bIns="0" anchor="t"/>
          <a:lstStyle/>
          <a:p>
            <a:pPr algn="l"/>
            <a:r>
              <a:rPr sz="1050" b="0" i="0">
                <a:solidFill>
                  <a:srgbClr val="566E7C"/>
                </a:solidFill>
                <a:latin typeface="Calibri"/>
              </a:rPr>
              <a:t>Direct RPvds circuit control; auto-discovers circuit tags</a:t>
            </a:r>
          </a:p>
        </p:txBody>
      </p:sp>
      <p:sp>
        <p:nvSpPr>
          <p:cNvPr id="14" name="Rounded Rectangle 14"/>
          <p:cNvSpPr/>
          <p:nvPr/>
        </p:nvSpPr>
        <p:spPr>
          <a:xfrm>
            <a:off x="566928" y="3566160"/>
            <a:ext cx="541000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5"/>
          <p:cNvSpPr txBox="1"/>
          <p:nvPr/>
        </p:nvSpPr>
        <p:spPr>
          <a:xfrm>
            <a:off x="795528" y="3648456"/>
            <a:ext cx="4952800" cy="219456"/>
          </a:xfrm>
          <a:prstGeom prst="rect">
            <a:avLst/>
          </a:prstGeom>
          <a:noFill/>
        </p:spPr>
        <p:txBody>
          <a:bodyPr wrap="square" lIns="0" rIns="0" tIns="0" bIns="0" anchor="t"/>
          <a:lstStyle/>
          <a:p>
            <a:pPr algn="l"/>
            <a:r>
              <a:rPr sz="1150" b="1" i="0">
                <a:solidFill>
                  <a:srgbClr val="1D6E8A"/>
                </a:solidFill>
                <a:latin typeface="Consolas"/>
              </a:rPr>
              <a:t>hw.TDT_Synapse</a:t>
            </a:r>
          </a:p>
        </p:txBody>
      </p:sp>
      <p:sp>
        <p:nvSpPr>
          <p:cNvPr id="16" name="TextBox 16"/>
          <p:cNvSpPr txBox="1"/>
          <p:nvPr/>
        </p:nvSpPr>
        <p:spPr>
          <a:xfrm>
            <a:off x="795528" y="3886200"/>
            <a:ext cx="4952800" cy="219456"/>
          </a:xfrm>
          <a:prstGeom prst="rect">
            <a:avLst/>
          </a:prstGeom>
          <a:noFill/>
        </p:spPr>
        <p:txBody>
          <a:bodyPr wrap="square" lIns="0" rIns="0" tIns="0" bIns="0" anchor="t"/>
          <a:lstStyle/>
          <a:p>
            <a:pPr algn="l"/>
            <a:r>
              <a:rPr sz="1050" b="0" i="0">
                <a:solidFill>
                  <a:srgbClr val="566E7C"/>
                </a:solidFill>
                <a:latin typeface="Calibri"/>
              </a:rPr>
              <a:t>TDT Synapse API; auto-discovers gizmo parameters</a:t>
            </a:r>
          </a:p>
        </p:txBody>
      </p:sp>
      <p:sp>
        <p:nvSpPr>
          <p:cNvPr id="17" name="Rounded Rectangle 17"/>
          <p:cNvSpPr/>
          <p:nvPr/>
        </p:nvSpPr>
        <p:spPr>
          <a:xfrm>
            <a:off x="4853008" y="3794760"/>
            <a:ext cx="895320" cy="219456"/>
          </a:xfrm>
          <a:prstGeom prst="roundRect">
            <a:avLst>
              <a:gd name="adj" fmla="val 50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B5642A"/>
                </a:solidFill>
                <a:latin typeface="Arial"/>
              </a:rPr>
              <a:t>in progress</a:t>
            </a:r>
          </a:p>
        </p:txBody>
      </p:sp>
      <p:sp>
        <p:nvSpPr>
          <p:cNvPr id="18" name="Rounded Rectangle 18"/>
          <p:cNvSpPr/>
          <p:nvPr/>
        </p:nvSpPr>
        <p:spPr>
          <a:xfrm>
            <a:off x="566928" y="4297680"/>
            <a:ext cx="541000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9"/>
          <p:cNvSpPr txBox="1"/>
          <p:nvPr/>
        </p:nvSpPr>
        <p:spPr>
          <a:xfrm>
            <a:off x="795528" y="4379976"/>
            <a:ext cx="4952800" cy="219456"/>
          </a:xfrm>
          <a:prstGeom prst="rect">
            <a:avLst/>
          </a:prstGeom>
          <a:noFill/>
        </p:spPr>
        <p:txBody>
          <a:bodyPr wrap="square" lIns="0" rIns="0" tIns="0" bIns="0" anchor="t"/>
          <a:lstStyle/>
          <a:p>
            <a:pPr algn="l"/>
            <a:r>
              <a:rPr sz="1150" b="1" i="0">
                <a:solidFill>
                  <a:srgbClr val="1D6E8A"/>
                </a:solidFill>
                <a:latin typeface="Consolas"/>
              </a:rPr>
              <a:t>hw.Teensy</a:t>
            </a:r>
          </a:p>
        </p:txBody>
      </p:sp>
      <p:sp>
        <p:nvSpPr>
          <p:cNvPr id="20" name="TextBox 20"/>
          <p:cNvSpPr txBox="1"/>
          <p:nvPr/>
        </p:nvSpPr>
        <p:spPr>
          <a:xfrm>
            <a:off x="795528" y="4617720"/>
            <a:ext cx="4952800" cy="219456"/>
          </a:xfrm>
          <a:prstGeom prst="rect">
            <a:avLst/>
          </a:prstGeom>
          <a:noFill/>
        </p:spPr>
        <p:txBody>
          <a:bodyPr wrap="square" lIns="0" rIns="0" tIns="0" bIns="0" anchor="t"/>
          <a:lstStyle/>
          <a:p>
            <a:pPr algn="l"/>
            <a:r>
              <a:rPr sz="1050" b="0" i="0">
                <a:solidFill>
                  <a:srgbClr val="566E7C"/>
                </a:solidFill>
                <a:latin typeface="Calibri"/>
              </a:rPr>
              <a:t>Teensy 4.x over USB serial; firmware in firmware/EPsychTeensy</a:t>
            </a:r>
          </a:p>
        </p:txBody>
      </p:sp>
      <p:sp>
        <p:nvSpPr>
          <p:cNvPr id="21" name="Rounded Rectangle 21"/>
          <p:cNvSpPr/>
          <p:nvPr/>
        </p:nvSpPr>
        <p:spPr>
          <a:xfrm>
            <a:off x="4853008" y="4526280"/>
            <a:ext cx="895320" cy="219456"/>
          </a:xfrm>
          <a:prstGeom prst="roundRect">
            <a:avLst>
              <a:gd name="adj" fmla="val 50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B5642A"/>
                </a:solidFill>
                <a:latin typeface="Arial"/>
              </a:rPr>
              <a:t>in progress</a:t>
            </a:r>
          </a:p>
        </p:txBody>
      </p:sp>
      <p:sp>
        <p:nvSpPr>
          <p:cNvPr id="22" name="Rounded Rectangle 22"/>
          <p:cNvSpPr/>
          <p:nvPr/>
        </p:nvSpPr>
        <p:spPr>
          <a:xfrm>
            <a:off x="566928" y="5029200"/>
            <a:ext cx="541000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TextBox 23"/>
          <p:cNvSpPr txBox="1"/>
          <p:nvPr/>
        </p:nvSpPr>
        <p:spPr>
          <a:xfrm>
            <a:off x="795528" y="5111496"/>
            <a:ext cx="4952800" cy="219456"/>
          </a:xfrm>
          <a:prstGeom prst="rect">
            <a:avLst/>
          </a:prstGeom>
          <a:noFill/>
        </p:spPr>
        <p:txBody>
          <a:bodyPr wrap="square" lIns="0" rIns="0" tIns="0" bIns="0" anchor="t"/>
          <a:lstStyle/>
          <a:p>
            <a:pPr algn="l"/>
            <a:r>
              <a:rPr sz="1150" b="1" i="0">
                <a:solidFill>
                  <a:srgbClr val="1D6E8A"/>
                </a:solidFill>
                <a:latin typeface="Consolas"/>
              </a:rPr>
              <a:t>hw.Bpod</a:t>
            </a:r>
          </a:p>
        </p:txBody>
      </p:sp>
      <p:sp>
        <p:nvSpPr>
          <p:cNvPr id="24" name="TextBox 24"/>
          <p:cNvSpPr txBox="1"/>
          <p:nvPr/>
        </p:nvSpPr>
        <p:spPr>
          <a:xfrm>
            <a:off x="795528" y="5349240"/>
            <a:ext cx="4952800" cy="219456"/>
          </a:xfrm>
          <a:prstGeom prst="rect">
            <a:avLst/>
          </a:prstGeom>
          <a:noFill/>
        </p:spPr>
        <p:txBody>
          <a:bodyPr wrap="square" lIns="0" rIns="0" tIns="0" bIns="0" anchor="t"/>
          <a:lstStyle/>
          <a:p>
            <a:pPr algn="l"/>
            <a:r>
              <a:rPr sz="1050" b="0" i="0">
                <a:solidFill>
                  <a:srgbClr val="566E7C"/>
                </a:solidFill>
                <a:latin typeface="Calibri"/>
              </a:rPr>
              <a:t>Bpod 0.5/0.6 state machine, speaking the firmware byte protocol</a:t>
            </a:r>
          </a:p>
        </p:txBody>
      </p:sp>
      <p:sp>
        <p:nvSpPr>
          <p:cNvPr id="25" name="Rounded Rectangle 25"/>
          <p:cNvSpPr/>
          <p:nvPr/>
        </p:nvSpPr>
        <p:spPr>
          <a:xfrm>
            <a:off x="4853008" y="5257800"/>
            <a:ext cx="895320" cy="219456"/>
          </a:xfrm>
          <a:prstGeom prst="roundRect">
            <a:avLst>
              <a:gd name="adj" fmla="val 50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B5642A"/>
                </a:solidFill>
                <a:latin typeface="Arial"/>
              </a:rPr>
              <a:t>in progress</a:t>
            </a:r>
          </a:p>
        </p:txBody>
      </p:sp>
      <p:sp>
        <p:nvSpPr>
          <p:cNvPr id="26" name="Rounded Rectangle 26"/>
          <p:cNvSpPr/>
          <p:nvPr/>
        </p:nvSpPr>
        <p:spPr>
          <a:xfrm>
            <a:off x="566928" y="5760720"/>
            <a:ext cx="541000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TextBox 27"/>
          <p:cNvSpPr txBox="1"/>
          <p:nvPr/>
        </p:nvSpPr>
        <p:spPr>
          <a:xfrm>
            <a:off x="795528" y="5843016"/>
            <a:ext cx="4952800" cy="219456"/>
          </a:xfrm>
          <a:prstGeom prst="rect">
            <a:avLst/>
          </a:prstGeom>
          <a:noFill/>
        </p:spPr>
        <p:txBody>
          <a:bodyPr wrap="square" lIns="0" rIns="0" tIns="0" bIns="0" anchor="t"/>
          <a:lstStyle/>
          <a:p>
            <a:pPr algn="l"/>
            <a:r>
              <a:rPr sz="1150" b="1" i="0">
                <a:solidFill>
                  <a:srgbClr val="1D6E8A"/>
                </a:solidFill>
                <a:latin typeface="Consolas"/>
              </a:rPr>
              <a:t>hw.Intan_RHX</a:t>
            </a:r>
          </a:p>
        </p:txBody>
      </p:sp>
      <p:sp>
        <p:nvSpPr>
          <p:cNvPr id="28" name="TextBox 28"/>
          <p:cNvSpPr txBox="1"/>
          <p:nvPr/>
        </p:nvSpPr>
        <p:spPr>
          <a:xfrm>
            <a:off x="795528" y="6080760"/>
            <a:ext cx="4952800" cy="219456"/>
          </a:xfrm>
          <a:prstGeom prst="rect">
            <a:avLst/>
          </a:prstGeom>
          <a:noFill/>
        </p:spPr>
        <p:txBody>
          <a:bodyPr wrap="square" lIns="0" rIns="0" tIns="0" bIns="0" anchor="t"/>
          <a:lstStyle/>
          <a:p>
            <a:pPr algn="l"/>
            <a:r>
              <a:rPr sz="1050" b="0" i="0">
                <a:solidFill>
                  <a:srgbClr val="566E7C"/>
                </a:solidFill>
                <a:latin typeface="Calibri"/>
              </a:rPr>
              <a:t>Intan RHX electrophysiology over TCP</a:t>
            </a:r>
          </a:p>
        </p:txBody>
      </p:sp>
      <p:sp>
        <p:nvSpPr>
          <p:cNvPr id="29" name="Rounded Rectangle 29"/>
          <p:cNvSpPr/>
          <p:nvPr/>
        </p:nvSpPr>
        <p:spPr>
          <a:xfrm>
            <a:off x="4853008" y="5989320"/>
            <a:ext cx="895320" cy="219456"/>
          </a:xfrm>
          <a:prstGeom prst="roundRect">
            <a:avLst>
              <a:gd name="adj" fmla="val 50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B5642A"/>
                </a:solidFill>
                <a:latin typeface="Arial"/>
              </a:rPr>
              <a:t>in progress</a:t>
            </a:r>
          </a:p>
        </p:txBody>
      </p:sp>
      <p:sp>
        <p:nvSpPr>
          <p:cNvPr id="30" name="Rounded Rectangle 30"/>
          <p:cNvSpPr/>
          <p:nvPr/>
        </p:nvSpPr>
        <p:spPr>
          <a:xfrm>
            <a:off x="6214767" y="2834640"/>
            <a:ext cx="541000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1"/>
          <p:cNvSpPr txBox="1"/>
          <p:nvPr/>
        </p:nvSpPr>
        <p:spPr>
          <a:xfrm>
            <a:off x="6443367" y="2916936"/>
            <a:ext cx="4952800" cy="219456"/>
          </a:xfrm>
          <a:prstGeom prst="rect">
            <a:avLst/>
          </a:prstGeom>
          <a:noFill/>
        </p:spPr>
        <p:txBody>
          <a:bodyPr wrap="square" lIns="0" rIns="0" tIns="0" bIns="0" anchor="t"/>
          <a:lstStyle/>
          <a:p>
            <a:pPr algn="l"/>
            <a:r>
              <a:rPr sz="1150" b="1" i="0">
                <a:solidFill>
                  <a:srgbClr val="1D6E8A"/>
                </a:solidFill>
                <a:latin typeface="Consolas"/>
              </a:rPr>
              <a:t>hw.NE1000</a:t>
            </a:r>
          </a:p>
        </p:txBody>
      </p:sp>
      <p:sp>
        <p:nvSpPr>
          <p:cNvPr id="32" name="TextBox 32"/>
          <p:cNvSpPr txBox="1"/>
          <p:nvPr/>
        </p:nvSpPr>
        <p:spPr>
          <a:xfrm>
            <a:off x="6443367" y="3154680"/>
            <a:ext cx="4952800" cy="219456"/>
          </a:xfrm>
          <a:prstGeom prst="rect">
            <a:avLst/>
          </a:prstGeom>
          <a:noFill/>
        </p:spPr>
        <p:txBody>
          <a:bodyPr wrap="square" lIns="0" rIns="0" tIns="0" bIns="0" anchor="t"/>
          <a:lstStyle/>
          <a:p>
            <a:pPr algn="l"/>
            <a:r>
              <a:rPr sz="1050" b="0" i="0">
                <a:solidFill>
                  <a:srgbClr val="566E7C"/>
                </a:solidFill>
                <a:latin typeface="Calibri"/>
              </a:rPr>
              <a:t>New Era syringe pump over RS-232; recovers a renumbered COM port</a:t>
            </a:r>
          </a:p>
        </p:txBody>
      </p:sp>
      <p:sp>
        <p:nvSpPr>
          <p:cNvPr id="33" name="Rounded Rectangle 33"/>
          <p:cNvSpPr/>
          <p:nvPr/>
        </p:nvSpPr>
        <p:spPr>
          <a:xfrm>
            <a:off x="10500847" y="3063240"/>
            <a:ext cx="895320" cy="219456"/>
          </a:xfrm>
          <a:prstGeom prst="roundRect">
            <a:avLst>
              <a:gd name="adj" fmla="val 50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50" b="1">
                <a:solidFill>
                  <a:srgbClr val="B5642A"/>
                </a:solidFill>
                <a:latin typeface="Arial"/>
              </a:rPr>
              <a:t>in progress</a:t>
            </a:r>
          </a:p>
        </p:txBody>
      </p:sp>
      <p:sp>
        <p:nvSpPr>
          <p:cNvPr id="34" name="Rounded Rectangle 34"/>
          <p:cNvSpPr/>
          <p:nvPr/>
        </p:nvSpPr>
        <p:spPr>
          <a:xfrm>
            <a:off x="6214767" y="3566160"/>
            <a:ext cx="541000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TextBox 35"/>
          <p:cNvSpPr txBox="1"/>
          <p:nvPr/>
        </p:nvSpPr>
        <p:spPr>
          <a:xfrm>
            <a:off x="6443367" y="3648456"/>
            <a:ext cx="4952800" cy="219456"/>
          </a:xfrm>
          <a:prstGeom prst="rect">
            <a:avLst/>
          </a:prstGeom>
          <a:noFill/>
        </p:spPr>
        <p:txBody>
          <a:bodyPr wrap="square" lIns="0" rIns="0" tIns="0" bIns="0" anchor="t"/>
          <a:lstStyle/>
          <a:p>
            <a:pPr algn="l"/>
            <a:r>
              <a:rPr sz="1150" b="1" i="0">
                <a:solidFill>
                  <a:srgbClr val="1D6E8A"/>
                </a:solidFill>
                <a:latin typeface="Consolas"/>
              </a:rPr>
              <a:t>hw.VlcRecorder</a:t>
            </a:r>
          </a:p>
        </p:txBody>
      </p:sp>
      <p:sp>
        <p:nvSpPr>
          <p:cNvPr id="36" name="TextBox 36"/>
          <p:cNvSpPr txBox="1"/>
          <p:nvPr/>
        </p:nvSpPr>
        <p:spPr>
          <a:xfrm>
            <a:off x="6443367" y="3886200"/>
            <a:ext cx="4952800" cy="219456"/>
          </a:xfrm>
          <a:prstGeom prst="rect">
            <a:avLst/>
          </a:prstGeom>
          <a:noFill/>
        </p:spPr>
        <p:txBody>
          <a:bodyPr wrap="square" lIns="0" rIns="0" tIns="0" bIns="0" anchor="t"/>
          <a:lstStyle/>
          <a:p>
            <a:pPr algn="l"/>
            <a:r>
              <a:rPr sz="1050" b="0" i="0">
                <a:solidFill>
                  <a:srgbClr val="566E7C"/>
                </a:solidFill>
                <a:latin typeface="Calibri"/>
              </a:rPr>
              <a:t>Webcam preview and recording via a VLC process</a:t>
            </a:r>
          </a:p>
        </p:txBody>
      </p:sp>
      <p:sp>
        <p:nvSpPr>
          <p:cNvPr id="37" name="Rounded Rectangle 37"/>
          <p:cNvSpPr/>
          <p:nvPr/>
        </p:nvSpPr>
        <p:spPr>
          <a:xfrm>
            <a:off x="6214767" y="4297680"/>
            <a:ext cx="541000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TextBox 38"/>
          <p:cNvSpPr txBox="1"/>
          <p:nvPr/>
        </p:nvSpPr>
        <p:spPr>
          <a:xfrm>
            <a:off x="6443367" y="4379976"/>
            <a:ext cx="4952800" cy="219456"/>
          </a:xfrm>
          <a:prstGeom prst="rect">
            <a:avLst/>
          </a:prstGeom>
          <a:noFill/>
        </p:spPr>
        <p:txBody>
          <a:bodyPr wrap="square" lIns="0" rIns="0" tIns="0" bIns="0" anchor="t"/>
          <a:lstStyle/>
          <a:p>
            <a:pPr algn="l"/>
            <a:r>
              <a:rPr sz="1150" b="1" i="0">
                <a:solidFill>
                  <a:srgbClr val="1D6E8A"/>
                </a:solidFill>
                <a:latin typeface="Consolas"/>
              </a:rPr>
              <a:t>hw.Software</a:t>
            </a:r>
          </a:p>
        </p:txBody>
      </p:sp>
      <p:sp>
        <p:nvSpPr>
          <p:cNvPr id="39" name="TextBox 39"/>
          <p:cNvSpPr txBox="1"/>
          <p:nvPr/>
        </p:nvSpPr>
        <p:spPr>
          <a:xfrm>
            <a:off x="6443367" y="4617720"/>
            <a:ext cx="4952800" cy="219456"/>
          </a:xfrm>
          <a:prstGeom prst="rect">
            <a:avLst/>
          </a:prstGeom>
          <a:noFill/>
        </p:spPr>
        <p:txBody>
          <a:bodyPr wrap="square" lIns="0" rIns="0" tIns="0" bIns="0" anchor="t"/>
          <a:lstStyle/>
          <a:p>
            <a:pPr algn="l"/>
            <a:r>
              <a:rPr sz="1050" b="0" i="0">
                <a:solidFill>
                  <a:srgbClr val="566E7C"/>
                </a:solidFill>
                <a:latin typeface="Calibri"/>
              </a:rPr>
              <a:t>In-memory backend: design-time store and hardware-free testing</a:t>
            </a:r>
          </a:p>
        </p:txBody>
      </p:sp>
      <p:sp>
        <p:nvSpPr>
          <p:cNvPr id="40" name="Rounded Rectangle 40"/>
          <p:cNvSpPr/>
          <p:nvPr/>
        </p:nvSpPr>
        <p:spPr>
          <a:xfrm>
            <a:off x="6214767" y="5029200"/>
            <a:ext cx="541000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TextBox 41"/>
          <p:cNvSpPr txBox="1"/>
          <p:nvPr/>
        </p:nvSpPr>
        <p:spPr>
          <a:xfrm>
            <a:off x="6443367" y="5111496"/>
            <a:ext cx="4952800" cy="219456"/>
          </a:xfrm>
          <a:prstGeom prst="rect">
            <a:avLst/>
          </a:prstGeom>
          <a:noFill/>
        </p:spPr>
        <p:txBody>
          <a:bodyPr wrap="square" lIns="0" rIns="0" tIns="0" bIns="0" anchor="t"/>
          <a:lstStyle/>
          <a:p>
            <a:pPr algn="l"/>
            <a:r>
              <a:rPr sz="1150" b="1" i="0">
                <a:solidFill>
                  <a:srgbClr val="1D6E8A"/>
                </a:solidFill>
                <a:latin typeface="Consolas"/>
              </a:rPr>
              <a:t>hw.Replay</a:t>
            </a:r>
          </a:p>
        </p:txBody>
      </p:sp>
      <p:sp>
        <p:nvSpPr>
          <p:cNvPr id="42" name="TextBox 42"/>
          <p:cNvSpPr txBox="1"/>
          <p:nvPr/>
        </p:nvSpPr>
        <p:spPr>
          <a:xfrm>
            <a:off x="6443367" y="5349240"/>
            <a:ext cx="4952800" cy="219456"/>
          </a:xfrm>
          <a:prstGeom prst="rect">
            <a:avLst/>
          </a:prstGeom>
          <a:noFill/>
        </p:spPr>
        <p:txBody>
          <a:bodyPr wrap="square" lIns="0" rIns="0" tIns="0" bIns="0" anchor="t"/>
          <a:lstStyle/>
          <a:p>
            <a:pPr algn="l"/>
            <a:r>
              <a:rPr sz="1050" b="0" i="0">
                <a:solidFill>
                  <a:srgbClr val="566E7C"/>
                </a:solidFill>
                <a:latin typeface="Calibri"/>
              </a:rPr>
              <a:t>Read-only backend answering reads from a saved session record</a:t>
            </a:r>
          </a:p>
        </p:txBody>
      </p:sp>
      <p:sp>
        <p:nvSpPr>
          <p:cNvPr id="43" name="Rounded Rectangle 43"/>
          <p:cNvSpPr/>
          <p:nvPr/>
        </p:nvSpPr>
        <p:spPr>
          <a:xfrm>
            <a:off x="6214767" y="5760720"/>
            <a:ext cx="5410000" cy="676656"/>
          </a:xfrm>
          <a:prstGeom prst="roundRect">
            <a:avLst>
              <a:gd name="adj" fmla="val 10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TextBox 44"/>
          <p:cNvSpPr txBox="1"/>
          <p:nvPr/>
        </p:nvSpPr>
        <p:spPr>
          <a:xfrm>
            <a:off x="6443367" y="5888736"/>
            <a:ext cx="4952800" cy="457200"/>
          </a:xfrm>
          <a:prstGeom prst="rect">
            <a:avLst/>
          </a:prstGeom>
          <a:noFill/>
        </p:spPr>
        <p:txBody>
          <a:bodyPr wrap="square" lIns="0" rIns="0" tIns="0" bIns="0" anchor="t"/>
          <a:lstStyle/>
          <a:p>
            <a:pPr algn="l">
              <a:lnSpc>
                <a:spcPct val="122000"/>
              </a:lnSpc>
            </a:pPr>
            <a:r>
              <a:rPr sz="1150" b="1" i="0">
                <a:solidFill>
                  <a:srgbClr val="0F1E27"/>
                </a:solidFill>
                <a:latin typeface="Calibri"/>
              </a:rPr>
              <a:t>Adding a backend touches four hardcoded registry sites </a:t>
            </a:r>
            <a:r>
              <a:rPr sz="1150" b="0" i="0">
                <a:solidFill>
                  <a:srgbClr val="B5642A"/>
                </a:solidFill>
                <a:latin typeface="Calibri"/>
              </a:rPr>
              <a:t>outside the class folder — there is no reflection.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CLOSED LOOP ON THE BOARD</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The contingency lives in a file, not in firmware</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obj/+teensy/ turns an operant paradigm into a state table the Teensy executes. It has no dependency on the GUI layer, which is what makes all of it testable headlessly.</a:t>
            </a:r>
          </a:p>
        </p:txBody>
      </p:sp>
      <p:sp>
        <p:nvSpPr>
          <p:cNvPr id="5" name="TextBox 5"/>
          <p:cNvSpPr txBox="1"/>
          <p:nvPr/>
        </p:nvSpPr>
        <p:spPr>
          <a:xfrm>
            <a:off x="566928" y="1828800"/>
            <a:ext cx="11057839" cy="274320"/>
          </a:xfrm>
          <a:prstGeom prst="rect">
            <a:avLst/>
          </a:prstGeom>
          <a:noFill/>
        </p:spPr>
        <p:txBody>
          <a:bodyPr wrap="square" lIns="0" rIns="0" tIns="0" bIns="0" anchor="t"/>
          <a:lstStyle/>
          <a:p>
            <a:pPr algn="l"/>
            <a:r>
              <a:rPr sz="1100" b="1" i="0">
                <a:solidFill>
                  <a:srgbClr val="B5642A"/>
                </a:solidFill>
                <a:latin typeface="Arial"/>
              </a:rPr>
              <a:t>THE DOCUMENT MODEL</a:t>
            </a:r>
          </a:p>
        </p:txBody>
      </p:sp>
      <p:sp>
        <p:nvSpPr>
          <p:cNvPr id="6" name="Rounded Rectangle 6"/>
          <p:cNvSpPr/>
          <p:nvPr/>
        </p:nvSpPr>
        <p:spPr>
          <a:xfrm>
            <a:off x="566928" y="2148840"/>
            <a:ext cx="883734"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Program</a:t>
            </a:r>
          </a:p>
        </p:txBody>
      </p:sp>
      <p:sp>
        <p:nvSpPr>
          <p:cNvPr id="7" name="Rounded Rectangle 7"/>
          <p:cNvSpPr/>
          <p:nvPr/>
        </p:nvSpPr>
        <p:spPr>
          <a:xfrm>
            <a:off x="1577662" y="2148840"/>
            <a:ext cx="86417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Channel</a:t>
            </a:r>
          </a:p>
        </p:txBody>
      </p:sp>
      <p:sp>
        <p:nvSpPr>
          <p:cNvPr id="8" name="Rounded Rectangle 8"/>
          <p:cNvSpPr/>
          <p:nvPr/>
        </p:nvSpPr>
        <p:spPr>
          <a:xfrm>
            <a:off x="2568840" y="2148840"/>
            <a:ext cx="66560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State</a:t>
            </a:r>
          </a:p>
        </p:txBody>
      </p:sp>
      <p:sp>
        <p:nvSpPr>
          <p:cNvPr id="9" name="Rounded Rectangle 9"/>
          <p:cNvSpPr/>
          <p:nvPr/>
        </p:nvSpPr>
        <p:spPr>
          <a:xfrm>
            <a:off x="3361448" y="2148840"/>
            <a:ext cx="101761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Transition</a:t>
            </a:r>
          </a:p>
        </p:txBody>
      </p:sp>
      <p:sp>
        <p:nvSpPr>
          <p:cNvPr id="10" name="Rounded Rectangle 10"/>
          <p:cNvSpPr/>
          <p:nvPr/>
        </p:nvSpPr>
        <p:spPr>
          <a:xfrm>
            <a:off x="4506066" y="2148840"/>
            <a:ext cx="963463"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Condition</a:t>
            </a:r>
          </a:p>
        </p:txBody>
      </p:sp>
      <p:sp>
        <p:nvSpPr>
          <p:cNvPr id="11" name="Rounded Rectangle 11"/>
          <p:cNvSpPr/>
          <p:nvPr/>
        </p:nvSpPr>
        <p:spPr>
          <a:xfrm>
            <a:off x="5596529" y="2148840"/>
            <a:ext cx="743833"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Action</a:t>
            </a:r>
          </a:p>
        </p:txBody>
      </p:sp>
      <p:sp>
        <p:nvSpPr>
          <p:cNvPr id="12" name="Rounded Rectangle 12"/>
          <p:cNvSpPr/>
          <p:nvPr/>
        </p:nvSpPr>
        <p:spPr>
          <a:xfrm>
            <a:off x="6467362" y="2148840"/>
            <a:ext cx="876212"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Variable</a:t>
            </a:r>
          </a:p>
        </p:txBody>
      </p:sp>
      <p:sp>
        <p:nvSpPr>
          <p:cNvPr id="13" name="Rounded Rectangle 13"/>
          <p:cNvSpPr/>
          <p:nvPr/>
        </p:nvSpPr>
        <p:spPr>
          <a:xfrm>
            <a:off x="7470574" y="2148840"/>
            <a:ext cx="1177075"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a:solidFill>
                  <a:srgbClr val="1D6E8A"/>
                </a:solidFill>
                <a:latin typeface="Arial"/>
              </a:rPr>
              <a:t>BoardProfile</a:t>
            </a:r>
          </a:p>
        </p:txBody>
      </p:sp>
      <p:sp>
        <p:nvSpPr>
          <p:cNvPr id="14" name="Rounded Rectangle 14"/>
          <p:cNvSpPr/>
          <p:nvPr/>
        </p:nvSpPr>
        <p:spPr>
          <a:xfrm>
            <a:off x="566928" y="2651760"/>
            <a:ext cx="3456432" cy="201168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5"/>
          <p:cNvSpPr txBox="1"/>
          <p:nvPr/>
        </p:nvSpPr>
        <p:spPr>
          <a:xfrm>
            <a:off x="822960" y="2880360"/>
            <a:ext cx="2944368" cy="237744"/>
          </a:xfrm>
          <a:prstGeom prst="rect">
            <a:avLst/>
          </a:prstGeom>
          <a:noFill/>
        </p:spPr>
        <p:txBody>
          <a:bodyPr wrap="square" lIns="0" rIns="0" tIns="0" bIns="0" anchor="t"/>
          <a:lstStyle/>
          <a:p>
            <a:pPr algn="l"/>
            <a:r>
              <a:rPr sz="1200" b="1" i="0">
                <a:solidFill>
                  <a:srgbClr val="B5642A"/>
                </a:solidFill>
                <a:latin typeface="Consolas"/>
              </a:rPr>
              <a:t>teensy.Compiler</a:t>
            </a:r>
          </a:p>
        </p:txBody>
      </p:sp>
      <p:sp>
        <p:nvSpPr>
          <p:cNvPr id="16" name="TextBox 16"/>
          <p:cNvSpPr txBox="1"/>
          <p:nvPr/>
        </p:nvSpPr>
        <p:spPr>
          <a:xfrm>
            <a:off x="822960" y="3218688"/>
            <a:ext cx="2944368" cy="1188720"/>
          </a:xfrm>
          <a:prstGeom prst="rect">
            <a:avLst/>
          </a:prstGeom>
          <a:noFill/>
        </p:spPr>
        <p:txBody>
          <a:bodyPr wrap="square" lIns="0" rIns="0" tIns="0" bIns="0" anchor="t"/>
          <a:lstStyle/>
          <a:p>
            <a:pPr algn="l">
              <a:lnSpc>
                <a:spcPct val="130000"/>
              </a:lnSpc>
            </a:pPr>
            <a:r>
              <a:rPr sz="1250" b="0" i="0">
                <a:solidFill>
                  <a:srgbClr val="0F1E27"/>
                </a:solidFill>
                <a:latin typeface="Calibri"/>
              </a:rPr>
              <a:t>Emits the wire records the firmware reads, and checks the program against the firmware's fixed array sizes before anything is uploaded.</a:t>
            </a:r>
          </a:p>
        </p:txBody>
      </p:sp>
      <p:sp>
        <p:nvSpPr>
          <p:cNvPr id="17" name="Rounded Rectangle 17"/>
          <p:cNvSpPr/>
          <p:nvPr/>
        </p:nvSpPr>
        <p:spPr>
          <a:xfrm>
            <a:off x="4368360" y="2651760"/>
            <a:ext cx="3456432" cy="2011680"/>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8"/>
          <p:cNvSpPr txBox="1"/>
          <p:nvPr/>
        </p:nvSpPr>
        <p:spPr>
          <a:xfrm>
            <a:off x="4624392" y="2880360"/>
            <a:ext cx="2944368" cy="237744"/>
          </a:xfrm>
          <a:prstGeom prst="rect">
            <a:avLst/>
          </a:prstGeom>
          <a:noFill/>
        </p:spPr>
        <p:txBody>
          <a:bodyPr wrap="square" lIns="0" rIns="0" tIns="0" bIns="0" anchor="t"/>
          <a:lstStyle/>
          <a:p>
            <a:pPr algn="l"/>
            <a:r>
              <a:rPr sz="1200" b="1" i="0">
                <a:solidFill>
                  <a:srgbClr val="1D6E8A"/>
                </a:solidFill>
                <a:latin typeface="Consolas"/>
              </a:rPr>
              <a:t>teensy.Simulator</a:t>
            </a:r>
          </a:p>
        </p:txBody>
      </p:sp>
      <p:sp>
        <p:nvSpPr>
          <p:cNvPr id="19" name="TextBox 19"/>
          <p:cNvSpPr txBox="1"/>
          <p:nvPr/>
        </p:nvSpPr>
        <p:spPr>
          <a:xfrm>
            <a:off x="4624392" y="3218688"/>
            <a:ext cx="2944368" cy="1188720"/>
          </a:xfrm>
          <a:prstGeom prst="rect">
            <a:avLst/>
          </a:prstGeom>
          <a:noFill/>
        </p:spPr>
        <p:txBody>
          <a:bodyPr wrap="square" lIns="0" rIns="0" tIns="0" bIns="0" anchor="t"/>
          <a:lstStyle/>
          <a:p>
            <a:pPr algn="l">
              <a:lnSpc>
                <a:spcPct val="130000"/>
              </a:lnSpc>
            </a:pPr>
            <a:r>
              <a:rPr sz="1250" b="0" i="0">
                <a:solidFill>
                  <a:srgbClr val="0F1E27"/>
                </a:solidFill>
                <a:latin typeface="Calibri"/>
              </a:rPr>
              <a:t>A reference implementation of the firmware's execution semantics. It powers the designer's test bench, the headless tests, and tells the firmware author what to build.</a:t>
            </a:r>
          </a:p>
        </p:txBody>
      </p:sp>
      <p:sp>
        <p:nvSpPr>
          <p:cNvPr id="20" name="Rounded Rectangle 20"/>
          <p:cNvSpPr/>
          <p:nvPr/>
        </p:nvSpPr>
        <p:spPr>
          <a:xfrm>
            <a:off x="8169792" y="2651760"/>
            <a:ext cx="3456432" cy="2011680"/>
          </a:xfrm>
          <a:prstGeom prst="roundRect">
            <a:avLst>
              <a:gd name="adj" fmla="val 9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1"/>
          <p:cNvSpPr txBox="1"/>
          <p:nvPr/>
        </p:nvSpPr>
        <p:spPr>
          <a:xfrm>
            <a:off x="8425824" y="2880360"/>
            <a:ext cx="2944368" cy="237744"/>
          </a:xfrm>
          <a:prstGeom prst="rect">
            <a:avLst/>
          </a:prstGeom>
          <a:noFill/>
        </p:spPr>
        <p:txBody>
          <a:bodyPr wrap="square" lIns="0" rIns="0" tIns="0" bIns="0" anchor="t"/>
          <a:lstStyle/>
          <a:p>
            <a:pPr algn="l"/>
            <a:r>
              <a:rPr sz="1200" b="1" i="0">
                <a:solidFill>
                  <a:srgbClr val="B5642A"/>
                </a:solidFill>
                <a:latin typeface="Consolas"/>
              </a:rPr>
              <a:t>teensy.Templates</a:t>
            </a:r>
          </a:p>
        </p:txBody>
      </p:sp>
      <p:sp>
        <p:nvSpPr>
          <p:cNvPr id="22" name="TextBox 22"/>
          <p:cNvSpPr txBox="1"/>
          <p:nvPr/>
        </p:nvSpPr>
        <p:spPr>
          <a:xfrm>
            <a:off x="8425824" y="3218688"/>
            <a:ext cx="2944368" cy="1188720"/>
          </a:xfrm>
          <a:prstGeom prst="rect">
            <a:avLst/>
          </a:prstGeom>
          <a:noFill/>
        </p:spPr>
        <p:txBody>
          <a:bodyPr wrap="square" lIns="0" rIns="0" tIns="0" bIns="0" anchor="t"/>
          <a:lstStyle/>
          <a:p>
            <a:pPr algn="l">
              <a:lnSpc>
                <a:spcPct val="130000"/>
              </a:lnSpc>
            </a:pPr>
            <a:r>
              <a:rPr sz="1250" b="0" i="0">
                <a:solidFill>
                  <a:srgbClr val="0F1E27"/>
                </a:solidFill>
                <a:latin typeface="Calibri"/>
              </a:rPr>
              <a:t>Ready-made paradigms to start from: Go/No-Go, 2AFC, fixed ratio, shaping, passive.</a:t>
            </a:r>
          </a:p>
        </p:txBody>
      </p:sp>
      <p:sp>
        <p:nvSpPr>
          <p:cNvPr id="23" name="Rounded Rectangle 23"/>
          <p:cNvSpPr/>
          <p:nvPr/>
        </p:nvSpPr>
        <p:spPr>
          <a:xfrm>
            <a:off x="566928" y="4846320"/>
            <a:ext cx="11057839" cy="1307592"/>
          </a:xfrm>
          <a:prstGeom prst="roundRect">
            <a:avLst>
              <a:gd name="adj" fmla="val 8000"/>
            </a:avLst>
          </a:prstGeom>
          <a:solidFill>
            <a:srgbClr val="0E28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4"/>
          <p:cNvSpPr txBox="1"/>
          <p:nvPr/>
        </p:nvSpPr>
        <p:spPr>
          <a:xfrm>
            <a:off x="795528" y="5074920"/>
            <a:ext cx="10600639" cy="274320"/>
          </a:xfrm>
          <a:prstGeom prst="rect">
            <a:avLst/>
          </a:prstGeom>
          <a:noFill/>
        </p:spPr>
        <p:txBody>
          <a:bodyPr wrap="square" lIns="0" rIns="0" tIns="0" bIns="0" anchor="t"/>
          <a:lstStyle/>
          <a:p>
            <a:pPr algn="l"/>
            <a:r>
              <a:rPr sz="1100" b="1" i="0">
                <a:solidFill>
                  <a:srgbClr val="E09353"/>
                </a:solidFill>
                <a:latin typeface="Arial"/>
              </a:rPr>
              <a:t>ONE STATE TABLE, MANY TRIALS</a:t>
            </a:r>
          </a:p>
        </p:txBody>
      </p:sp>
      <p:sp>
        <p:nvSpPr>
          <p:cNvPr id="25" name="TextBox 25"/>
          <p:cNvSpPr txBox="1"/>
          <p:nvPr/>
        </p:nvSpPr>
        <p:spPr>
          <a:xfrm>
            <a:off x="795528" y="5394960"/>
            <a:ext cx="10600639" cy="619125"/>
          </a:xfrm>
          <a:prstGeom prst="rect">
            <a:avLst/>
          </a:prstGeom>
          <a:noFill/>
        </p:spPr>
        <p:txBody>
          <a:bodyPr wrap="square" lIns="0" rIns="0" tIns="0" bIns="0" anchor="t"/>
          <a:lstStyle/>
          <a:p>
            <a:pPr algn="l">
              <a:lnSpc>
                <a:spcPct val="130000"/>
              </a:lnSpc>
            </a:pPr>
            <a:r>
              <a:rPr sz="1250" b="0" i="0">
                <a:solidFill>
                  <a:srgbClr val="B8CDD8"/>
                </a:solidFill>
                <a:latin typeface="Calibri"/>
              </a:rPr>
              <a:t>Any numeric field may hold a literal or an </a:t>
            </a:r>
            <a:r>
              <a:rPr sz="1200" b="1" i="0">
                <a:solidFill>
                  <a:srgbClr val="8FD4EC"/>
                </a:solidFill>
                <a:latin typeface="Consolas"/>
              </a:rPr>
              <a:t>"@Name"</a:t>
            </a:r>
            <a:r>
              <a:rPr sz="1250" b="0" i="0">
                <a:solidFill>
                  <a:srgbClr val="B8CDD8"/>
                </a:solidFill>
                <a:latin typeface="Calibri"/>
              </a:rPr>
              <a:t> reference to a teensy.Variable. A reference compiles to a constant-table index, which is how a protocol varies a duration per trial without re-uploading the state table. </a:t>
            </a:r>
            <a:r>
              <a:rPr sz="1200" b="1" i="0">
                <a:solidFill>
                  <a:srgbClr val="8FD4EC"/>
                </a:solidFill>
                <a:latin typeface="Consolas"/>
              </a:rPr>
              <a:t>teensy.TrialDesigner</a:t>
            </a:r>
            <a:r>
              <a:rPr sz="1250" b="0" i="0">
                <a:solidFill>
                  <a:srgbClr val="B8CDD8"/>
                </a:solidFill>
                <a:latin typeface="Calibri"/>
              </a:rPr>
              <a:t> is the GUI over all of it; renames cascade through every reference, including nested condition operands.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SUBMODULE BOUNDARY</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Stimulus generation lives elsewhere</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obj/stimgen is a git submodule pinned to an exact commit of dstolz/stimgen, released independently of this repository.</a:t>
            </a:r>
          </a:p>
        </p:txBody>
      </p:sp>
      <p:sp>
        <p:nvSpPr>
          <p:cNvPr id="5" name="Rounded Rectangle 5"/>
          <p:cNvSpPr/>
          <p:nvPr/>
        </p:nvSpPr>
        <p:spPr>
          <a:xfrm>
            <a:off x="566928" y="1965960"/>
            <a:ext cx="5532120" cy="13716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6"/>
          <p:cNvSpPr txBox="1"/>
          <p:nvPr/>
        </p:nvSpPr>
        <p:spPr>
          <a:xfrm>
            <a:off x="795528" y="2194560"/>
            <a:ext cx="5074920" cy="274320"/>
          </a:xfrm>
          <a:prstGeom prst="rect">
            <a:avLst/>
          </a:prstGeom>
          <a:noFill/>
        </p:spPr>
        <p:txBody>
          <a:bodyPr wrap="square" lIns="0" rIns="0" tIns="0" bIns="0" anchor="t"/>
          <a:lstStyle/>
          <a:p>
            <a:pPr algn="l"/>
            <a:r>
              <a:rPr sz="1100" b="1" i="0">
                <a:solidFill>
                  <a:srgbClr val="B5642A"/>
                </a:solidFill>
                <a:latin typeface="Arial"/>
              </a:rPr>
              <a:t>A ONE-WAY DEPENDENCY</a:t>
            </a:r>
          </a:p>
        </p:txBody>
      </p:sp>
      <p:sp>
        <p:nvSpPr>
          <p:cNvPr id="7" name="TextBox 7"/>
          <p:cNvSpPr txBox="1"/>
          <p:nvPr/>
        </p:nvSpPr>
        <p:spPr>
          <a:xfrm>
            <a:off x="795528" y="2514600"/>
            <a:ext cx="5074920" cy="653796"/>
          </a:xfrm>
          <a:prstGeom prst="rect">
            <a:avLst/>
          </a:prstGeom>
          <a:noFill/>
        </p:spPr>
        <p:txBody>
          <a:bodyPr wrap="square" lIns="0" rIns="0" tIns="0" bIns="0" anchor="t"/>
          <a:lstStyle/>
          <a:p>
            <a:pPr algn="l">
              <a:lnSpc>
                <a:spcPct val="132000"/>
              </a:lnSpc>
            </a:pPr>
            <a:r>
              <a:rPr sz="1300" b="1" i="0">
                <a:solidFill>
                  <a:srgbClr val="0F1E27"/>
                </a:solidFill>
                <a:latin typeface="Calibri"/>
              </a:rPr>
              <a:t>stimgen has no dependency on EPsych. </a:t>
            </a:r>
            <a:r>
              <a:rPr sz="1300" b="0" i="0">
                <a:solidFill>
                  <a:srgbClr val="0F1E27"/>
                </a:solidFill>
                <a:latin typeface="Calibri"/>
              </a:rPr>
              <a:t>Nothing inside it names an epsych.* or hw.* type. The three classes that translate live in obj/+stimbridge/.</a:t>
            </a:r>
          </a:p>
        </p:txBody>
      </p:sp>
      <p:sp>
        <p:nvSpPr>
          <p:cNvPr id="8" name="Rounded Rectangle 8"/>
          <p:cNvSpPr/>
          <p:nvPr/>
        </p:nvSpPr>
        <p:spPr>
          <a:xfrm>
            <a:off x="566928" y="3474720"/>
            <a:ext cx="5532120" cy="640080"/>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9"/>
          <p:cNvSpPr txBox="1"/>
          <p:nvPr/>
        </p:nvSpPr>
        <p:spPr>
          <a:xfrm>
            <a:off x="795528" y="3593592"/>
            <a:ext cx="4983480" cy="219456"/>
          </a:xfrm>
          <a:prstGeom prst="rect">
            <a:avLst/>
          </a:prstGeom>
          <a:noFill/>
        </p:spPr>
        <p:txBody>
          <a:bodyPr wrap="square" lIns="0" rIns="0" tIns="0" bIns="0" anchor="t"/>
          <a:lstStyle/>
          <a:p>
            <a:pPr algn="l"/>
            <a:r>
              <a:rPr sz="1200" b="1" i="0">
                <a:solidFill>
                  <a:srgbClr val="153A49"/>
                </a:solidFill>
                <a:latin typeface="Consolas"/>
              </a:rPr>
              <a:t>stimbridge.RuntimeHost</a:t>
            </a:r>
          </a:p>
        </p:txBody>
      </p:sp>
      <p:sp>
        <p:nvSpPr>
          <p:cNvPr id="10" name="TextBox 10"/>
          <p:cNvSpPr txBox="1"/>
          <p:nvPr/>
        </p:nvSpPr>
        <p:spPr>
          <a:xfrm>
            <a:off x="795528" y="3849624"/>
            <a:ext cx="4983480" cy="219456"/>
          </a:xfrm>
          <a:prstGeom prst="rect">
            <a:avLst/>
          </a:prstGeom>
          <a:noFill/>
        </p:spPr>
        <p:txBody>
          <a:bodyPr wrap="square" lIns="0" rIns="0" tIns="0" bIns="0" anchor="t"/>
          <a:lstStyle/>
          <a:p>
            <a:pPr algn="l"/>
            <a:r>
              <a:rPr sz="1100" b="0" i="0">
                <a:solidFill>
                  <a:srgbClr val="1D6E8A"/>
                </a:solidFill>
                <a:latin typeface="Calibri"/>
              </a:rPr>
              <a:t>implements stimgen.HardwareHost over Runtime / Protocol</a:t>
            </a:r>
          </a:p>
        </p:txBody>
      </p:sp>
      <p:sp>
        <p:nvSpPr>
          <p:cNvPr id="11" name="Rounded Rectangle 11"/>
          <p:cNvSpPr/>
          <p:nvPr/>
        </p:nvSpPr>
        <p:spPr>
          <a:xfrm>
            <a:off x="566928" y="4187952"/>
            <a:ext cx="5532120" cy="640080"/>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2"/>
          <p:cNvSpPr txBox="1"/>
          <p:nvPr/>
        </p:nvSpPr>
        <p:spPr>
          <a:xfrm>
            <a:off x="795528" y="4306824"/>
            <a:ext cx="4983480" cy="219456"/>
          </a:xfrm>
          <a:prstGeom prst="rect">
            <a:avLst/>
          </a:prstGeom>
          <a:noFill/>
        </p:spPr>
        <p:txBody>
          <a:bodyPr wrap="square" lIns="0" rIns="0" tIns="0" bIns="0" anchor="t"/>
          <a:lstStyle/>
          <a:p>
            <a:pPr algn="l"/>
            <a:r>
              <a:rPr sz="1200" b="1" i="0">
                <a:solidFill>
                  <a:srgbClr val="153A49"/>
                </a:solidFill>
                <a:latin typeface="Consolas"/>
              </a:rPr>
              <a:t>stimbridge.InterfaceAdapter</a:t>
            </a:r>
          </a:p>
        </p:txBody>
      </p:sp>
      <p:sp>
        <p:nvSpPr>
          <p:cNvPr id="13" name="TextBox 13"/>
          <p:cNvSpPr txBox="1"/>
          <p:nvPr/>
        </p:nvSpPr>
        <p:spPr>
          <a:xfrm>
            <a:off x="795528" y="4562856"/>
            <a:ext cx="4983480" cy="219456"/>
          </a:xfrm>
          <a:prstGeom prst="rect">
            <a:avLst/>
          </a:prstGeom>
          <a:noFill/>
        </p:spPr>
        <p:txBody>
          <a:bodyPr wrap="square" lIns="0" rIns="0" tIns="0" bIns="0" anchor="t"/>
          <a:lstStyle/>
          <a:p>
            <a:pPr algn="l"/>
            <a:r>
              <a:rPr sz="1100" b="0" i="0">
                <a:solidFill>
                  <a:srgbClr val="1D6E8A"/>
                </a:solidFill>
                <a:latin typeface="Calibri"/>
              </a:rPr>
              <a:t>implements the calibration HwAdapter over an hw.Interface</a:t>
            </a:r>
          </a:p>
        </p:txBody>
      </p:sp>
      <p:sp>
        <p:nvSpPr>
          <p:cNvPr id="14" name="Rounded Rectangle 14"/>
          <p:cNvSpPr/>
          <p:nvPr/>
        </p:nvSpPr>
        <p:spPr>
          <a:xfrm>
            <a:off x="566928" y="4901184"/>
            <a:ext cx="5532120" cy="640080"/>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5"/>
          <p:cNvSpPr txBox="1"/>
          <p:nvPr/>
        </p:nvSpPr>
        <p:spPr>
          <a:xfrm>
            <a:off x="795528" y="5020056"/>
            <a:ext cx="4983480" cy="219456"/>
          </a:xfrm>
          <a:prstGeom prst="rect">
            <a:avLst/>
          </a:prstGeom>
          <a:noFill/>
        </p:spPr>
        <p:txBody>
          <a:bodyPr wrap="square" lIns="0" rIns="0" tIns="0" bIns="0" anchor="t"/>
          <a:lstStyle/>
          <a:p>
            <a:pPr algn="l"/>
            <a:r>
              <a:rPr sz="1200" b="1" i="0">
                <a:solidFill>
                  <a:srgbClr val="153A49"/>
                </a:solidFill>
                <a:latin typeface="Consolas"/>
              </a:rPr>
              <a:t>stimbridge.LogBridge</a:t>
            </a:r>
          </a:p>
        </p:txBody>
      </p:sp>
      <p:sp>
        <p:nvSpPr>
          <p:cNvPr id="16" name="TextBox 16"/>
          <p:cNvSpPr txBox="1"/>
          <p:nvPr/>
        </p:nvSpPr>
        <p:spPr>
          <a:xfrm>
            <a:off x="795528" y="5276088"/>
            <a:ext cx="4983480" cy="219456"/>
          </a:xfrm>
          <a:prstGeom prst="rect">
            <a:avLst/>
          </a:prstGeom>
          <a:noFill/>
        </p:spPr>
        <p:txBody>
          <a:bodyPr wrap="square" lIns="0" rIns="0" tIns="0" bIns="0" anchor="t"/>
          <a:lstStyle/>
          <a:p>
            <a:pPr algn="l"/>
            <a:r>
              <a:rPr sz="1100" b="0" i="0">
                <a:solidFill>
                  <a:srgbClr val="1D6E8A"/>
                </a:solidFill>
                <a:latin typeface="Calibri"/>
              </a:rPr>
              <a:t>routes stimgen's messages into the session log, attributed to their own call site</a:t>
            </a:r>
          </a:p>
        </p:txBody>
      </p:sp>
      <p:sp>
        <p:nvSpPr>
          <p:cNvPr id="17" name="Rounded Rectangle 17"/>
          <p:cNvSpPr/>
          <p:nvPr/>
        </p:nvSpPr>
        <p:spPr>
          <a:xfrm>
            <a:off x="566928" y="5669280"/>
            <a:ext cx="5532120" cy="512064"/>
          </a:xfrm>
          <a:prstGeom prst="roundRect">
            <a:avLst>
              <a:gd name="adj" fmla="val 11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8"/>
          <p:cNvSpPr txBox="1"/>
          <p:nvPr/>
        </p:nvSpPr>
        <p:spPr>
          <a:xfrm>
            <a:off x="795528" y="5788152"/>
            <a:ext cx="5029200" cy="292608"/>
          </a:xfrm>
          <a:prstGeom prst="rect">
            <a:avLst/>
          </a:prstGeom>
          <a:noFill/>
        </p:spPr>
        <p:txBody>
          <a:bodyPr wrap="square" lIns="0" rIns="0" tIns="0" bIns="0" anchor="t"/>
          <a:lstStyle/>
          <a:p>
            <a:pPr algn="l"/>
            <a:r>
              <a:rPr sz="1150" b="0" i="0">
                <a:solidFill>
                  <a:srgbClr val="0F1E27"/>
                </a:solidFill>
                <a:latin typeface="Calibri"/>
              </a:rPr>
              <a:t>Clone with </a:t>
            </a:r>
            <a:r>
              <a:rPr sz="1100" b="0" i="0">
                <a:solidFill>
                  <a:srgbClr val="B5642A"/>
                </a:solidFill>
                <a:latin typeface="Consolas"/>
              </a:rPr>
              <a:t>--recurse-submodules</a:t>
            </a:r>
            <a:r>
              <a:rPr sz="1150" b="0" i="0">
                <a:solidFill>
                  <a:srgbClr val="0F1E27"/>
                </a:solidFill>
                <a:latin typeface="Calibri"/>
              </a:rPr>
              <a:t> — skipping it degrades protocols silently.</a:t>
            </a:r>
          </a:p>
        </p:txBody>
      </p:sp>
      <p:sp>
        <p:nvSpPr>
          <p:cNvPr id="19" name="Rounded Rectangle 19"/>
          <p:cNvSpPr/>
          <p:nvPr/>
        </p:nvSpPr>
        <p:spPr>
          <a:xfrm>
            <a:off x="6903720" y="1965960"/>
            <a:ext cx="4718304" cy="312724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20"/>
          <p:cNvSpPr txBox="1"/>
          <p:nvPr/>
        </p:nvSpPr>
        <p:spPr>
          <a:xfrm>
            <a:off x="7132320" y="2194560"/>
            <a:ext cx="4261104" cy="274320"/>
          </a:xfrm>
          <a:prstGeom prst="rect">
            <a:avLst/>
          </a:prstGeom>
          <a:noFill/>
        </p:spPr>
        <p:txBody>
          <a:bodyPr wrap="square" lIns="0" rIns="0" tIns="0" bIns="0" anchor="t"/>
          <a:lstStyle/>
          <a:p>
            <a:pPr algn="l"/>
            <a:r>
              <a:rPr sz="1100" b="1" i="0">
                <a:solidFill>
                  <a:srgbClr val="B5642A"/>
                </a:solidFill>
                <a:latin typeface="Arial"/>
              </a:rPr>
              <a:t>THE SIGNAL PIPELINE</a:t>
            </a:r>
          </a:p>
        </p:txBody>
      </p:sp>
      <p:sp>
        <p:nvSpPr>
          <p:cNvPr id="21" name="Oval 21"/>
          <p:cNvSpPr/>
          <p:nvPr/>
        </p:nvSpPr>
        <p:spPr>
          <a:xfrm>
            <a:off x="7132320" y="2578608"/>
            <a:ext cx="256032" cy="256032"/>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2"/>
          <p:cNvSpPr txBox="1"/>
          <p:nvPr/>
        </p:nvSpPr>
        <p:spPr>
          <a:xfrm>
            <a:off x="7498080" y="2578608"/>
            <a:ext cx="3986784" cy="256032"/>
          </a:xfrm>
          <a:prstGeom prst="rect">
            <a:avLst/>
          </a:prstGeom>
          <a:noFill/>
        </p:spPr>
        <p:txBody>
          <a:bodyPr wrap="square" lIns="0" rIns="0" tIns="0" bIns="0" anchor="t"/>
          <a:lstStyle/>
          <a:p>
            <a:pPr algn="l"/>
            <a:r>
              <a:rPr sz="1200" b="1" i="0">
                <a:solidFill>
                  <a:srgbClr val="153A49"/>
                </a:solidFill>
                <a:latin typeface="Consolas"/>
              </a:rPr>
              <a:t>update_signal()</a:t>
            </a:r>
            <a:r>
              <a:rPr sz="1150" b="0" i="0">
                <a:solidFill>
                  <a:srgbClr val="566E7C"/>
                </a:solidFill>
                <a:latin typeface="Calibri"/>
              </a:rPr>
              <a:t>   implemented by each subclass</a:t>
            </a:r>
          </a:p>
        </p:txBody>
      </p:sp>
      <p:sp>
        <p:nvSpPr>
          <p:cNvPr id="23" name="Oval 23"/>
          <p:cNvSpPr/>
          <p:nvPr/>
        </p:nvSpPr>
        <p:spPr>
          <a:xfrm>
            <a:off x="7132320" y="2999520"/>
            <a:ext cx="256032" cy="256032"/>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4"/>
          <p:cNvSpPr txBox="1"/>
          <p:nvPr/>
        </p:nvSpPr>
        <p:spPr>
          <a:xfrm>
            <a:off x="7498080" y="2999520"/>
            <a:ext cx="3986784" cy="256032"/>
          </a:xfrm>
          <a:prstGeom prst="rect">
            <a:avLst/>
          </a:prstGeom>
          <a:noFill/>
        </p:spPr>
        <p:txBody>
          <a:bodyPr wrap="square" lIns="0" rIns="0" tIns="0" bIns="0" anchor="t"/>
          <a:lstStyle/>
          <a:p>
            <a:pPr algn="l"/>
            <a:r>
              <a:rPr sz="1200" b="1" i="0">
                <a:solidFill>
                  <a:srgbClr val="153A49"/>
                </a:solidFill>
                <a:latin typeface="Consolas"/>
              </a:rPr>
              <a:t>apply_normalization()</a:t>
            </a:r>
            <a:r>
              <a:rPr sz="1150" b="0" i="0">
                <a:solidFill>
                  <a:srgbClr val="566E7C"/>
                </a:solidFill>
                <a:latin typeface="Calibri"/>
              </a:rPr>
              <a:t>   scale to [-1, 1]</a:t>
            </a:r>
          </a:p>
        </p:txBody>
      </p:sp>
      <p:sp>
        <p:nvSpPr>
          <p:cNvPr id="25" name="Oval 25"/>
          <p:cNvSpPr/>
          <p:nvPr/>
        </p:nvSpPr>
        <p:spPr>
          <a:xfrm>
            <a:off x="7132320" y="3420432"/>
            <a:ext cx="256032" cy="256032"/>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6"/>
          <p:cNvSpPr txBox="1"/>
          <p:nvPr/>
        </p:nvSpPr>
        <p:spPr>
          <a:xfrm>
            <a:off x="7498080" y="3420432"/>
            <a:ext cx="3986784" cy="256032"/>
          </a:xfrm>
          <a:prstGeom prst="rect">
            <a:avLst/>
          </a:prstGeom>
          <a:noFill/>
        </p:spPr>
        <p:txBody>
          <a:bodyPr wrap="square" lIns="0" rIns="0" tIns="0" bIns="0" anchor="t"/>
          <a:lstStyle/>
          <a:p>
            <a:pPr algn="l"/>
            <a:r>
              <a:rPr sz="1200" b="1" i="0">
                <a:solidFill>
                  <a:srgbClr val="153A49"/>
                </a:solidFill>
                <a:latin typeface="Consolas"/>
              </a:rPr>
              <a:t>apply_calibration()</a:t>
            </a:r>
            <a:r>
              <a:rPr sz="1150" b="0" i="0">
                <a:solidFill>
                  <a:srgbClr val="566E7C"/>
                </a:solidFill>
                <a:latin typeface="Calibri"/>
              </a:rPr>
              <a:t>   SPL → voltage, lookup table and EQ</a:t>
            </a:r>
          </a:p>
        </p:txBody>
      </p:sp>
      <p:sp>
        <p:nvSpPr>
          <p:cNvPr id="27" name="Oval 27"/>
          <p:cNvSpPr/>
          <p:nvPr/>
        </p:nvSpPr>
        <p:spPr>
          <a:xfrm>
            <a:off x="7132320" y="3841344"/>
            <a:ext cx="256032" cy="256032"/>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TextBox 28"/>
          <p:cNvSpPr txBox="1"/>
          <p:nvPr/>
        </p:nvSpPr>
        <p:spPr>
          <a:xfrm>
            <a:off x="7498080" y="3841344"/>
            <a:ext cx="3986784" cy="256032"/>
          </a:xfrm>
          <a:prstGeom prst="rect">
            <a:avLst/>
          </a:prstGeom>
          <a:noFill/>
        </p:spPr>
        <p:txBody>
          <a:bodyPr wrap="square" lIns="0" rIns="0" tIns="0" bIns="0" anchor="t"/>
          <a:lstStyle/>
          <a:p>
            <a:pPr algn="l"/>
            <a:r>
              <a:rPr sz="1200" b="1" i="0">
                <a:solidFill>
                  <a:srgbClr val="153A49"/>
                </a:solidFill>
                <a:latin typeface="Consolas"/>
              </a:rPr>
              <a:t>apply_gate()</a:t>
            </a:r>
            <a:r>
              <a:rPr sz="1150" b="0" i="0">
                <a:solidFill>
                  <a:srgbClr val="566E7C"/>
                </a:solidFill>
                <a:latin typeface="Calibri"/>
              </a:rPr>
              <a:t>   cosine-squared onset/offset window</a:t>
            </a:r>
          </a:p>
        </p:txBody>
      </p:sp>
      <p:sp>
        <p:nvSpPr>
          <p:cNvPr id="29" name="Oval 29"/>
          <p:cNvSpPr/>
          <p:nvPr/>
        </p:nvSpPr>
        <p:spPr>
          <a:xfrm>
            <a:off x="7132320" y="4262256"/>
            <a:ext cx="256032" cy="256032"/>
          </a:xfrm>
          <a:prstGeom prst="ellipse">
            <a:avLst/>
          </a:prstGeom>
          <a:solidFill>
            <a:srgbClr val="B5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TextBox 30"/>
          <p:cNvSpPr txBox="1"/>
          <p:nvPr/>
        </p:nvSpPr>
        <p:spPr>
          <a:xfrm>
            <a:off x="7498080" y="4262256"/>
            <a:ext cx="3986784" cy="256032"/>
          </a:xfrm>
          <a:prstGeom prst="rect">
            <a:avLst/>
          </a:prstGeom>
          <a:noFill/>
        </p:spPr>
        <p:txBody>
          <a:bodyPr wrap="square" lIns="0" rIns="0" tIns="0" bIns="0" anchor="t"/>
          <a:lstStyle/>
          <a:p>
            <a:pPr algn="l"/>
            <a:r>
              <a:rPr sz="1200" b="1" i="0">
                <a:solidFill>
                  <a:srgbClr val="153A49"/>
                </a:solidFill>
                <a:latin typeface="Consolas"/>
              </a:rPr>
              <a:t>Signal</a:t>
            </a:r>
            <a:r>
              <a:rPr sz="1150" b="0" i="0">
                <a:solidFill>
                  <a:srgbClr val="566E7C"/>
                </a:solidFill>
                <a:latin typeface="Calibri"/>
              </a:rPr>
              <a:t>   the final waveform</a:t>
            </a:r>
          </a:p>
        </p:txBody>
      </p:sp>
      <p:sp>
        <p:nvSpPr>
          <p:cNvPr id="31" name="TextBox 31"/>
          <p:cNvSpPr txBox="1"/>
          <p:nvPr/>
        </p:nvSpPr>
        <p:spPr>
          <a:xfrm>
            <a:off x="7132320" y="4709160"/>
            <a:ext cx="4261104" cy="320040"/>
          </a:xfrm>
          <a:prstGeom prst="rect">
            <a:avLst/>
          </a:prstGeom>
          <a:noFill/>
        </p:spPr>
        <p:txBody>
          <a:bodyPr wrap="square" lIns="0" rIns="0" tIns="0" bIns="0" anchor="t"/>
          <a:lstStyle/>
          <a:p>
            <a:pPr algn="l">
              <a:lnSpc>
                <a:spcPct val="128000"/>
              </a:lnSpc>
            </a:pPr>
            <a:r>
              <a:rPr sz="1100" b="0" i="0">
                <a:solidFill>
                  <a:srgbClr val="566E7C"/>
                </a:solidFill>
                <a:latin typeface="Calibri"/>
              </a:rPr>
              <a:t>Calibration precedes gating: apply_calibration renormalizes before scaling to the lookup-table voltage, which would undo an earlier ramp.</a:t>
            </a:r>
          </a:p>
        </p:txBody>
      </p:sp>
      <p:sp>
        <p:nvSpPr>
          <p:cNvPr id="32" name="Rounded Rectangle 32"/>
          <p:cNvSpPr/>
          <p:nvPr/>
        </p:nvSpPr>
        <p:spPr>
          <a:xfrm>
            <a:off x="6903720" y="5230368"/>
            <a:ext cx="4718304" cy="1000000"/>
          </a:xfrm>
          <a:prstGeom prst="roundRect">
            <a:avLst>
              <a:gd name="adj" fmla="val 9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TextBox 33"/>
          <p:cNvSpPr txBox="1"/>
          <p:nvPr/>
        </p:nvSpPr>
        <p:spPr>
          <a:xfrm>
            <a:off x="7132320" y="5458968"/>
            <a:ext cx="4261104" cy="560832"/>
          </a:xfrm>
          <a:prstGeom prst="rect">
            <a:avLst/>
          </a:prstGeom>
          <a:noFill/>
        </p:spPr>
        <p:txBody>
          <a:bodyPr wrap="square" lIns="0" rIns="0" tIns="0" bIns="0" anchor="t"/>
          <a:lstStyle/>
          <a:p>
            <a:pPr algn="l">
              <a:lnSpc>
                <a:spcPct val="128000"/>
              </a:lnSpc>
            </a:pPr>
            <a:r>
              <a:rPr sz="1150" b="1" i="0">
                <a:solidFill>
                  <a:srgbClr val="0F1E27"/>
                </a:solidFill>
                <a:latin typeface="Calibri"/>
              </a:rPr>
              <a:t>Guarded by the self-test. </a:t>
            </a:r>
            <a:r>
              <a:rPr sz="1150" b="0" i="0">
                <a:solidFill>
                  <a:srgbClr val="566E7C"/>
                </a:solidFill>
                <a:latin typeface="Calibri"/>
              </a:rPr>
              <a:t>Check A3 verifies the pinned commit still satisfies the stimbridge contract, and EPsychInfo.stimgenChksum records it in saved session metadata.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RESULTS</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Psychophysics, online and offline</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psychophysics.Metrics holds the signal-detection arithmetic with no state; the analysis classes run the same code live against a Runtime or post-hoc against a saved DATA array.</a:t>
            </a:r>
          </a:p>
        </p:txBody>
      </p:sp>
      <p:sp>
        <p:nvSpPr>
          <p:cNvPr id="5" name="Rounded Rectangle 5"/>
          <p:cNvSpPr/>
          <p:nvPr/>
        </p:nvSpPr>
        <p:spPr>
          <a:xfrm>
            <a:off x="566928" y="2011680"/>
            <a:ext cx="3703320" cy="1188720"/>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6"/>
          <p:cNvSpPr txBox="1"/>
          <p:nvPr/>
        </p:nvSpPr>
        <p:spPr>
          <a:xfrm>
            <a:off x="795528" y="2240280"/>
            <a:ext cx="3246120" cy="274320"/>
          </a:xfrm>
          <a:prstGeom prst="rect">
            <a:avLst/>
          </a:prstGeom>
          <a:noFill/>
        </p:spPr>
        <p:txBody>
          <a:bodyPr wrap="square" lIns="0" rIns="0" tIns="0" bIns="0" anchor="t"/>
          <a:lstStyle/>
          <a:p>
            <a:pPr algn="l"/>
            <a:r>
              <a:rPr sz="1100" b="1" i="0">
                <a:solidFill>
                  <a:srgbClr val="1D6E8A"/>
                </a:solidFill>
                <a:latin typeface="Arial"/>
              </a:rPr>
              <a:t>ONLINE</a:t>
            </a:r>
          </a:p>
        </p:txBody>
      </p:sp>
      <p:sp>
        <p:nvSpPr>
          <p:cNvPr id="7" name="TextBox 7"/>
          <p:cNvSpPr txBox="1"/>
          <p:nvPr/>
        </p:nvSpPr>
        <p:spPr>
          <a:xfrm>
            <a:off x="795528" y="2560320"/>
            <a:ext cx="3246120" cy="594360"/>
          </a:xfrm>
          <a:prstGeom prst="rect">
            <a:avLst/>
          </a:prstGeom>
          <a:noFill/>
        </p:spPr>
        <p:txBody>
          <a:bodyPr wrap="square" lIns="0" rIns="0" tIns="0" bIns="0" anchor="t"/>
          <a:lstStyle/>
          <a:p>
            <a:pPr algn="l">
              <a:lnSpc>
                <a:spcPct val="130000"/>
              </a:lnSpc>
            </a:pPr>
            <a:r>
              <a:rPr sz="1200" b="0" i="0">
                <a:solidFill>
                  <a:srgbClr val="0F1E27"/>
                </a:solidFill>
                <a:latin typeface="Calibri"/>
              </a:rPr>
              <a:t>Construct with a Runtime. The object subscribes to EVENTS.NewData and updates trial by trial while the session runs.</a:t>
            </a:r>
          </a:p>
        </p:txBody>
      </p:sp>
      <p:sp>
        <p:nvSpPr>
          <p:cNvPr id="8" name="Rounded Rectangle 8"/>
          <p:cNvSpPr/>
          <p:nvPr/>
        </p:nvSpPr>
        <p:spPr>
          <a:xfrm>
            <a:off x="4498848" y="2011680"/>
            <a:ext cx="3703320" cy="1188720"/>
          </a:xfrm>
          <a:prstGeom prst="roundRect">
            <a:avLst>
              <a:gd name="adj" fmla="val 9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9"/>
          <p:cNvSpPr txBox="1"/>
          <p:nvPr/>
        </p:nvSpPr>
        <p:spPr>
          <a:xfrm>
            <a:off x="4727448" y="2240280"/>
            <a:ext cx="3246120" cy="274320"/>
          </a:xfrm>
          <a:prstGeom prst="rect">
            <a:avLst/>
          </a:prstGeom>
          <a:noFill/>
        </p:spPr>
        <p:txBody>
          <a:bodyPr wrap="square" lIns="0" rIns="0" tIns="0" bIns="0" anchor="t"/>
          <a:lstStyle/>
          <a:p>
            <a:pPr algn="l"/>
            <a:r>
              <a:rPr sz="1100" b="1" i="0">
                <a:solidFill>
                  <a:srgbClr val="B5642A"/>
                </a:solidFill>
                <a:latin typeface="Arial"/>
              </a:rPr>
              <a:t>OFFLINE</a:t>
            </a:r>
          </a:p>
        </p:txBody>
      </p:sp>
      <p:sp>
        <p:nvSpPr>
          <p:cNvPr id="10" name="TextBox 10"/>
          <p:cNvSpPr txBox="1"/>
          <p:nvPr/>
        </p:nvSpPr>
        <p:spPr>
          <a:xfrm>
            <a:off x="4727448" y="2560320"/>
            <a:ext cx="3246120" cy="594360"/>
          </a:xfrm>
          <a:prstGeom prst="rect">
            <a:avLst/>
          </a:prstGeom>
          <a:noFill/>
        </p:spPr>
        <p:txBody>
          <a:bodyPr wrap="square" lIns="0" rIns="0" tIns="0" bIns="0" anchor="t"/>
          <a:lstStyle/>
          <a:p>
            <a:pPr algn="l">
              <a:lnSpc>
                <a:spcPct val="130000"/>
              </a:lnSpc>
            </a:pPr>
            <a:r>
              <a:rPr sz="1200" b="0" i="0">
                <a:solidFill>
                  <a:srgbClr val="0F1E27"/>
                </a:solidFill>
                <a:latin typeface="Calibri"/>
              </a:rPr>
              <a:t>Construct with a saved per-trial DATA struct array to compute exactly the same results after the fact.</a:t>
            </a:r>
          </a:p>
        </p:txBody>
      </p:sp>
      <p:sp>
        <p:nvSpPr>
          <p:cNvPr id="11" name="TextBox 11"/>
          <p:cNvSpPr txBox="1"/>
          <p:nvPr/>
        </p:nvSpPr>
        <p:spPr>
          <a:xfrm>
            <a:off x="566928" y="3474720"/>
            <a:ext cx="7635240" cy="274320"/>
          </a:xfrm>
          <a:prstGeom prst="rect">
            <a:avLst/>
          </a:prstGeom>
          <a:noFill/>
        </p:spPr>
        <p:txBody>
          <a:bodyPr wrap="square" lIns="0" rIns="0" tIns="0" bIns="0" anchor="t"/>
          <a:lstStyle/>
          <a:p>
            <a:pPr algn="l"/>
            <a:r>
              <a:rPr sz="1100" b="1" i="0">
                <a:solidFill>
                  <a:srgbClr val="B5642A"/>
                </a:solidFill>
                <a:latin typeface="Arial"/>
              </a:rPr>
              <a:t>THE ANALYSIS CLASSES</a:t>
            </a:r>
          </a:p>
        </p:txBody>
      </p:sp>
      <p:sp>
        <p:nvSpPr>
          <p:cNvPr id="12" name="Rounded Rectangle 12"/>
          <p:cNvSpPr/>
          <p:nvPr/>
        </p:nvSpPr>
        <p:spPr>
          <a:xfrm>
            <a:off x="566928" y="3840480"/>
            <a:ext cx="7635240" cy="365760"/>
          </a:xfrm>
          <a:prstGeom prst="roundRect">
            <a:avLst>
              <a:gd name="adj" fmla="val 11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3"/>
          <p:cNvSpPr txBox="1"/>
          <p:nvPr/>
        </p:nvSpPr>
        <p:spPr>
          <a:xfrm>
            <a:off x="795528" y="3904488"/>
            <a:ext cx="1965960" cy="274320"/>
          </a:xfrm>
          <a:prstGeom prst="rect">
            <a:avLst/>
          </a:prstGeom>
          <a:noFill/>
        </p:spPr>
        <p:txBody>
          <a:bodyPr wrap="square" lIns="0" rIns="0" tIns="0" bIns="0" anchor="t"/>
          <a:lstStyle/>
          <a:p>
            <a:pPr algn="l"/>
            <a:r>
              <a:rPr sz="1250" b="1" i="0">
                <a:solidFill>
                  <a:srgbClr val="1D6E8A"/>
                </a:solidFill>
                <a:latin typeface="Arial"/>
              </a:rPr>
              <a:t>Metrics</a:t>
            </a:r>
          </a:p>
        </p:txBody>
      </p:sp>
      <p:sp>
        <p:nvSpPr>
          <p:cNvPr id="14" name="TextBox 14"/>
          <p:cNvSpPr txBox="1"/>
          <p:nvPr/>
        </p:nvSpPr>
        <p:spPr>
          <a:xfrm>
            <a:off x="2834640" y="3913632"/>
            <a:ext cx="5303520" cy="274320"/>
          </a:xfrm>
          <a:prstGeom prst="rect">
            <a:avLst/>
          </a:prstGeom>
          <a:noFill/>
        </p:spPr>
        <p:txBody>
          <a:bodyPr wrap="square" lIns="0" rIns="0" tIns="0" bIns="0" anchor="t"/>
          <a:lstStyle/>
          <a:p>
            <a:pPr algn="l"/>
            <a:r>
              <a:rPr sz="1100" b="0" i="0">
                <a:solidFill>
                  <a:srgbClr val="566E7C"/>
                </a:solidFill>
                <a:latin typeface="Calibri"/>
              </a:rPr>
              <a:t>d′, criterion, ln β, A′, and the z-transform under them, as statics</a:t>
            </a:r>
          </a:p>
        </p:txBody>
      </p:sp>
      <p:sp>
        <p:nvSpPr>
          <p:cNvPr id="15" name="Rounded Rectangle 15"/>
          <p:cNvSpPr/>
          <p:nvPr/>
        </p:nvSpPr>
        <p:spPr>
          <a:xfrm>
            <a:off x="566928" y="4224528"/>
            <a:ext cx="7635240" cy="365760"/>
          </a:xfrm>
          <a:prstGeom prst="roundRect">
            <a:avLst>
              <a:gd name="adj" fmla="val 11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6"/>
          <p:cNvSpPr txBox="1"/>
          <p:nvPr/>
        </p:nvSpPr>
        <p:spPr>
          <a:xfrm>
            <a:off x="795528" y="4288536"/>
            <a:ext cx="1965960" cy="274320"/>
          </a:xfrm>
          <a:prstGeom prst="rect">
            <a:avLst/>
          </a:prstGeom>
          <a:noFill/>
        </p:spPr>
        <p:txBody>
          <a:bodyPr wrap="square" lIns="0" rIns="0" tIns="0" bIns="0" anchor="t"/>
          <a:lstStyle/>
          <a:p>
            <a:pPr algn="l"/>
            <a:r>
              <a:rPr sz="1250" b="1" i="0">
                <a:solidFill>
                  <a:srgbClr val="1D6E8A"/>
                </a:solidFill>
                <a:latin typeface="Arial"/>
              </a:rPr>
              <a:t>Detection</a:t>
            </a:r>
          </a:p>
        </p:txBody>
      </p:sp>
      <p:sp>
        <p:nvSpPr>
          <p:cNvPr id="17" name="TextBox 17"/>
          <p:cNvSpPr txBox="1"/>
          <p:nvPr/>
        </p:nvSpPr>
        <p:spPr>
          <a:xfrm>
            <a:off x="2834640" y="4297680"/>
            <a:ext cx="5303520" cy="274320"/>
          </a:xfrm>
          <a:prstGeom prst="rect">
            <a:avLst/>
          </a:prstGeom>
          <a:noFill/>
        </p:spPr>
        <p:txBody>
          <a:bodyPr wrap="square" lIns="0" rIns="0" tIns="0" bIns="0" anchor="t"/>
          <a:lstStyle/>
          <a:p>
            <a:pPr algn="l"/>
            <a:r>
              <a:rPr sz="1100" b="0" i="0">
                <a:solidFill>
                  <a:srgbClr val="566E7C"/>
                </a:solidFill>
                <a:latin typeface="Calibri"/>
              </a:rPr>
              <a:t>Hit rate, false alarm rate and sensitivity per stimulus value</a:t>
            </a:r>
          </a:p>
        </p:txBody>
      </p:sp>
      <p:sp>
        <p:nvSpPr>
          <p:cNvPr id="18" name="Rounded Rectangle 18"/>
          <p:cNvSpPr/>
          <p:nvPr/>
        </p:nvSpPr>
        <p:spPr>
          <a:xfrm>
            <a:off x="566928" y="4608576"/>
            <a:ext cx="7635240" cy="365760"/>
          </a:xfrm>
          <a:prstGeom prst="roundRect">
            <a:avLst>
              <a:gd name="adj" fmla="val 11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9"/>
          <p:cNvSpPr txBox="1"/>
          <p:nvPr/>
        </p:nvSpPr>
        <p:spPr>
          <a:xfrm>
            <a:off x="795528" y="4672584"/>
            <a:ext cx="1965960" cy="274320"/>
          </a:xfrm>
          <a:prstGeom prst="rect">
            <a:avLst/>
          </a:prstGeom>
          <a:noFill/>
        </p:spPr>
        <p:txBody>
          <a:bodyPr wrap="square" lIns="0" rIns="0" tIns="0" bIns="0" anchor="t"/>
          <a:lstStyle/>
          <a:p>
            <a:pPr algn="l"/>
            <a:r>
              <a:rPr sz="1250" b="1" i="0">
                <a:solidFill>
                  <a:srgbClr val="1D6E8A"/>
                </a:solidFill>
                <a:latin typeface="Arial"/>
              </a:rPr>
              <a:t>NAFC</a:t>
            </a:r>
          </a:p>
        </p:txBody>
      </p:sp>
      <p:sp>
        <p:nvSpPr>
          <p:cNvPr id="20" name="TextBox 20"/>
          <p:cNvSpPr txBox="1"/>
          <p:nvPr/>
        </p:nvSpPr>
        <p:spPr>
          <a:xfrm>
            <a:off x="2834640" y="4681728"/>
            <a:ext cx="5303520" cy="274320"/>
          </a:xfrm>
          <a:prstGeom prst="rect">
            <a:avLst/>
          </a:prstGeom>
          <a:noFill/>
        </p:spPr>
        <p:txBody>
          <a:bodyPr wrap="square" lIns="0" rIns="0" tIns="0" bIns="0" anchor="t"/>
          <a:lstStyle/>
          <a:p>
            <a:pPr algn="l"/>
            <a:r>
              <a:rPr sz="1100" b="0" i="0">
                <a:solidFill>
                  <a:srgbClr val="566E7C"/>
                </a:solidFill>
                <a:latin typeface="Calibri"/>
              </a:rPr>
              <a:t>N-alternative forced choice: choice functions, confusion matrix, bias</a:t>
            </a:r>
          </a:p>
        </p:txBody>
      </p:sp>
      <p:sp>
        <p:nvSpPr>
          <p:cNvPr id="21" name="Rounded Rectangle 21"/>
          <p:cNvSpPr/>
          <p:nvPr/>
        </p:nvSpPr>
        <p:spPr>
          <a:xfrm>
            <a:off x="566928" y="4992624"/>
            <a:ext cx="7635240" cy="365760"/>
          </a:xfrm>
          <a:prstGeom prst="roundRect">
            <a:avLst>
              <a:gd name="adj" fmla="val 11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2"/>
          <p:cNvSpPr txBox="1"/>
          <p:nvPr/>
        </p:nvSpPr>
        <p:spPr>
          <a:xfrm>
            <a:off x="795528" y="5056632"/>
            <a:ext cx="1965960" cy="274320"/>
          </a:xfrm>
          <a:prstGeom prst="rect">
            <a:avLst/>
          </a:prstGeom>
          <a:noFill/>
        </p:spPr>
        <p:txBody>
          <a:bodyPr wrap="square" lIns="0" rIns="0" tIns="0" bIns="0" anchor="t"/>
          <a:lstStyle/>
          <a:p>
            <a:pPr algn="l"/>
            <a:r>
              <a:rPr sz="1250" b="1" i="0">
                <a:solidFill>
                  <a:srgbClr val="1D6E8A"/>
                </a:solidFill>
                <a:latin typeface="Arial"/>
              </a:rPr>
              <a:t>SessionMetrics</a:t>
            </a:r>
          </a:p>
        </p:txBody>
      </p:sp>
      <p:sp>
        <p:nvSpPr>
          <p:cNvPr id="23" name="TextBox 23"/>
          <p:cNvSpPr txBox="1"/>
          <p:nvPr/>
        </p:nvSpPr>
        <p:spPr>
          <a:xfrm>
            <a:off x="2834640" y="5065776"/>
            <a:ext cx="5303520" cy="274320"/>
          </a:xfrm>
          <a:prstGeom prst="rect">
            <a:avLst/>
          </a:prstGeom>
          <a:noFill/>
        </p:spPr>
        <p:txBody>
          <a:bodyPr wrap="square" lIns="0" rIns="0" tIns="0" bIns="0" anchor="t"/>
          <a:lstStyle/>
          <a:p>
            <a:pPr algn="l"/>
            <a:r>
              <a:rPr sz="1100" b="0" i="0">
                <a:solidFill>
                  <a:srgbClr val="566E7C"/>
                </a:solidFill>
                <a:latin typeface="Calibri"/>
              </a:rPr>
              <a:t>Session counts and rates over a psychophysics.TrialWindow</a:t>
            </a:r>
          </a:p>
        </p:txBody>
      </p:sp>
      <p:sp>
        <p:nvSpPr>
          <p:cNvPr id="24" name="Rounded Rectangle 24"/>
          <p:cNvSpPr/>
          <p:nvPr/>
        </p:nvSpPr>
        <p:spPr>
          <a:xfrm>
            <a:off x="566928" y="5376672"/>
            <a:ext cx="7635240" cy="365760"/>
          </a:xfrm>
          <a:prstGeom prst="roundRect">
            <a:avLst>
              <a:gd name="adj" fmla="val 11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5"/>
          <p:cNvSpPr txBox="1"/>
          <p:nvPr/>
        </p:nvSpPr>
        <p:spPr>
          <a:xfrm>
            <a:off x="795528" y="5440680"/>
            <a:ext cx="1965960" cy="274320"/>
          </a:xfrm>
          <a:prstGeom prst="rect">
            <a:avLst/>
          </a:prstGeom>
          <a:noFill/>
        </p:spPr>
        <p:txBody>
          <a:bodyPr wrap="square" lIns="0" rIns="0" tIns="0" bIns="0" anchor="t"/>
          <a:lstStyle/>
          <a:p>
            <a:pPr algn="l"/>
            <a:r>
              <a:rPr sz="1250" b="1" i="0">
                <a:solidFill>
                  <a:srgbClr val="1D6E8A"/>
                </a:solidFill>
                <a:latin typeface="Arial"/>
              </a:rPr>
              <a:t>Staircase</a:t>
            </a:r>
          </a:p>
        </p:txBody>
      </p:sp>
      <p:sp>
        <p:nvSpPr>
          <p:cNvPr id="26" name="TextBox 26"/>
          <p:cNvSpPr txBox="1"/>
          <p:nvPr/>
        </p:nvSpPr>
        <p:spPr>
          <a:xfrm>
            <a:off x="2834640" y="5449824"/>
            <a:ext cx="5303520" cy="274320"/>
          </a:xfrm>
          <a:prstGeom prst="rect">
            <a:avLst/>
          </a:prstGeom>
          <a:noFill/>
        </p:spPr>
        <p:txBody>
          <a:bodyPr wrap="square" lIns="0" rIns="0" tIns="0" bIns="0" anchor="t"/>
          <a:lstStyle/>
          <a:p>
            <a:pPr algn="l"/>
            <a:r>
              <a:rPr sz="1100" b="0" i="0">
                <a:solidFill>
                  <a:srgbClr val="566E7C"/>
                </a:solidFill>
                <a:latin typeface="Calibri"/>
              </a:rPr>
              <a:t>Reversal detection and threshold estimation</a:t>
            </a:r>
          </a:p>
        </p:txBody>
      </p:sp>
      <p:sp>
        <p:nvSpPr>
          <p:cNvPr id="27" name="Rounded Rectangle 27"/>
          <p:cNvSpPr/>
          <p:nvPr/>
        </p:nvSpPr>
        <p:spPr>
          <a:xfrm>
            <a:off x="566928" y="5760720"/>
            <a:ext cx="7635240" cy="365760"/>
          </a:xfrm>
          <a:prstGeom prst="roundRect">
            <a:avLst>
              <a:gd name="adj" fmla="val 11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TextBox 28"/>
          <p:cNvSpPr txBox="1"/>
          <p:nvPr/>
        </p:nvSpPr>
        <p:spPr>
          <a:xfrm>
            <a:off x="795528" y="5824728"/>
            <a:ext cx="1965960" cy="274320"/>
          </a:xfrm>
          <a:prstGeom prst="rect">
            <a:avLst/>
          </a:prstGeom>
          <a:noFill/>
        </p:spPr>
        <p:txBody>
          <a:bodyPr wrap="square" lIns="0" rIns="0" tIns="0" bIns="0" anchor="t"/>
          <a:lstStyle/>
          <a:p>
            <a:pPr algn="l"/>
            <a:r>
              <a:rPr sz="1250" b="1" i="0">
                <a:solidFill>
                  <a:srgbClr val="1D6E8A"/>
                </a:solidFill>
                <a:latin typeface="Arial"/>
              </a:rPr>
              <a:t>BestPEST</a:t>
            </a:r>
          </a:p>
        </p:txBody>
      </p:sp>
      <p:sp>
        <p:nvSpPr>
          <p:cNvPr id="29" name="TextBox 29"/>
          <p:cNvSpPr txBox="1"/>
          <p:nvPr/>
        </p:nvSpPr>
        <p:spPr>
          <a:xfrm>
            <a:off x="2834640" y="5833872"/>
            <a:ext cx="5303520" cy="274320"/>
          </a:xfrm>
          <a:prstGeom prst="rect">
            <a:avLst/>
          </a:prstGeom>
          <a:noFill/>
        </p:spPr>
        <p:txBody>
          <a:bodyPr wrap="square" lIns="0" rIns="0" tIns="0" bIns="0" anchor="t"/>
          <a:lstStyle/>
          <a:p>
            <a:pPr algn="l"/>
            <a:r>
              <a:rPr sz="1100" b="0" i="0">
                <a:solidFill>
                  <a:srgbClr val="566E7C"/>
                </a:solidFill>
                <a:latin typeface="Calibri"/>
              </a:rPr>
              <a:t>Maximum-likelihood threshold tracking</a:t>
            </a:r>
          </a:p>
        </p:txBody>
      </p:sp>
      <p:sp>
        <p:nvSpPr>
          <p:cNvPr id="30" name="Rounded Rectangle 30"/>
          <p:cNvSpPr/>
          <p:nvPr/>
        </p:nvSpPr>
        <p:spPr>
          <a:xfrm>
            <a:off x="566928" y="6144768"/>
            <a:ext cx="7635240" cy="365760"/>
          </a:xfrm>
          <a:prstGeom prst="roundRect">
            <a:avLst>
              <a:gd name="adj" fmla="val 11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1"/>
          <p:cNvSpPr txBox="1"/>
          <p:nvPr/>
        </p:nvSpPr>
        <p:spPr>
          <a:xfrm>
            <a:off x="795528" y="6208776"/>
            <a:ext cx="1965960" cy="274320"/>
          </a:xfrm>
          <a:prstGeom prst="rect">
            <a:avLst/>
          </a:prstGeom>
          <a:noFill/>
        </p:spPr>
        <p:txBody>
          <a:bodyPr wrap="square" lIns="0" rIns="0" tIns="0" bIns="0" anchor="t"/>
          <a:lstStyle/>
          <a:p>
            <a:pPr algn="l"/>
            <a:r>
              <a:rPr sz="1250" b="1" i="0">
                <a:solidFill>
                  <a:srgbClr val="1D6E8A"/>
                </a:solidFill>
                <a:latin typeface="Arial"/>
              </a:rPr>
              <a:t>MLP</a:t>
            </a:r>
          </a:p>
        </p:txBody>
      </p:sp>
      <p:sp>
        <p:nvSpPr>
          <p:cNvPr id="32" name="TextBox 32"/>
          <p:cNvSpPr txBox="1"/>
          <p:nvPr/>
        </p:nvSpPr>
        <p:spPr>
          <a:xfrm>
            <a:off x="2834640" y="6217920"/>
            <a:ext cx="5303520" cy="274320"/>
          </a:xfrm>
          <a:prstGeom prst="rect">
            <a:avLst/>
          </a:prstGeom>
          <a:noFill/>
        </p:spPr>
        <p:txBody>
          <a:bodyPr wrap="square" lIns="0" rIns="0" tIns="0" bIns="0" anchor="t"/>
          <a:lstStyle/>
          <a:p>
            <a:pPr algn="l"/>
            <a:r>
              <a:rPr sz="1100" b="0" i="0">
                <a:solidFill>
                  <a:srgbClr val="566E7C"/>
                </a:solidFill>
                <a:latin typeface="Calibri"/>
              </a:rPr>
              <a:t>Bayesian estimation with sweet-point placement</a:t>
            </a:r>
          </a:p>
        </p:txBody>
      </p:sp>
      <p:sp>
        <p:nvSpPr>
          <p:cNvPr id="33" name="Rounded Rectangle 33"/>
          <p:cNvSpPr/>
          <p:nvPr/>
        </p:nvSpPr>
        <p:spPr>
          <a:xfrm>
            <a:off x="8543239" y="3474720"/>
            <a:ext cx="3081528" cy="1737360"/>
          </a:xfrm>
          <a:prstGeom prst="roundRect">
            <a:avLst>
              <a:gd name="adj" fmla="val 9000"/>
            </a:avLst>
          </a:prstGeom>
          <a:solidFill>
            <a:srgbClr val="0E28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TextBox 34"/>
          <p:cNvSpPr txBox="1"/>
          <p:nvPr/>
        </p:nvSpPr>
        <p:spPr>
          <a:xfrm>
            <a:off x="8771839" y="3703320"/>
            <a:ext cx="2624328" cy="274320"/>
          </a:xfrm>
          <a:prstGeom prst="rect">
            <a:avLst/>
          </a:prstGeom>
          <a:noFill/>
        </p:spPr>
        <p:txBody>
          <a:bodyPr wrap="square" lIns="0" rIns="0" tIns="0" bIns="0" anchor="t"/>
          <a:lstStyle/>
          <a:p>
            <a:pPr algn="l"/>
            <a:r>
              <a:rPr sz="1100" b="1" i="0">
                <a:solidFill>
                  <a:srgbClr val="E09353"/>
                </a:solidFill>
                <a:latin typeface="Arial"/>
              </a:rPr>
              <a:t>OUTCOME ENCODING</a:t>
            </a:r>
          </a:p>
        </p:txBody>
      </p:sp>
      <p:sp>
        <p:nvSpPr>
          <p:cNvPr id="35" name="TextBox 35"/>
          <p:cNvSpPr txBox="1"/>
          <p:nvPr/>
        </p:nvSpPr>
        <p:spPr>
          <a:xfrm>
            <a:off x="8771839" y="4023360"/>
            <a:ext cx="2624328" cy="838200"/>
          </a:xfrm>
          <a:prstGeom prst="rect">
            <a:avLst/>
          </a:prstGeom>
          <a:noFill/>
        </p:spPr>
        <p:txBody>
          <a:bodyPr wrap="square" lIns="0" rIns="0" tIns="0" bIns="0" anchor="t"/>
          <a:lstStyle/>
          <a:p>
            <a:pPr algn="l">
              <a:lnSpc>
                <a:spcPct val="132000"/>
              </a:lnSpc>
            </a:pPr>
            <a:r>
              <a:rPr sz="1250" b="1" i="0">
                <a:solidFill>
                  <a:srgbClr val="FFFFFF"/>
                </a:solidFill>
                <a:latin typeface="Consolas"/>
              </a:rPr>
              <a:t>epsych.BitMask</a:t>
            </a:r>
            <a:r>
              <a:rPr sz="1250" b="0" i="0">
                <a:solidFill>
                  <a:srgbClr val="B8CDD8"/>
                </a:solidFill>
                <a:latin typeface="Calibri"/>
              </a:rPr>
              <a:t> is a uint32 enumeration packing a trial's outcome bits into one value that every analysis class decodes the same way.</a:t>
            </a:r>
          </a:p>
        </p:txBody>
      </p:sp>
      <p:sp>
        <p:nvSpPr>
          <p:cNvPr id="36" name="Rounded Rectangle 36"/>
          <p:cNvSpPr/>
          <p:nvPr/>
        </p:nvSpPr>
        <p:spPr>
          <a:xfrm>
            <a:off x="8543239" y="5385816"/>
            <a:ext cx="3081528" cy="838704"/>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TextBox 37"/>
          <p:cNvSpPr txBox="1"/>
          <p:nvPr/>
        </p:nvSpPr>
        <p:spPr>
          <a:xfrm>
            <a:off x="8771839" y="5614416"/>
            <a:ext cx="2624328" cy="274320"/>
          </a:xfrm>
          <a:prstGeom prst="rect">
            <a:avLst/>
          </a:prstGeom>
          <a:noFill/>
        </p:spPr>
        <p:txBody>
          <a:bodyPr wrap="square" lIns="0" rIns="0" tIns="0" bIns="0" anchor="t"/>
          <a:lstStyle/>
          <a:p>
            <a:pPr algn="l"/>
            <a:r>
              <a:rPr sz="1100" b="1" i="0">
                <a:solidFill>
                  <a:srgbClr val="1D6E8A"/>
                </a:solidFill>
                <a:latin typeface="Arial"/>
              </a:rPr>
              <a:t>ABORTS ARE EXCLUDED</a:t>
            </a:r>
          </a:p>
        </p:txBody>
      </p:sp>
      <p:sp>
        <p:nvSpPr>
          <p:cNvPr id="38" name="TextBox 38"/>
          <p:cNvSpPr txBox="1"/>
          <p:nvPr/>
        </p:nvSpPr>
        <p:spPr>
          <a:xfrm>
            <a:off x="8771839" y="5934456"/>
            <a:ext cx="2624328" cy="560832"/>
          </a:xfrm>
          <a:prstGeom prst="rect">
            <a:avLst/>
          </a:prstGeom>
          <a:noFill/>
        </p:spPr>
        <p:txBody>
          <a:bodyPr wrap="square" lIns="0" rIns="0" tIns="0" bIns="0" anchor="t"/>
          <a:lstStyle/>
          <a:p>
            <a:pPr algn="l">
              <a:lnSpc>
                <a:spcPct val="128000"/>
              </a:lnSpc>
            </a:pPr>
            <a:r>
              <a:rPr sz="1150" b="0" i="0">
                <a:solidFill>
                  <a:srgbClr val="0F1E27"/>
                </a:solidFill>
                <a:latin typeface="Calibri"/>
              </a:rPr>
              <a:t>An abort is a lapse of engagement, not a wrong answer. IncludeAborts opts back 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PARADIGM UI</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Build a behavior GUI from components</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gui.BehaviorGUI owns lifecycle, listeners, position preferences and teardown. A subclass writes build(fig) and the event hooks.</a:t>
            </a:r>
          </a:p>
        </p:txBody>
      </p:sp>
      <p:sp>
        <p:nvSpPr>
          <p:cNvPr id="5" name="Rounded Rectangle 5"/>
          <p:cNvSpPr/>
          <p:nvPr/>
        </p:nvSpPr>
        <p:spPr>
          <a:xfrm>
            <a:off x="566928" y="1828800"/>
            <a:ext cx="5532120" cy="2926080"/>
          </a:xfrm>
          <a:prstGeom prst="roundRect">
            <a:avLst>
              <a:gd name="adj" fmla="val 9000"/>
            </a:avLst>
          </a:prstGeom>
          <a:solidFill>
            <a:srgbClr val="0E28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6"/>
          <p:cNvSpPr txBox="1"/>
          <p:nvPr/>
        </p:nvSpPr>
        <p:spPr>
          <a:xfrm>
            <a:off x="795528" y="2057400"/>
            <a:ext cx="5074920" cy="219456"/>
          </a:xfrm>
          <a:prstGeom prst="rect">
            <a:avLst/>
          </a:prstGeom>
          <a:noFill/>
        </p:spPr>
        <p:txBody>
          <a:bodyPr wrap="square" lIns="0" rIns="0" tIns="0" bIns="0" anchor="t"/>
          <a:lstStyle/>
          <a:p>
            <a:pPr algn="l"/>
            <a:r>
              <a:rPr sz="1150" b="0" i="0">
                <a:solidFill>
                  <a:srgbClr val="8FD4EC"/>
                </a:solidFill>
                <a:latin typeface="Consolas"/>
              </a:rPr>
              <a:t>classdef MyGUI &lt; gui.BehaviorGUI</a:t>
            </a:r>
          </a:p>
        </p:txBody>
      </p:sp>
      <p:sp>
        <p:nvSpPr>
          <p:cNvPr id="7" name="TextBox 7"/>
          <p:cNvSpPr txBox="1"/>
          <p:nvPr/>
        </p:nvSpPr>
        <p:spPr>
          <a:xfrm>
            <a:off x="795528" y="2276856"/>
            <a:ext cx="5074920" cy="219456"/>
          </a:xfrm>
          <a:prstGeom prst="rect">
            <a:avLst/>
          </a:prstGeom>
          <a:noFill/>
        </p:spPr>
        <p:txBody>
          <a:bodyPr wrap="square" lIns="0" rIns="0" tIns="0" bIns="0" anchor="t"/>
          <a:lstStyle/>
          <a:p>
            <a:pPr algn="l"/>
            <a:r>
              <a:rPr sz="1150" b="0" i="0">
                <a:solidFill>
                  <a:srgbClr val="9FB4BF"/>
                </a:solidFill>
                <a:latin typeface="Consolas"/>
              </a:rPr>
              <a:t>  methods (Access = protected)</a:t>
            </a:r>
          </a:p>
        </p:txBody>
      </p:sp>
      <p:sp>
        <p:nvSpPr>
          <p:cNvPr id="8" name="TextBox 8"/>
          <p:cNvSpPr txBox="1"/>
          <p:nvPr/>
        </p:nvSpPr>
        <p:spPr>
          <a:xfrm>
            <a:off x="795528" y="2496312"/>
            <a:ext cx="5074920" cy="219456"/>
          </a:xfrm>
          <a:prstGeom prst="rect">
            <a:avLst/>
          </a:prstGeom>
          <a:noFill/>
        </p:spPr>
        <p:txBody>
          <a:bodyPr wrap="square" lIns="0" rIns="0" tIns="0" bIns="0" anchor="t"/>
          <a:lstStyle/>
          <a:p>
            <a:pPr algn="l"/>
            <a:r>
              <a:rPr sz="1150" b="0" i="0">
                <a:solidFill>
                  <a:srgbClr val="9FB4BF"/>
                </a:solidFill>
                <a:latin typeface="Consolas"/>
              </a:rPr>
              <a:t>    function build(obj, fig)</a:t>
            </a:r>
          </a:p>
        </p:txBody>
      </p:sp>
      <p:sp>
        <p:nvSpPr>
          <p:cNvPr id="9" name="TextBox 9"/>
          <p:cNvSpPr txBox="1"/>
          <p:nvPr/>
        </p:nvSpPr>
        <p:spPr>
          <a:xfrm>
            <a:off x="795528" y="2715768"/>
            <a:ext cx="5074920" cy="219456"/>
          </a:xfrm>
          <a:prstGeom prst="rect">
            <a:avLst/>
          </a:prstGeom>
          <a:noFill/>
        </p:spPr>
        <p:txBody>
          <a:bodyPr wrap="square" lIns="0" rIns="0" tIns="0" bIns="0" anchor="t"/>
          <a:lstStyle/>
          <a:p>
            <a:pPr algn="l"/>
            <a:r>
              <a:rPr sz="1150" b="0" i="0">
                <a:solidFill>
                  <a:srgbClr val="FFFFFF"/>
                </a:solidFill>
                <a:latin typeface="Consolas"/>
              </a:rPr>
              <a:t>      obj.addControl('Stim_Level')</a:t>
            </a:r>
          </a:p>
        </p:txBody>
      </p:sp>
      <p:sp>
        <p:nvSpPr>
          <p:cNvPr id="10" name="TextBox 10"/>
          <p:cNvSpPr txBox="1"/>
          <p:nvPr/>
        </p:nvSpPr>
        <p:spPr>
          <a:xfrm>
            <a:off x="795528" y="2935224"/>
            <a:ext cx="5074920" cy="219456"/>
          </a:xfrm>
          <a:prstGeom prst="rect">
            <a:avLst/>
          </a:prstGeom>
          <a:noFill/>
        </p:spPr>
        <p:txBody>
          <a:bodyPr wrap="square" lIns="0" rIns="0" tIns="0" bIns="0" anchor="t"/>
          <a:lstStyle/>
          <a:p>
            <a:pPr algn="l"/>
            <a:r>
              <a:rPr sz="1150" b="0" i="0">
                <a:solidFill>
                  <a:srgbClr val="FFFFFF"/>
                </a:solidFill>
                <a:latin typeface="Consolas"/>
              </a:rPr>
              <a:t>      obj.addHistory()</a:t>
            </a:r>
          </a:p>
        </p:txBody>
      </p:sp>
      <p:sp>
        <p:nvSpPr>
          <p:cNvPr id="11" name="TextBox 11"/>
          <p:cNvSpPr txBox="1"/>
          <p:nvPr/>
        </p:nvSpPr>
        <p:spPr>
          <a:xfrm>
            <a:off x="795528" y="3154680"/>
            <a:ext cx="5074920" cy="219456"/>
          </a:xfrm>
          <a:prstGeom prst="rect">
            <a:avLst/>
          </a:prstGeom>
          <a:noFill/>
        </p:spPr>
        <p:txBody>
          <a:bodyPr wrap="square" lIns="0" rIns="0" tIns="0" bIns="0" anchor="t"/>
          <a:lstStyle/>
          <a:p>
            <a:pPr algn="l"/>
            <a:r>
              <a:rPr sz="1150" b="0" i="0">
                <a:solidFill>
                  <a:srgbClr val="FFFFFF"/>
                </a:solidFill>
                <a:latin typeface="Consolas"/>
              </a:rPr>
              <a:t>      obj.addPsychPlot()</a:t>
            </a:r>
          </a:p>
        </p:txBody>
      </p:sp>
      <p:sp>
        <p:nvSpPr>
          <p:cNvPr id="12" name="TextBox 12"/>
          <p:cNvSpPr txBox="1"/>
          <p:nvPr/>
        </p:nvSpPr>
        <p:spPr>
          <a:xfrm>
            <a:off x="795528" y="3374136"/>
            <a:ext cx="5074920" cy="219456"/>
          </a:xfrm>
          <a:prstGeom prst="rect">
            <a:avLst/>
          </a:prstGeom>
          <a:noFill/>
        </p:spPr>
        <p:txBody>
          <a:bodyPr wrap="square" lIns="0" rIns="0" tIns="0" bIns="0" anchor="t"/>
          <a:lstStyle/>
          <a:p>
            <a:pPr algn="l"/>
            <a:r>
              <a:rPr sz="1150" b="0" i="0">
                <a:solidFill>
                  <a:srgbClr val="FFFFFF"/>
                </a:solidFill>
                <a:latin typeface="Consolas"/>
              </a:rPr>
              <a:t>      obj.addSessionPerformance()</a:t>
            </a:r>
          </a:p>
        </p:txBody>
      </p:sp>
      <p:sp>
        <p:nvSpPr>
          <p:cNvPr id="13" name="TextBox 13"/>
          <p:cNvSpPr txBox="1"/>
          <p:nvPr/>
        </p:nvSpPr>
        <p:spPr>
          <a:xfrm>
            <a:off x="795528" y="3593592"/>
            <a:ext cx="5074920" cy="219456"/>
          </a:xfrm>
          <a:prstGeom prst="rect">
            <a:avLst/>
          </a:prstGeom>
          <a:noFill/>
        </p:spPr>
        <p:txBody>
          <a:bodyPr wrap="square" lIns="0" rIns="0" tIns="0" bIns="0" anchor="t"/>
          <a:lstStyle/>
          <a:p>
            <a:pPr algn="l"/>
            <a:r>
              <a:rPr sz="1150" b="0" i="0">
                <a:solidFill>
                  <a:srgbClr val="FFFFFF"/>
                </a:solidFill>
                <a:latin typeface="Consolas"/>
              </a:rPr>
              <a:t>      obj.addNotesButton()</a:t>
            </a:r>
          </a:p>
        </p:txBody>
      </p:sp>
      <p:sp>
        <p:nvSpPr>
          <p:cNvPr id="14" name="TextBox 14"/>
          <p:cNvSpPr txBox="1"/>
          <p:nvPr/>
        </p:nvSpPr>
        <p:spPr>
          <a:xfrm>
            <a:off x="795528" y="3813048"/>
            <a:ext cx="5074920" cy="219456"/>
          </a:xfrm>
          <a:prstGeom prst="rect">
            <a:avLst/>
          </a:prstGeom>
          <a:noFill/>
        </p:spPr>
        <p:txBody>
          <a:bodyPr wrap="square" lIns="0" rIns="0" tIns="0" bIns="0" anchor="t"/>
          <a:lstStyle/>
          <a:p>
            <a:pPr algn="l"/>
            <a:r>
              <a:rPr sz="1150" b="0" i="0">
                <a:solidFill>
                  <a:srgbClr val="FFFFFF"/>
                </a:solidFill>
                <a:latin typeface="Consolas"/>
              </a:rPr>
              <a:t>      obj.addComponentToolbar()</a:t>
            </a:r>
          </a:p>
        </p:txBody>
      </p:sp>
      <p:sp>
        <p:nvSpPr>
          <p:cNvPr id="15" name="TextBox 15"/>
          <p:cNvSpPr txBox="1"/>
          <p:nvPr/>
        </p:nvSpPr>
        <p:spPr>
          <a:xfrm>
            <a:off x="795528" y="4032504"/>
            <a:ext cx="5074920" cy="219456"/>
          </a:xfrm>
          <a:prstGeom prst="rect">
            <a:avLst/>
          </a:prstGeom>
          <a:noFill/>
        </p:spPr>
        <p:txBody>
          <a:bodyPr wrap="square" lIns="0" rIns="0" tIns="0" bIns="0" anchor="t"/>
          <a:lstStyle/>
          <a:p>
            <a:pPr algn="l"/>
            <a:r>
              <a:rPr sz="1150" b="0" i="0">
                <a:solidFill>
                  <a:srgbClr val="9FB4BF"/>
                </a:solidFill>
                <a:latin typeface="Consolas"/>
              </a:rPr>
              <a:t>    end</a:t>
            </a:r>
          </a:p>
        </p:txBody>
      </p:sp>
      <p:sp>
        <p:nvSpPr>
          <p:cNvPr id="16" name="TextBox 16"/>
          <p:cNvSpPr txBox="1"/>
          <p:nvPr/>
        </p:nvSpPr>
        <p:spPr>
          <a:xfrm>
            <a:off x="795528" y="4251960"/>
            <a:ext cx="5074920" cy="219456"/>
          </a:xfrm>
          <a:prstGeom prst="rect">
            <a:avLst/>
          </a:prstGeom>
          <a:noFill/>
        </p:spPr>
        <p:txBody>
          <a:bodyPr wrap="square" lIns="0" rIns="0" tIns="0" bIns="0" anchor="t"/>
          <a:lstStyle/>
          <a:p>
            <a:pPr algn="l"/>
            <a:r>
              <a:rPr sz="1150" b="0" i="0">
                <a:solidFill>
                  <a:srgbClr val="9FB4BF"/>
                </a:solidFill>
                <a:latin typeface="Consolas"/>
              </a:rPr>
              <a:t>  end</a:t>
            </a:r>
          </a:p>
        </p:txBody>
      </p:sp>
      <p:sp>
        <p:nvSpPr>
          <p:cNvPr id="17" name="TextBox 17"/>
          <p:cNvSpPr txBox="1"/>
          <p:nvPr/>
        </p:nvSpPr>
        <p:spPr>
          <a:xfrm>
            <a:off x="795528" y="4471416"/>
            <a:ext cx="5074920" cy="219456"/>
          </a:xfrm>
          <a:prstGeom prst="rect">
            <a:avLst/>
          </a:prstGeom>
          <a:noFill/>
        </p:spPr>
        <p:txBody>
          <a:bodyPr wrap="square" lIns="0" rIns="0" tIns="0" bIns="0" anchor="t"/>
          <a:lstStyle/>
          <a:p>
            <a:pPr algn="l"/>
            <a:r>
              <a:rPr sz="1150" b="0" i="0">
                <a:solidFill>
                  <a:srgbClr val="8FD4EC"/>
                </a:solidFill>
                <a:latin typeface="Consolas"/>
              </a:rPr>
              <a:t>end</a:t>
            </a:r>
          </a:p>
        </p:txBody>
      </p:sp>
      <p:sp>
        <p:nvSpPr>
          <p:cNvPr id="18" name="Rounded Rectangle 18"/>
          <p:cNvSpPr/>
          <p:nvPr/>
        </p:nvSpPr>
        <p:spPr>
          <a:xfrm>
            <a:off x="566928" y="4937760"/>
            <a:ext cx="5532120" cy="1216152"/>
          </a:xfrm>
          <a:prstGeom prst="roundRect">
            <a:avLst>
              <a:gd name="adj" fmla="val 9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9"/>
          <p:cNvSpPr txBox="1"/>
          <p:nvPr/>
        </p:nvSpPr>
        <p:spPr>
          <a:xfrm>
            <a:off x="795528" y="5166360"/>
            <a:ext cx="5074920" cy="274320"/>
          </a:xfrm>
          <a:prstGeom prst="rect">
            <a:avLst/>
          </a:prstGeom>
          <a:noFill/>
        </p:spPr>
        <p:txBody>
          <a:bodyPr wrap="square" lIns="0" rIns="0" tIns="0" bIns="0" anchor="t"/>
          <a:lstStyle/>
          <a:p>
            <a:pPr algn="l"/>
            <a:r>
              <a:rPr sz="1100" b="1" i="0">
                <a:solidFill>
                  <a:srgbClr val="B5642A"/>
                </a:solidFill>
                <a:latin typeface="Arial"/>
              </a:rPr>
              <a:t>GENERATED OR HAND-WRITTEN, SAME RULES</a:t>
            </a:r>
          </a:p>
        </p:txBody>
      </p:sp>
      <p:sp>
        <p:nvSpPr>
          <p:cNvPr id="20" name="TextBox 20"/>
          <p:cNvSpPr txBox="1"/>
          <p:nvPr/>
        </p:nvSpPr>
        <p:spPr>
          <a:xfrm>
            <a:off x="795528" y="5486400"/>
            <a:ext cx="5074920" cy="780288"/>
          </a:xfrm>
          <a:prstGeom prst="rect">
            <a:avLst/>
          </a:prstGeom>
          <a:noFill/>
        </p:spPr>
        <p:txBody>
          <a:bodyPr wrap="square" lIns="0" rIns="0" tIns="0" bIns="0" anchor="t"/>
          <a:lstStyle/>
          <a:p>
            <a:pPr algn="l">
              <a:lnSpc>
                <a:spcPct val="128000"/>
              </a:lnSpc>
            </a:pPr>
            <a:r>
              <a:rPr sz="1200" b="0" i="0">
                <a:solidFill>
                  <a:srgbClr val="0F1E27"/>
                </a:solidFill>
                <a:latin typeface="Calibri"/>
              </a:rPr>
              <a:t>Each add* helper registers what it builds for teardown. A helper whose component the session cannot supply returns empty and logs at debug level rather than throwing, which is what keeps a GUI openable against a runtime with no interfaces.</a:t>
            </a:r>
          </a:p>
        </p:txBody>
      </p:sp>
      <p:sp>
        <p:nvSpPr>
          <p:cNvPr id="21" name="Rounded Rectangle 21"/>
          <p:cNvSpPr/>
          <p:nvPr/>
        </p:nvSpPr>
        <p:spPr>
          <a:xfrm>
            <a:off x="6903720" y="1828800"/>
            <a:ext cx="4718304" cy="13716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2"/>
          <p:cNvSpPr txBox="1"/>
          <p:nvPr/>
        </p:nvSpPr>
        <p:spPr>
          <a:xfrm>
            <a:off x="7132320" y="2057400"/>
            <a:ext cx="4261104" cy="274320"/>
          </a:xfrm>
          <a:prstGeom prst="rect">
            <a:avLst/>
          </a:prstGeom>
          <a:noFill/>
        </p:spPr>
        <p:txBody>
          <a:bodyPr wrap="square" lIns="0" rIns="0" tIns="0" bIns="0" anchor="t"/>
          <a:lstStyle/>
          <a:p>
            <a:pPr algn="l"/>
            <a:r>
              <a:rPr sz="1100" b="1" i="0">
                <a:solidFill>
                  <a:srgbClr val="B5642A"/>
                </a:solidFill>
                <a:latin typeface="Arial"/>
              </a:rPr>
              <a:t>gui.BehaviorBuilder</a:t>
            </a:r>
          </a:p>
        </p:txBody>
      </p:sp>
      <p:sp>
        <p:nvSpPr>
          <p:cNvPr id="23" name="TextBox 23"/>
          <p:cNvSpPr txBox="1"/>
          <p:nvPr/>
        </p:nvSpPr>
        <p:spPr>
          <a:xfrm>
            <a:off x="7132320" y="2377440"/>
            <a:ext cx="4261104" cy="619125"/>
          </a:xfrm>
          <a:prstGeom prst="rect">
            <a:avLst/>
          </a:prstGeom>
          <a:noFill/>
        </p:spPr>
        <p:txBody>
          <a:bodyPr wrap="square" lIns="0" rIns="0" tIns="0" bIns="0" anchor="t"/>
          <a:lstStyle/>
          <a:p>
            <a:pPr algn="l">
              <a:lnSpc>
                <a:spcPct val="130000"/>
              </a:lnSpc>
            </a:pPr>
            <a:r>
              <a:rPr sz="1250" b="0" i="0">
                <a:solidFill>
                  <a:srgbClr val="0F1E27"/>
                </a:solidFill>
                <a:latin typeface="Calibri"/>
              </a:rPr>
              <a:t>Load a protocol, pick components from a palette, drag snap-to-grid regions on a canvas, export a subclass. The design round-trips through an .eblt JSON spec.</a:t>
            </a:r>
          </a:p>
        </p:txBody>
      </p:sp>
      <p:sp>
        <p:nvSpPr>
          <p:cNvPr id="24" name="Rounded Rectangle 24"/>
          <p:cNvSpPr/>
          <p:nvPr/>
        </p:nvSpPr>
        <p:spPr>
          <a:xfrm>
            <a:off x="6903720" y="3291840"/>
            <a:ext cx="4718304" cy="1371600"/>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5"/>
          <p:cNvSpPr txBox="1"/>
          <p:nvPr/>
        </p:nvSpPr>
        <p:spPr>
          <a:xfrm>
            <a:off x="7132320" y="3520440"/>
            <a:ext cx="4261104" cy="274320"/>
          </a:xfrm>
          <a:prstGeom prst="rect">
            <a:avLst/>
          </a:prstGeom>
          <a:noFill/>
        </p:spPr>
        <p:txBody>
          <a:bodyPr wrap="square" lIns="0" rIns="0" tIns="0" bIns="0" anchor="t"/>
          <a:lstStyle/>
          <a:p>
            <a:pPr algn="l"/>
            <a:r>
              <a:rPr sz="1100" b="1" i="0">
                <a:solidFill>
                  <a:srgbClr val="1D6E8A"/>
                </a:solidFill>
                <a:latin typeface="Arial"/>
              </a:rPr>
              <a:t>gui.PopOut</a:t>
            </a:r>
          </a:p>
        </p:txBody>
      </p:sp>
      <p:sp>
        <p:nvSpPr>
          <p:cNvPr id="26" name="TextBox 26"/>
          <p:cNvSpPr txBox="1"/>
          <p:nvPr/>
        </p:nvSpPr>
        <p:spPr>
          <a:xfrm>
            <a:off x="7132320" y="3840480"/>
            <a:ext cx="4261104" cy="619125"/>
          </a:xfrm>
          <a:prstGeom prst="rect">
            <a:avLst/>
          </a:prstGeom>
          <a:noFill/>
        </p:spPr>
        <p:txBody>
          <a:bodyPr wrap="square" lIns="0" rIns="0" tIns="0" bIns="0" anchor="t"/>
          <a:lstStyle/>
          <a:p>
            <a:pPr algn="l">
              <a:lnSpc>
                <a:spcPct val="130000"/>
              </a:lnSpc>
            </a:pPr>
            <a:r>
              <a:rPr sz="1250" b="0" i="0">
                <a:solidFill>
                  <a:srgbClr val="0F1E27"/>
                </a:solidFill>
                <a:latin typeface="Calibri"/>
              </a:rPr>
              <a:t>Any display can open in a window of its own, with its own listeners and its own preference key, so the pop-out never disturbs the embedded copy.</a:t>
            </a:r>
          </a:p>
        </p:txBody>
      </p:sp>
      <p:sp>
        <p:nvSpPr>
          <p:cNvPr id="27" name="Rounded Rectangle 27"/>
          <p:cNvSpPr/>
          <p:nvPr/>
        </p:nvSpPr>
        <p:spPr>
          <a:xfrm>
            <a:off x="6903720" y="4754880"/>
            <a:ext cx="4718304" cy="139903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TextBox 28"/>
          <p:cNvSpPr txBox="1"/>
          <p:nvPr/>
        </p:nvSpPr>
        <p:spPr>
          <a:xfrm>
            <a:off x="7132320" y="4983480"/>
            <a:ext cx="4261104" cy="274320"/>
          </a:xfrm>
          <a:prstGeom prst="rect">
            <a:avLst/>
          </a:prstGeom>
          <a:noFill/>
        </p:spPr>
        <p:txBody>
          <a:bodyPr wrap="square" lIns="0" rIns="0" tIns="0" bIns="0" anchor="t"/>
          <a:lstStyle/>
          <a:p>
            <a:pPr algn="l"/>
            <a:r>
              <a:rPr sz="1100" b="1" i="0">
                <a:solidFill>
                  <a:srgbClr val="B5642A"/>
                </a:solidFill>
                <a:latin typeface="Arial"/>
              </a:rPr>
              <a:t>gui.ComponentToolbar</a:t>
            </a:r>
          </a:p>
        </p:txBody>
      </p:sp>
      <p:sp>
        <p:nvSpPr>
          <p:cNvPr id="29" name="TextBox 29"/>
          <p:cNvSpPr txBox="1"/>
          <p:nvPr/>
        </p:nvSpPr>
        <p:spPr>
          <a:xfrm>
            <a:off x="7132320" y="5303520"/>
            <a:ext cx="4261104" cy="619125"/>
          </a:xfrm>
          <a:prstGeom prst="rect">
            <a:avLst/>
          </a:prstGeom>
          <a:noFill/>
        </p:spPr>
        <p:txBody>
          <a:bodyPr wrap="square" lIns="0" rIns="0" tIns="0" bIns="0" anchor="t"/>
          <a:lstStyle/>
          <a:p>
            <a:pPr algn="l">
              <a:lnSpc>
                <a:spcPct val="130000"/>
              </a:lnSpc>
            </a:pPr>
            <a:r>
              <a:rPr sz="1250" b="0" i="0">
                <a:solidFill>
                  <a:srgbClr val="0F1E27"/>
                </a:solidFill>
                <a:latin typeface="Calibri"/>
              </a:rPr>
              <a:t>One icon per display on a single toolbar. Lazy entries build their component on first click, so a polling monitor costs nothing until it is asked for.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INTERFACE LAYER</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The GUIs a lab actually touches</a:t>
            </a:r>
          </a:p>
        </p:txBody>
      </p:sp>
      <p:sp>
        <p:nvSpPr>
          <p:cNvPr id="4" name="TextBox 4"/>
          <p:cNvSpPr txBox="1"/>
          <p:nvPr/>
        </p:nvSpPr>
        <p:spPr>
          <a:xfrm>
            <a:off x="566928" y="1664208"/>
            <a:ext cx="7635240" cy="274320"/>
          </a:xfrm>
          <a:prstGeom prst="rect">
            <a:avLst/>
          </a:prstGeom>
          <a:noFill/>
        </p:spPr>
        <p:txBody>
          <a:bodyPr wrap="square" lIns="0" rIns="0" tIns="0" bIns="0" anchor="t"/>
          <a:lstStyle/>
          <a:p>
            <a:pPr algn="l"/>
            <a:r>
              <a:rPr sz="1100" b="1" i="0">
                <a:solidFill>
                  <a:srgbClr val="1D6E8A"/>
                </a:solidFill>
                <a:latin typeface="Arial"/>
              </a:rPr>
              <a:t>AUTHORING &amp; CONTROL</a:t>
            </a:r>
          </a:p>
        </p:txBody>
      </p:sp>
      <p:sp>
        <p:nvSpPr>
          <p:cNvPr id="5" name="Rounded Rectangle 5"/>
          <p:cNvSpPr/>
          <p:nvPr/>
        </p:nvSpPr>
        <p:spPr>
          <a:xfrm>
            <a:off x="566928" y="1993392"/>
            <a:ext cx="7635240" cy="5669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6"/>
          <p:cNvSpPr txBox="1"/>
          <p:nvPr/>
        </p:nvSpPr>
        <p:spPr>
          <a:xfrm>
            <a:off x="795528" y="2075688"/>
            <a:ext cx="7178040" cy="219456"/>
          </a:xfrm>
          <a:prstGeom prst="rect">
            <a:avLst/>
          </a:prstGeom>
          <a:noFill/>
        </p:spPr>
        <p:txBody>
          <a:bodyPr wrap="square" lIns="0" rIns="0" tIns="0" bIns="0" anchor="t"/>
          <a:lstStyle/>
          <a:p>
            <a:pPr algn="l"/>
            <a:r>
              <a:rPr sz="1150" b="1" i="0">
                <a:solidFill>
                  <a:srgbClr val="1D6E8A"/>
                </a:solidFill>
                <a:latin typeface="Consolas"/>
              </a:rPr>
              <a:t>epsych.ProtocolDesigner</a:t>
            </a:r>
          </a:p>
        </p:txBody>
      </p:sp>
      <p:sp>
        <p:nvSpPr>
          <p:cNvPr id="7" name="TextBox 7"/>
          <p:cNvSpPr txBox="1"/>
          <p:nvPr/>
        </p:nvSpPr>
        <p:spPr>
          <a:xfrm>
            <a:off x="795528" y="2313432"/>
            <a:ext cx="7178040" cy="219456"/>
          </a:xfrm>
          <a:prstGeom prst="rect">
            <a:avLst/>
          </a:prstGeom>
          <a:noFill/>
        </p:spPr>
        <p:txBody>
          <a:bodyPr wrap="square" lIns="0" rIns="0" tIns="0" bIns="0" anchor="t"/>
          <a:lstStyle/>
          <a:p>
            <a:pPr algn="l"/>
            <a:r>
              <a:rPr sz="1050" b="0" i="0">
                <a:solidFill>
                  <a:srgbClr val="566E7C"/>
                </a:solidFill>
                <a:latin typeface="Calibri"/>
              </a:rPr>
              <a:t>Build and edit protocols; compile and preview trials; browse version history</a:t>
            </a:r>
          </a:p>
        </p:txBody>
      </p:sp>
      <p:sp>
        <p:nvSpPr>
          <p:cNvPr id="8" name="Rounded Rectangle 8"/>
          <p:cNvSpPr/>
          <p:nvPr/>
        </p:nvSpPr>
        <p:spPr>
          <a:xfrm>
            <a:off x="566928" y="2615184"/>
            <a:ext cx="7635240" cy="5669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9"/>
          <p:cNvSpPr txBox="1"/>
          <p:nvPr/>
        </p:nvSpPr>
        <p:spPr>
          <a:xfrm>
            <a:off x="795528" y="2697480"/>
            <a:ext cx="7178040" cy="219456"/>
          </a:xfrm>
          <a:prstGeom prst="rect">
            <a:avLst/>
          </a:prstGeom>
          <a:noFill/>
        </p:spPr>
        <p:txBody>
          <a:bodyPr wrap="square" lIns="0" rIns="0" tIns="0" bIns="0" anchor="t"/>
          <a:lstStyle/>
          <a:p>
            <a:pPr algn="l"/>
            <a:r>
              <a:rPr sz="1150" b="1" i="0">
                <a:solidFill>
                  <a:srgbClr val="1D6E8A"/>
                </a:solidFill>
                <a:latin typeface="Consolas"/>
              </a:rPr>
              <a:t>epsych.RunExpt</a:t>
            </a:r>
          </a:p>
        </p:txBody>
      </p:sp>
      <p:sp>
        <p:nvSpPr>
          <p:cNvPr id="10" name="TextBox 10"/>
          <p:cNvSpPr txBox="1"/>
          <p:nvPr/>
        </p:nvSpPr>
        <p:spPr>
          <a:xfrm>
            <a:off x="795528" y="2935224"/>
            <a:ext cx="7178040" cy="219456"/>
          </a:xfrm>
          <a:prstGeom prst="rect">
            <a:avLst/>
          </a:prstGeom>
          <a:noFill/>
        </p:spPr>
        <p:txBody>
          <a:bodyPr wrap="square" lIns="0" rIns="0" tIns="0" bIns="0" anchor="t"/>
          <a:lstStyle/>
          <a:p>
            <a:pPr algn="l"/>
            <a:r>
              <a:rPr sz="1050" b="0" i="0">
                <a:solidFill>
                  <a:srgbClr val="566E7C"/>
                </a:solidFill>
                <a:latin typeface="Calibri"/>
              </a:rPr>
              <a:t>Session state, run and stop, self-test, parameter debugger, offline review</a:t>
            </a:r>
          </a:p>
        </p:txBody>
      </p:sp>
      <p:sp>
        <p:nvSpPr>
          <p:cNvPr id="11" name="Rounded Rectangle 11"/>
          <p:cNvSpPr/>
          <p:nvPr/>
        </p:nvSpPr>
        <p:spPr>
          <a:xfrm>
            <a:off x="566928" y="3236976"/>
            <a:ext cx="7635240" cy="5669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2"/>
          <p:cNvSpPr txBox="1"/>
          <p:nvPr/>
        </p:nvSpPr>
        <p:spPr>
          <a:xfrm>
            <a:off x="795528" y="3319272"/>
            <a:ext cx="7178040" cy="219456"/>
          </a:xfrm>
          <a:prstGeom prst="rect">
            <a:avLst/>
          </a:prstGeom>
          <a:noFill/>
        </p:spPr>
        <p:txBody>
          <a:bodyPr wrap="square" lIns="0" rIns="0" tIns="0" bIns="0" anchor="t"/>
          <a:lstStyle/>
          <a:p>
            <a:pPr algn="l"/>
            <a:r>
              <a:rPr sz="1150" b="1" i="0">
                <a:solidFill>
                  <a:srgbClr val="1D6E8A"/>
                </a:solidFill>
                <a:latin typeface="Consolas"/>
              </a:rPr>
              <a:t>gui.SubjectManager</a:t>
            </a:r>
          </a:p>
        </p:txBody>
      </p:sp>
      <p:sp>
        <p:nvSpPr>
          <p:cNvPr id="13" name="TextBox 13"/>
          <p:cNvSpPr txBox="1"/>
          <p:nvPr/>
        </p:nvSpPr>
        <p:spPr>
          <a:xfrm>
            <a:off x="795528" y="3557016"/>
            <a:ext cx="7178040" cy="219456"/>
          </a:xfrm>
          <a:prstGeom prst="rect">
            <a:avLst/>
          </a:prstGeom>
          <a:noFill/>
        </p:spPr>
        <p:txBody>
          <a:bodyPr wrap="square" lIns="0" rIns="0" tIns="0" bIns="0" anchor="t"/>
          <a:lstStyle/>
          <a:p>
            <a:pPr algn="l"/>
            <a:r>
              <a:rPr sz="1050" b="0" i="0">
                <a:solidFill>
                  <a:srgbClr val="566E7C"/>
                </a:solidFill>
                <a:latin typeface="Calibri"/>
              </a:rPr>
              <a:t>Subjects &amp; Projects: the roster, session defaults, protocol versions</a:t>
            </a:r>
          </a:p>
        </p:txBody>
      </p:sp>
      <p:sp>
        <p:nvSpPr>
          <p:cNvPr id="14" name="Rounded Rectangle 14"/>
          <p:cNvSpPr/>
          <p:nvPr/>
        </p:nvSpPr>
        <p:spPr>
          <a:xfrm>
            <a:off x="566928" y="3858768"/>
            <a:ext cx="7635240" cy="5669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5"/>
          <p:cNvSpPr txBox="1"/>
          <p:nvPr/>
        </p:nvSpPr>
        <p:spPr>
          <a:xfrm>
            <a:off x="795528" y="3941064"/>
            <a:ext cx="7178040" cy="219456"/>
          </a:xfrm>
          <a:prstGeom prst="rect">
            <a:avLst/>
          </a:prstGeom>
          <a:noFill/>
        </p:spPr>
        <p:txBody>
          <a:bodyPr wrap="square" lIns="0" rIns="0" tIns="0" bIns="0" anchor="t"/>
          <a:lstStyle/>
          <a:p>
            <a:pPr algn="l"/>
            <a:r>
              <a:rPr sz="1150" b="1" i="0">
                <a:solidFill>
                  <a:srgbClr val="1D6E8A"/>
                </a:solidFill>
                <a:latin typeface="Consolas"/>
              </a:rPr>
              <a:t>gui.BehaviorBuilder</a:t>
            </a:r>
          </a:p>
        </p:txBody>
      </p:sp>
      <p:sp>
        <p:nvSpPr>
          <p:cNvPr id="16" name="TextBox 16"/>
          <p:cNvSpPr txBox="1"/>
          <p:nvPr/>
        </p:nvSpPr>
        <p:spPr>
          <a:xfrm>
            <a:off x="795528" y="4178808"/>
            <a:ext cx="7178040" cy="219456"/>
          </a:xfrm>
          <a:prstGeom prst="rect">
            <a:avLst/>
          </a:prstGeom>
          <a:noFill/>
        </p:spPr>
        <p:txBody>
          <a:bodyPr wrap="square" lIns="0" rIns="0" tIns="0" bIns="0" anchor="t"/>
          <a:lstStyle/>
          <a:p>
            <a:pPr algn="l"/>
            <a:r>
              <a:rPr sz="1050" b="0" i="0">
                <a:solidFill>
                  <a:srgbClr val="566E7C"/>
                </a:solidFill>
                <a:latin typeface="Calibri"/>
              </a:rPr>
              <a:t>Lay out a behavior GUI by hand and export it as a subclass</a:t>
            </a:r>
          </a:p>
        </p:txBody>
      </p:sp>
      <p:sp>
        <p:nvSpPr>
          <p:cNvPr id="17" name="TextBox 17"/>
          <p:cNvSpPr txBox="1"/>
          <p:nvPr/>
        </p:nvSpPr>
        <p:spPr>
          <a:xfrm>
            <a:off x="566928" y="4407408"/>
            <a:ext cx="7635240" cy="274320"/>
          </a:xfrm>
          <a:prstGeom prst="rect">
            <a:avLst/>
          </a:prstGeom>
          <a:noFill/>
        </p:spPr>
        <p:txBody>
          <a:bodyPr wrap="square" lIns="0" rIns="0" tIns="0" bIns="0" anchor="t"/>
          <a:lstStyle/>
          <a:p>
            <a:pPr algn="l"/>
            <a:r>
              <a:rPr sz="1100" b="1" i="0">
                <a:solidFill>
                  <a:srgbClr val="B5642A"/>
                </a:solidFill>
                <a:latin typeface="Arial"/>
              </a:rPr>
              <a:t>LIVE MONITORING</a:t>
            </a:r>
          </a:p>
        </p:txBody>
      </p:sp>
      <p:sp>
        <p:nvSpPr>
          <p:cNvPr id="18" name="Rounded Rectangle 18"/>
          <p:cNvSpPr/>
          <p:nvPr/>
        </p:nvSpPr>
        <p:spPr>
          <a:xfrm>
            <a:off x="566928" y="4736592"/>
            <a:ext cx="7635240" cy="5669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9"/>
          <p:cNvSpPr txBox="1"/>
          <p:nvPr/>
        </p:nvSpPr>
        <p:spPr>
          <a:xfrm>
            <a:off x="795528" y="4818888"/>
            <a:ext cx="7178040" cy="219456"/>
          </a:xfrm>
          <a:prstGeom prst="rect">
            <a:avLst/>
          </a:prstGeom>
          <a:noFill/>
        </p:spPr>
        <p:txBody>
          <a:bodyPr wrap="square" lIns="0" rIns="0" tIns="0" bIns="0" anchor="t"/>
          <a:lstStyle/>
          <a:p>
            <a:pPr algn="l"/>
            <a:r>
              <a:rPr sz="1150" b="1" i="0">
                <a:solidFill>
                  <a:srgbClr val="B5642A"/>
                </a:solidFill>
                <a:latin typeface="Consolas"/>
              </a:rPr>
              <a:t>gui.OnlinePlot · gui.SessionPerformance</a:t>
            </a:r>
          </a:p>
        </p:txBody>
      </p:sp>
      <p:sp>
        <p:nvSpPr>
          <p:cNvPr id="20" name="TextBox 20"/>
          <p:cNvSpPr txBox="1"/>
          <p:nvPr/>
        </p:nvSpPr>
        <p:spPr>
          <a:xfrm>
            <a:off x="795528" y="5056632"/>
            <a:ext cx="7178040" cy="219456"/>
          </a:xfrm>
          <a:prstGeom prst="rect">
            <a:avLst/>
          </a:prstGeom>
          <a:noFill/>
        </p:spPr>
        <p:txBody>
          <a:bodyPr wrap="square" lIns="0" rIns="0" tIns="0" bIns="0" anchor="t"/>
          <a:lstStyle/>
          <a:p>
            <a:pPr algn="l"/>
            <a:r>
              <a:rPr sz="1050" b="0" i="0">
                <a:solidFill>
                  <a:srgbClr val="566E7C"/>
                </a:solidFill>
                <a:latin typeface="Calibri"/>
              </a:rPr>
              <a:t>Live parameter traces, and running rates, counts and d′</a:t>
            </a:r>
          </a:p>
        </p:txBody>
      </p:sp>
      <p:sp>
        <p:nvSpPr>
          <p:cNvPr id="21" name="Rounded Rectangle 21"/>
          <p:cNvSpPr/>
          <p:nvPr/>
        </p:nvSpPr>
        <p:spPr>
          <a:xfrm>
            <a:off x="566928" y="5321808"/>
            <a:ext cx="7635240" cy="5669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2"/>
          <p:cNvSpPr txBox="1"/>
          <p:nvPr/>
        </p:nvSpPr>
        <p:spPr>
          <a:xfrm>
            <a:off x="795528" y="5404104"/>
            <a:ext cx="7178040" cy="219456"/>
          </a:xfrm>
          <a:prstGeom prst="rect">
            <a:avLst/>
          </a:prstGeom>
          <a:noFill/>
        </p:spPr>
        <p:txBody>
          <a:bodyPr wrap="square" lIns="0" rIns="0" tIns="0" bIns="0" anchor="t"/>
          <a:lstStyle/>
          <a:p>
            <a:pPr algn="l"/>
            <a:r>
              <a:rPr sz="1150" b="1" i="0">
                <a:solidFill>
                  <a:srgbClr val="B5642A"/>
                </a:solidFill>
                <a:latin typeface="Consolas"/>
              </a:rPr>
              <a:t>gui.PsychPlot · gui.ParameterScatter</a:t>
            </a:r>
          </a:p>
        </p:txBody>
      </p:sp>
      <p:sp>
        <p:nvSpPr>
          <p:cNvPr id="23" name="TextBox 23"/>
          <p:cNvSpPr txBox="1"/>
          <p:nvPr/>
        </p:nvSpPr>
        <p:spPr>
          <a:xfrm>
            <a:off x="795528" y="5641848"/>
            <a:ext cx="7178040" cy="219456"/>
          </a:xfrm>
          <a:prstGeom prst="rect">
            <a:avLst/>
          </a:prstGeom>
          <a:noFill/>
        </p:spPr>
        <p:txBody>
          <a:bodyPr wrap="square" lIns="0" rIns="0" tIns="0" bIns="0" anchor="t"/>
          <a:lstStyle/>
          <a:p>
            <a:pPr algn="l"/>
            <a:r>
              <a:rPr sz="1050" b="0" i="0">
                <a:solidFill>
                  <a:srgbClr val="566E7C"/>
                </a:solidFill>
                <a:latin typeface="Calibri"/>
              </a:rPr>
              <a:t>Psychometric fits and generic X / Y / colour scatter</a:t>
            </a:r>
          </a:p>
        </p:txBody>
      </p:sp>
      <p:sp>
        <p:nvSpPr>
          <p:cNvPr id="24" name="Rounded Rectangle 24"/>
          <p:cNvSpPr/>
          <p:nvPr/>
        </p:nvSpPr>
        <p:spPr>
          <a:xfrm>
            <a:off x="566928" y="5907024"/>
            <a:ext cx="7635240" cy="56692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5"/>
          <p:cNvSpPr txBox="1"/>
          <p:nvPr/>
        </p:nvSpPr>
        <p:spPr>
          <a:xfrm>
            <a:off x="795528" y="5989320"/>
            <a:ext cx="7178040" cy="219456"/>
          </a:xfrm>
          <a:prstGeom prst="rect">
            <a:avLst/>
          </a:prstGeom>
          <a:noFill/>
        </p:spPr>
        <p:txBody>
          <a:bodyPr wrap="square" lIns="0" rIns="0" tIns="0" bIns="0" anchor="t"/>
          <a:lstStyle/>
          <a:p>
            <a:pPr algn="l"/>
            <a:r>
              <a:rPr sz="1150" b="1" i="0">
                <a:solidFill>
                  <a:srgbClr val="B5642A"/>
                </a:solidFill>
                <a:latin typeface="Consolas"/>
              </a:rPr>
              <a:t>gui.SyringePump · gui.Notes · gui.SessionGate</a:t>
            </a:r>
          </a:p>
        </p:txBody>
      </p:sp>
      <p:sp>
        <p:nvSpPr>
          <p:cNvPr id="26" name="TextBox 26"/>
          <p:cNvSpPr txBox="1"/>
          <p:nvPr/>
        </p:nvSpPr>
        <p:spPr>
          <a:xfrm>
            <a:off x="795528" y="6227064"/>
            <a:ext cx="7178040" cy="219456"/>
          </a:xfrm>
          <a:prstGeom prst="rect">
            <a:avLst/>
          </a:prstGeom>
          <a:noFill/>
        </p:spPr>
        <p:txBody>
          <a:bodyPr wrap="square" lIns="0" rIns="0" tIns="0" bIns="0" anchor="t"/>
          <a:lstStyle/>
          <a:p>
            <a:pPr algn="l"/>
            <a:r>
              <a:rPr sz="1050" b="0" i="0">
                <a:solidFill>
                  <a:srgbClr val="566E7C"/>
                </a:solidFill>
                <a:latin typeface="Calibri"/>
              </a:rPr>
              <a:t>Reward control, timestamped notes, and a start-of-session gate</a:t>
            </a:r>
          </a:p>
        </p:txBody>
      </p:sp>
      <p:sp>
        <p:nvSpPr>
          <p:cNvPr id="27" name="Rounded Rectangle 27"/>
          <p:cNvSpPr/>
          <p:nvPr/>
        </p:nvSpPr>
        <p:spPr>
          <a:xfrm>
            <a:off x="8543239" y="1664208"/>
            <a:ext cx="3081528" cy="224942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TextBox 28"/>
          <p:cNvSpPr txBox="1"/>
          <p:nvPr/>
        </p:nvSpPr>
        <p:spPr>
          <a:xfrm>
            <a:off x="8771839" y="1892808"/>
            <a:ext cx="2624328" cy="274320"/>
          </a:xfrm>
          <a:prstGeom prst="rect">
            <a:avLst/>
          </a:prstGeom>
          <a:noFill/>
        </p:spPr>
        <p:txBody>
          <a:bodyPr wrap="square" lIns="0" rIns="0" tIns="0" bIns="0" anchor="t"/>
          <a:lstStyle/>
          <a:p>
            <a:pPr algn="l"/>
            <a:r>
              <a:rPr sz="1100" b="1" i="0">
                <a:solidFill>
                  <a:srgbClr val="B5642A"/>
                </a:solidFill>
                <a:latin typeface="Arial"/>
              </a:rPr>
              <a:t>CUSTOM BEHAVIOR GUIs</a:t>
            </a:r>
          </a:p>
        </p:txBody>
      </p:sp>
      <p:sp>
        <p:nvSpPr>
          <p:cNvPr id="29" name="TextBox 29"/>
          <p:cNvSpPr txBox="1"/>
          <p:nvPr/>
        </p:nvSpPr>
        <p:spPr>
          <a:xfrm>
            <a:off x="8771839" y="2212848"/>
            <a:ext cx="2624328" cy="1205992"/>
          </a:xfrm>
          <a:prstGeom prst="rect">
            <a:avLst/>
          </a:prstGeom>
          <a:noFill/>
        </p:spPr>
        <p:txBody>
          <a:bodyPr wrap="square" lIns="0" rIns="0" tIns="0" bIns="0" anchor="t"/>
          <a:lstStyle/>
          <a:p>
            <a:pPr algn="l">
              <a:lnSpc>
                <a:spcPct val="130000"/>
              </a:lnSpc>
              <a:spcAft>
                <a:spcPts val="900"/>
              </a:spcAft>
            </a:pPr>
            <a:r>
              <a:rPr sz="1200" b="1" i="0">
                <a:solidFill>
                  <a:srgbClr val="1D6E8A"/>
                </a:solidFill>
                <a:latin typeface="Consolas"/>
              </a:rPr>
              <a:t>gui.BehaviorGUI</a:t>
            </a:r>
            <a:r>
              <a:rPr sz="1250" b="0" i="0">
                <a:solidFill>
                  <a:srgbClr val="0F1E27"/>
                </a:solidFill>
                <a:latin typeface="Calibri"/>
              </a:rPr>
              <a:t> is the abstract base for a paradigm's own window: lifecycle, event listeners, position preferences, registry teardown and parameter wiring.</a:t>
            </a:r>
          </a:p>
          <a:p>
            <a:pPr algn="l"/>
            <a:r>
              <a:rPr sz="1050" b="0" i="0">
                <a:solidFill>
                  <a:srgbClr val="566E7C"/>
                </a:solidFill>
                <a:latin typeface="Consolas"/>
              </a:rPr>
              <a:t>examples/customgui/</a:t>
            </a:r>
          </a:p>
        </p:txBody>
      </p:sp>
      <p:sp>
        <p:nvSpPr>
          <p:cNvPr id="30" name="Rounded Rectangle 30"/>
          <p:cNvSpPr/>
          <p:nvPr/>
        </p:nvSpPr>
        <p:spPr>
          <a:xfrm>
            <a:off x="8543239" y="4187952"/>
            <a:ext cx="3081528" cy="2249424"/>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1"/>
          <p:cNvSpPr txBox="1"/>
          <p:nvPr/>
        </p:nvSpPr>
        <p:spPr>
          <a:xfrm>
            <a:off x="8771839" y="4416552"/>
            <a:ext cx="2624328" cy="274320"/>
          </a:xfrm>
          <a:prstGeom prst="rect">
            <a:avLst/>
          </a:prstGeom>
          <a:noFill/>
        </p:spPr>
        <p:txBody>
          <a:bodyPr wrap="square" lIns="0" rIns="0" tIns="0" bIns="0" anchor="t"/>
          <a:lstStyle/>
          <a:p>
            <a:pPr algn="l"/>
            <a:r>
              <a:rPr sz="1100" b="1" i="0">
                <a:solidFill>
                  <a:srgbClr val="1D6E8A"/>
                </a:solidFill>
                <a:latin typeface="Arial"/>
              </a:rPr>
              <a:t>ALSO IN obj/+gui/</a:t>
            </a:r>
          </a:p>
        </p:txBody>
      </p:sp>
      <p:sp>
        <p:nvSpPr>
          <p:cNvPr id="32" name="TextBox 32"/>
          <p:cNvSpPr txBox="1"/>
          <p:nvPr/>
        </p:nvSpPr>
        <p:spPr>
          <a:xfrm>
            <a:off x="8771839" y="4736592"/>
            <a:ext cx="2624328" cy="1156716"/>
          </a:xfrm>
          <a:prstGeom prst="rect">
            <a:avLst/>
          </a:prstGeom>
          <a:noFill/>
        </p:spPr>
        <p:txBody>
          <a:bodyPr wrap="square" lIns="0" rIns="0" tIns="0" bIns="0" anchor="t"/>
          <a:lstStyle/>
          <a:p>
            <a:pPr algn="l">
              <a:lnSpc>
                <a:spcPct val="132000"/>
              </a:lnSpc>
            </a:pPr>
            <a:r>
              <a:rPr sz="1150" b="0" i="0">
                <a:solidFill>
                  <a:srgbClr val="153A49"/>
                </a:solidFill>
                <a:latin typeface="Calibri"/>
              </a:rPr>
              <a:t>History · NextTrial · ModeIndicator · StatusBar · Triggers · SessionClock · ElapsedTrialTimer · ScreenCapture · ComponentToolbar · PhaseSelector · StaircaseTraining · Parameter_Control / _Monitor / _Update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AFTER THE SESSION</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Reopen a finished session and scrub through it</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epsych.ReviewSession reopens a saved file in the paradigm's own behavior GUI, every display showing what it showed when the session ended.</a:t>
            </a:r>
          </a:p>
        </p:txBody>
      </p:sp>
      <p:sp>
        <p:nvSpPr>
          <p:cNvPr id="5" name="Rounded Rectangle 5"/>
          <p:cNvSpPr/>
          <p:nvPr/>
        </p:nvSpPr>
        <p:spPr>
          <a:xfrm>
            <a:off x="566928" y="1828800"/>
            <a:ext cx="11057839" cy="1280160"/>
          </a:xfrm>
          <a:prstGeom prst="roundRect">
            <a:avLst>
              <a:gd name="adj" fmla="val 8000"/>
            </a:avLst>
          </a:prstGeom>
          <a:solidFill>
            <a:srgbClr val="0E28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6"/>
          <p:cNvSpPr txBox="1"/>
          <p:nvPr/>
        </p:nvSpPr>
        <p:spPr>
          <a:xfrm>
            <a:off x="841248" y="2057400"/>
            <a:ext cx="3474720" cy="640080"/>
          </a:xfrm>
          <a:prstGeom prst="rect">
            <a:avLst/>
          </a:prstGeom>
          <a:noFill/>
        </p:spPr>
        <p:txBody>
          <a:bodyPr wrap="square" lIns="0" rIns="0" tIns="0" bIns="0" anchor="t"/>
          <a:lstStyle/>
          <a:p>
            <a:pPr algn="l">
              <a:spcAft>
                <a:spcPts val="60"/>
              </a:spcAft>
            </a:pPr>
            <a:r>
              <a:rPr sz="2000" b="1" i="0">
                <a:solidFill>
                  <a:srgbClr val="FFFFFF"/>
                </a:solidFill>
                <a:latin typeface="Arial"/>
              </a:rPr>
              <a:t>No display</a:t>
            </a:r>
          </a:p>
          <a:p>
            <a:pPr algn="l"/>
            <a:r>
              <a:rPr sz="2000" b="1" i="0">
                <a:solidFill>
                  <a:srgbClr val="FFFFFF"/>
                </a:solidFill>
                <a:latin typeface="Arial"/>
              </a:rPr>
              <a:t>component was modified.</a:t>
            </a:r>
          </a:p>
        </p:txBody>
      </p:sp>
      <p:sp>
        <p:nvSpPr>
          <p:cNvPr id="7" name="TextBox 7"/>
          <p:cNvSpPr txBox="1"/>
          <p:nvPr/>
        </p:nvSpPr>
        <p:spPr>
          <a:xfrm>
            <a:off x="4846320" y="2057400"/>
            <a:ext cx="6492240" cy="812800"/>
          </a:xfrm>
          <a:prstGeom prst="rect">
            <a:avLst/>
          </a:prstGeom>
          <a:noFill/>
        </p:spPr>
        <p:txBody>
          <a:bodyPr wrap="square" lIns="0" rIns="0" tIns="0" bIns="0" anchor="t"/>
          <a:lstStyle/>
          <a:p>
            <a:pPr algn="l">
              <a:lnSpc>
                <a:spcPct val="128000"/>
              </a:lnSpc>
            </a:pPr>
            <a:r>
              <a:rPr sz="1250" b="0" i="0">
                <a:solidFill>
                  <a:srgbClr val="B8CDD8"/>
                </a:solidFill>
                <a:latin typeface="Calibri"/>
              </a:rPr>
              <a:t>Two things already held: the events are declared </a:t>
            </a:r>
            <a:r>
              <a:rPr sz="1200" b="0" i="0">
                <a:solidFill>
                  <a:srgbClr val="8FD4EC"/>
                </a:solidFill>
                <a:latin typeface="Consolas"/>
              </a:rPr>
              <a:t>NotifyAccess = public</a:t>
            </a:r>
            <a:r>
              <a:rPr sz="1250" b="0" i="0">
                <a:solidFill>
                  <a:srgbClr val="B8CDD8"/>
                </a:solidFill>
                <a:latin typeface="Calibri"/>
              </a:rPr>
              <a:t>; and every consumer takes the whole DATA array out of the payload and recomputes, so one notify carrying Data(1:k) is worth k notifies, and seeking backward costs what seeking forward costs.</a:t>
            </a:r>
          </a:p>
        </p:txBody>
      </p:sp>
      <p:sp>
        <p:nvSpPr>
          <p:cNvPr id="8" name="Rounded Rectangle 8"/>
          <p:cNvSpPr/>
          <p:nvPr/>
        </p:nvSpPr>
        <p:spPr>
          <a:xfrm>
            <a:off x="566928" y="3383280"/>
            <a:ext cx="3456432" cy="18288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9"/>
          <p:cNvSpPr txBox="1"/>
          <p:nvPr/>
        </p:nvSpPr>
        <p:spPr>
          <a:xfrm>
            <a:off x="822960" y="3611880"/>
            <a:ext cx="2944368" cy="237744"/>
          </a:xfrm>
          <a:prstGeom prst="rect">
            <a:avLst/>
          </a:prstGeom>
          <a:noFill/>
        </p:spPr>
        <p:txBody>
          <a:bodyPr wrap="square" lIns="0" rIns="0" tIns="0" bIns="0" anchor="t"/>
          <a:lstStyle/>
          <a:p>
            <a:pPr algn="l"/>
            <a:r>
              <a:rPr sz="1200" b="1" i="0">
                <a:solidFill>
                  <a:srgbClr val="B5642A"/>
                </a:solidFill>
                <a:latin typeface="Consolas"/>
              </a:rPr>
              <a:t>epsych.SessionSnapshot</a:t>
            </a:r>
          </a:p>
        </p:txBody>
      </p:sp>
      <p:sp>
        <p:nvSpPr>
          <p:cNvPr id="10" name="TextBox 10"/>
          <p:cNvSpPr txBox="1"/>
          <p:nvPr/>
        </p:nvSpPr>
        <p:spPr>
          <a:xfrm>
            <a:off x="822960" y="3950208"/>
            <a:ext cx="2944368" cy="1188720"/>
          </a:xfrm>
          <a:prstGeom prst="rect">
            <a:avLst/>
          </a:prstGeom>
          <a:noFill/>
        </p:spPr>
        <p:txBody>
          <a:bodyPr wrap="square" lIns="0" rIns="0" tIns="0" bIns="0" anchor="t"/>
          <a:lstStyle/>
          <a:p>
            <a:pPr algn="l">
              <a:lnSpc>
                <a:spcPct val="130000"/>
              </a:lnSpc>
            </a:pPr>
            <a:r>
              <a:rPr sz="1250" b="0" i="0">
                <a:solidFill>
                  <a:srgbClr val="0F1E27"/>
                </a:solidFill>
                <a:latin typeface="Calibri"/>
              </a:rPr>
              <a:t>Captured by ep_TimerFcn_Start, so even the crash-recovery file is reviewable. Any saving function writes it in one line.</a:t>
            </a:r>
          </a:p>
        </p:txBody>
      </p:sp>
      <p:sp>
        <p:nvSpPr>
          <p:cNvPr id="11" name="Rounded Rectangle 11"/>
          <p:cNvSpPr/>
          <p:nvPr/>
        </p:nvSpPr>
        <p:spPr>
          <a:xfrm>
            <a:off x="4368360" y="3383280"/>
            <a:ext cx="3456432" cy="1828800"/>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2"/>
          <p:cNvSpPr txBox="1"/>
          <p:nvPr/>
        </p:nvSpPr>
        <p:spPr>
          <a:xfrm>
            <a:off x="4624392" y="3611880"/>
            <a:ext cx="2944368" cy="237744"/>
          </a:xfrm>
          <a:prstGeom prst="rect">
            <a:avLst/>
          </a:prstGeom>
          <a:noFill/>
        </p:spPr>
        <p:txBody>
          <a:bodyPr wrap="square" lIns="0" rIns="0" tIns="0" bIns="0" anchor="t"/>
          <a:lstStyle/>
          <a:p>
            <a:pPr algn="l"/>
            <a:r>
              <a:rPr sz="1200" b="1" i="0">
                <a:solidFill>
                  <a:srgbClr val="1D6E8A"/>
                </a:solidFill>
                <a:latin typeface="Consolas"/>
              </a:rPr>
              <a:t>hw.Replay</a:t>
            </a:r>
          </a:p>
        </p:txBody>
      </p:sp>
      <p:sp>
        <p:nvSpPr>
          <p:cNvPr id="13" name="TextBox 13"/>
          <p:cNvSpPr txBox="1"/>
          <p:nvPr/>
        </p:nvSpPr>
        <p:spPr>
          <a:xfrm>
            <a:off x="4624392" y="3950208"/>
            <a:ext cx="2944368" cy="1188720"/>
          </a:xfrm>
          <a:prstGeom prst="rect">
            <a:avLst/>
          </a:prstGeom>
          <a:noFill/>
        </p:spPr>
        <p:txBody>
          <a:bodyPr wrap="square" lIns="0" rIns="0" tIns="0" bIns="0" anchor="t"/>
          <a:lstStyle/>
          <a:p>
            <a:pPr algn="l">
              <a:lnSpc>
                <a:spcPct val="130000"/>
              </a:lnSpc>
            </a:pPr>
            <a:r>
              <a:rPr sz="1250" b="0" i="0">
                <a:solidFill>
                  <a:srgbClr val="0F1E27"/>
                </a:solidFill>
                <a:latin typeface="Calibri"/>
              </a:rPr>
              <a:t>Answers parameter reads from the saved record. It reports IsConnected on purpose, and never assigns a value.</a:t>
            </a:r>
          </a:p>
        </p:txBody>
      </p:sp>
      <p:sp>
        <p:nvSpPr>
          <p:cNvPr id="14" name="Rounded Rectangle 14"/>
          <p:cNvSpPr/>
          <p:nvPr/>
        </p:nvSpPr>
        <p:spPr>
          <a:xfrm>
            <a:off x="8169792" y="3383280"/>
            <a:ext cx="3456432" cy="1828800"/>
          </a:xfrm>
          <a:prstGeom prst="roundRect">
            <a:avLst>
              <a:gd name="adj" fmla="val 9000"/>
            </a:avLst>
          </a:prstGeom>
          <a:solidFill>
            <a:srgbClr val="F3E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5"/>
          <p:cNvSpPr txBox="1"/>
          <p:nvPr/>
        </p:nvSpPr>
        <p:spPr>
          <a:xfrm>
            <a:off x="8425824" y="3611880"/>
            <a:ext cx="2944368" cy="237744"/>
          </a:xfrm>
          <a:prstGeom prst="rect">
            <a:avLst/>
          </a:prstGeom>
          <a:noFill/>
        </p:spPr>
        <p:txBody>
          <a:bodyPr wrap="square" lIns="0" rIns="0" tIns="0" bIns="0" anchor="t"/>
          <a:lstStyle/>
          <a:p>
            <a:pPr algn="l"/>
            <a:r>
              <a:rPr sz="1200" b="1" i="0">
                <a:solidFill>
                  <a:srgbClr val="B5642A"/>
                </a:solidFill>
                <a:latin typeface="Consolas"/>
              </a:rPr>
              <a:t>gui.ReviewTransport</a:t>
            </a:r>
          </a:p>
        </p:txBody>
      </p:sp>
      <p:sp>
        <p:nvSpPr>
          <p:cNvPr id="16" name="TextBox 16"/>
          <p:cNvSpPr txBox="1"/>
          <p:nvPr/>
        </p:nvSpPr>
        <p:spPr>
          <a:xfrm>
            <a:off x="8425824" y="3950208"/>
            <a:ext cx="2944368" cy="1188720"/>
          </a:xfrm>
          <a:prstGeom prst="rect">
            <a:avLst/>
          </a:prstGeom>
          <a:noFill/>
        </p:spPr>
        <p:txBody>
          <a:bodyPr wrap="square" lIns="0" rIns="0" tIns="0" bIns="0" anchor="t"/>
          <a:lstStyle/>
          <a:p>
            <a:pPr algn="l">
              <a:lnSpc>
                <a:spcPct val="130000"/>
              </a:lnSpc>
            </a:pPr>
            <a:r>
              <a:rPr sz="1250" b="0" i="0">
                <a:solidFill>
                  <a:srgbClr val="0F1E27"/>
                </a:solidFill>
                <a:latin typeface="Calibri"/>
              </a:rPr>
              <a:t>The scrubber: slider, step, play, rate and elapsed time, in its own window so it stays out of the paradigm layout.</a:t>
            </a:r>
          </a:p>
        </p:txBody>
      </p:sp>
      <p:sp>
        <p:nvSpPr>
          <p:cNvPr id="17" name="Rounded Rectangle 17"/>
          <p:cNvSpPr/>
          <p:nvPr/>
        </p:nvSpPr>
        <p:spPr>
          <a:xfrm>
            <a:off x="566928" y="5394960"/>
            <a:ext cx="11057839" cy="758952"/>
          </a:xfrm>
          <a:prstGeom prst="roundRect">
            <a:avLst>
              <a:gd name="adj" fmla="val 9000"/>
            </a:avLst>
          </a:prstGeom>
          <a:solidFill>
            <a:srgbClr val="E2E9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8"/>
          <p:cNvSpPr txBox="1"/>
          <p:nvPr/>
        </p:nvSpPr>
        <p:spPr>
          <a:xfrm>
            <a:off x="795528" y="5623560"/>
            <a:ext cx="10600639" cy="406400"/>
          </a:xfrm>
          <a:prstGeom prst="rect">
            <a:avLst/>
          </a:prstGeom>
          <a:noFill/>
        </p:spPr>
        <p:txBody>
          <a:bodyPr wrap="square" lIns="0" rIns="0" tIns="0" bIns="0" anchor="t"/>
          <a:lstStyle/>
          <a:p>
            <a:pPr algn="l">
              <a:lnSpc>
                <a:spcPct val="128000"/>
              </a:lnSpc>
            </a:pPr>
            <a:r>
              <a:rPr sz="1250" b="1" i="0">
                <a:solidFill>
                  <a:srgbClr val="0F1E27"/>
                </a:solidFill>
                <a:latin typeface="Calibri"/>
              </a:rPr>
              <a:t>One thing a paradigm must do: </a:t>
            </a:r>
            <a:r>
              <a:rPr sz="1250" b="0" i="0">
                <a:solidFill>
                  <a:srgbClr val="0F1E27"/>
                </a:solidFill>
                <a:latin typeface="Calibri"/>
              </a:rPr>
              <a:t>a GUI that drives the rig stands down on gui.BehaviorGUI.ReviewMode. The base class cannot tell a display from a contingency.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WHEN SOMETHING IS WRONG</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Diagnostics you can leave running</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Only one of these polls the hardware, which is the difference that decides what is safe to leave open beside a running experiment.</a:t>
            </a:r>
          </a:p>
        </p:txBody>
      </p:sp>
      <p:sp>
        <p:nvSpPr>
          <p:cNvPr id="5" name="Rounded Rectangle 5"/>
          <p:cNvSpPr/>
          <p:nvPr/>
        </p:nvSpPr>
        <p:spPr>
          <a:xfrm>
            <a:off x="566928" y="1737360"/>
            <a:ext cx="5356419" cy="201168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6"/>
          <p:cNvSpPr txBox="1"/>
          <p:nvPr/>
        </p:nvSpPr>
        <p:spPr>
          <a:xfrm>
            <a:off x="795528" y="1965960"/>
            <a:ext cx="4899219" cy="274320"/>
          </a:xfrm>
          <a:prstGeom prst="rect">
            <a:avLst/>
          </a:prstGeom>
          <a:noFill/>
        </p:spPr>
        <p:txBody>
          <a:bodyPr wrap="square" lIns="0" rIns="0" tIns="0" bIns="0" anchor="t"/>
          <a:lstStyle/>
          <a:p>
            <a:pPr algn="l"/>
            <a:r>
              <a:rPr sz="1100" b="1" i="0">
                <a:solidFill>
                  <a:srgbClr val="B5642A"/>
                </a:solidFill>
                <a:latin typeface="Arial"/>
              </a:rPr>
              <a:t>epsych.SelfTest</a:t>
            </a:r>
          </a:p>
        </p:txBody>
      </p:sp>
      <p:sp>
        <p:nvSpPr>
          <p:cNvPr id="7" name="TextBox 7"/>
          <p:cNvSpPr txBox="1"/>
          <p:nvPr/>
        </p:nvSpPr>
        <p:spPr>
          <a:xfrm>
            <a:off x="795528" y="2286000"/>
            <a:ext cx="4899219" cy="825500"/>
          </a:xfrm>
          <a:prstGeom prst="rect">
            <a:avLst/>
          </a:prstGeom>
          <a:noFill/>
        </p:spPr>
        <p:txBody>
          <a:bodyPr wrap="square" lIns="0" rIns="0" tIns="0" bIns="0" anchor="t"/>
          <a:lstStyle/>
          <a:p>
            <a:pPr algn="l">
              <a:lnSpc>
                <a:spcPct val="130000"/>
              </a:lnSpc>
            </a:pPr>
            <a:r>
              <a:rPr sz="1250" b="0" i="0">
                <a:solidFill>
                  <a:srgbClr val="0F1E27"/>
                </a:solidFill>
                <a:latin typeface="Calibri"/>
              </a:rPr>
              <a:t>Nine headless pre-flight check groups over a configured session: environment, functions, timer, config, protocol, trial selection, hardware, data saving, GUI. A window on RunExpt's Help menu runs the same checks.</a:t>
            </a:r>
          </a:p>
        </p:txBody>
      </p:sp>
      <p:sp>
        <p:nvSpPr>
          <p:cNvPr id="8" name="Rounded Rectangle 8"/>
          <p:cNvSpPr/>
          <p:nvPr/>
        </p:nvSpPr>
        <p:spPr>
          <a:xfrm>
            <a:off x="6268347" y="1737360"/>
            <a:ext cx="5356420" cy="2011680"/>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9"/>
          <p:cNvSpPr txBox="1"/>
          <p:nvPr/>
        </p:nvSpPr>
        <p:spPr>
          <a:xfrm>
            <a:off x="6496947" y="1965960"/>
            <a:ext cx="4899220" cy="274320"/>
          </a:xfrm>
          <a:prstGeom prst="rect">
            <a:avLst/>
          </a:prstGeom>
          <a:noFill/>
        </p:spPr>
        <p:txBody>
          <a:bodyPr wrap="square" lIns="0" rIns="0" tIns="0" bIns="0" anchor="t"/>
          <a:lstStyle/>
          <a:p>
            <a:pPr algn="l"/>
            <a:r>
              <a:rPr sz="1100" b="1" i="0">
                <a:solidFill>
                  <a:srgbClr val="1D6E8A"/>
                </a:solidFill>
                <a:latin typeface="Arial"/>
              </a:rPr>
              <a:t>gui.ParameterDebugger</a:t>
            </a:r>
          </a:p>
        </p:txBody>
      </p:sp>
      <p:sp>
        <p:nvSpPr>
          <p:cNvPr id="10" name="TextBox 10"/>
          <p:cNvSpPr txBox="1"/>
          <p:nvPr/>
        </p:nvSpPr>
        <p:spPr>
          <a:xfrm>
            <a:off x="6496947" y="2286000"/>
            <a:ext cx="4899220" cy="619125"/>
          </a:xfrm>
          <a:prstGeom prst="rect">
            <a:avLst/>
          </a:prstGeom>
          <a:noFill/>
        </p:spPr>
        <p:txBody>
          <a:bodyPr wrap="square" lIns="0" rIns="0" tIns="0" bIns="0" anchor="t"/>
          <a:lstStyle/>
          <a:p>
            <a:pPr algn="l">
              <a:lnSpc>
                <a:spcPct val="130000"/>
              </a:lnSpc>
            </a:pPr>
            <a:r>
              <a:rPr sz="1250" b="0" i="0">
                <a:solidFill>
                  <a:srgbClr val="0F1E27"/>
                </a:solidFill>
                <a:latin typeface="Calibri"/>
              </a:rPr>
              <a:t>Every hw.Parameter a protocol defines, in one table, readable and writable by hand. It never polls: a read happens only when you ask for one. Colour on the value cell is the read report.</a:t>
            </a:r>
          </a:p>
        </p:txBody>
      </p:sp>
      <p:sp>
        <p:nvSpPr>
          <p:cNvPr id="11" name="Rounded Rectangle 11"/>
          <p:cNvSpPr/>
          <p:nvPr/>
        </p:nvSpPr>
        <p:spPr>
          <a:xfrm>
            <a:off x="566928" y="4023360"/>
            <a:ext cx="5356419" cy="2011680"/>
          </a:xfrm>
          <a:prstGeom prst="roundRect">
            <a:avLst>
              <a:gd name="adj" fmla="val 9000"/>
            </a:avLst>
          </a:prstGeom>
          <a:solidFill>
            <a:srgbClr val="D6E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2"/>
          <p:cNvSpPr txBox="1"/>
          <p:nvPr/>
        </p:nvSpPr>
        <p:spPr>
          <a:xfrm>
            <a:off x="795528" y="4251960"/>
            <a:ext cx="4899219" cy="274320"/>
          </a:xfrm>
          <a:prstGeom prst="rect">
            <a:avLst/>
          </a:prstGeom>
          <a:noFill/>
        </p:spPr>
        <p:txBody>
          <a:bodyPr wrap="square" lIns="0" rIns="0" tIns="0" bIns="0" anchor="t"/>
          <a:lstStyle/>
          <a:p>
            <a:pPr algn="l"/>
            <a:r>
              <a:rPr sz="1100" b="1" i="0">
                <a:solidFill>
                  <a:srgbClr val="1D6E8A"/>
                </a:solidFill>
                <a:latin typeface="Arial"/>
              </a:rPr>
              <a:t>gui.ParameterTracker</a:t>
            </a:r>
          </a:p>
        </p:txBody>
      </p:sp>
      <p:sp>
        <p:nvSpPr>
          <p:cNvPr id="13" name="TextBox 13"/>
          <p:cNvSpPr txBox="1"/>
          <p:nvPr/>
        </p:nvSpPr>
        <p:spPr>
          <a:xfrm>
            <a:off x="795528" y="4572000"/>
            <a:ext cx="4899219" cy="825500"/>
          </a:xfrm>
          <a:prstGeom prst="rect">
            <a:avLst/>
          </a:prstGeom>
          <a:noFill/>
        </p:spPr>
        <p:txBody>
          <a:bodyPr wrap="square" lIns="0" rIns="0" tIns="0" bIns="0" anchor="t"/>
          <a:lstStyle/>
          <a:p>
            <a:pPr algn="l">
              <a:lnSpc>
                <a:spcPct val="130000"/>
              </a:lnSpc>
            </a:pPr>
            <a:r>
              <a:rPr sz="1250" b="0" i="0">
                <a:solidFill>
                  <a:srgbClr val="0F1E27"/>
                </a:solidFill>
                <a:latin typeface="Calibri"/>
              </a:rPr>
              <a:t>The polling the debugger refuses to do, in its own window with its own timer and an operator-set rate, so bus traffic is something visibly turned on. Samples are stamped with the clock, so a missed period widens a gap rather than drifting the axis.</a:t>
            </a:r>
          </a:p>
        </p:txBody>
      </p:sp>
      <p:sp>
        <p:nvSpPr>
          <p:cNvPr id="14" name="Rounded Rectangle 14"/>
          <p:cNvSpPr/>
          <p:nvPr/>
        </p:nvSpPr>
        <p:spPr>
          <a:xfrm>
            <a:off x="6268347" y="4023360"/>
            <a:ext cx="5356420" cy="201168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5"/>
          <p:cNvSpPr txBox="1"/>
          <p:nvPr/>
        </p:nvSpPr>
        <p:spPr>
          <a:xfrm>
            <a:off x="6496947" y="4251960"/>
            <a:ext cx="4899220" cy="274320"/>
          </a:xfrm>
          <a:prstGeom prst="rect">
            <a:avLst/>
          </a:prstGeom>
          <a:noFill/>
        </p:spPr>
        <p:txBody>
          <a:bodyPr wrap="square" lIns="0" rIns="0" tIns="0" bIns="0" anchor="t"/>
          <a:lstStyle/>
          <a:p>
            <a:pPr algn="l"/>
            <a:r>
              <a:rPr sz="1100" b="1" i="0">
                <a:solidFill>
                  <a:srgbClr val="B5642A"/>
                </a:solidFill>
                <a:latin typeface="Arial"/>
              </a:rPr>
              <a:t>obj/+eplog/</a:t>
            </a:r>
          </a:p>
        </p:txBody>
      </p:sp>
      <p:sp>
        <p:nvSpPr>
          <p:cNvPr id="16" name="TextBox 16"/>
          <p:cNvSpPr txBox="1"/>
          <p:nvPr/>
        </p:nvSpPr>
        <p:spPr>
          <a:xfrm>
            <a:off x="6496947" y="4572000"/>
            <a:ext cx="4899220" cy="825500"/>
          </a:xfrm>
          <a:prstGeom prst="rect">
            <a:avLst/>
          </a:prstGeom>
          <a:noFill/>
        </p:spPr>
        <p:txBody>
          <a:bodyPr wrap="square" lIns="0" rIns="0" tIns="0" bIns="0" anchor="t"/>
          <a:lstStyle/>
          <a:p>
            <a:pPr algn="l">
              <a:lnSpc>
                <a:spcPct val="130000"/>
              </a:lnSpc>
            </a:pPr>
            <a:r>
              <a:rPr sz="1200" b="1" i="0">
                <a:solidFill>
                  <a:srgbClr val="B5642A"/>
                </a:solidFill>
                <a:latin typeface="Consolas"/>
              </a:rPr>
              <a:t>vprintf</a:t>
            </a:r>
            <a:r>
              <a:rPr sz="1250" b="0" i="0">
                <a:solidFill>
                  <a:srgbClr val="0F1E27"/>
                </a:solidFill>
                <a:latin typeface="Calibri"/>
              </a:rPr>
              <a:t> is a facade over the logging package. The console and the log have separate gates: </a:t>
            </a:r>
            <a:r>
              <a:rPr sz="1150" b="0" i="0">
                <a:solidFill>
                  <a:srgbClr val="B5642A"/>
                </a:solidFill>
                <a:latin typeface="Consolas"/>
              </a:rPr>
              <a:t>GVerbosity</a:t>
            </a:r>
            <a:r>
              <a:rPr sz="1250" b="0" i="0">
                <a:solidFill>
                  <a:srgbClr val="0F1E27"/>
                </a:solidFill>
                <a:latin typeface="Calibri"/>
              </a:rPr>
              <a:t> quietens the command window while </a:t>
            </a:r>
            <a:r>
              <a:rPr sz="1150" b="0" i="0">
                <a:solidFill>
                  <a:srgbClr val="B5642A"/>
                </a:solidFill>
                <a:latin typeface="Consolas"/>
              </a:rPr>
              <a:t>GLogVerbosity</a:t>
            </a:r>
            <a:r>
              <a:rPr sz="1250" b="0" i="0">
                <a:solidFill>
                  <a:srgbClr val="0F1E27"/>
                </a:solidFill>
                <a:latin typeface="Calibri"/>
              </a:rPr>
              <a:t> defaults to Inf, so every message still reaches .error_logs/.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EF2F5"/>
        </a:solidFill>
        <a:effectLst/>
      </p:bgPr>
    </p:bg>
    <p:spTree>
      <p:nvGrpSpPr>
        <p:cNvPr id="1" name=""/>
        <p:cNvGrpSpPr/>
        <p:nvPr/>
      </p:nvGrpSpPr>
      <p:grpSpPr/>
      <p:sp>
        <p:nvSpPr>
          <p:cNvPr id="2" name="TextBox 2"/>
          <p:cNvSpPr txBox="1"/>
          <p:nvPr/>
        </p:nvSpPr>
        <p:spPr>
          <a:xfrm>
            <a:off x="566928" y="384048"/>
            <a:ext cx="11057839" cy="237744"/>
          </a:xfrm>
          <a:prstGeom prst="rect">
            <a:avLst/>
          </a:prstGeom>
          <a:noFill/>
        </p:spPr>
        <p:txBody>
          <a:bodyPr wrap="square" lIns="0" rIns="0" tIns="0" bIns="0" anchor="t"/>
          <a:lstStyle/>
          <a:p>
            <a:pPr algn="l"/>
            <a:r>
              <a:rPr sz="1150" b="1" i="0">
                <a:solidFill>
                  <a:srgbClr val="B5642A"/>
                </a:solidFill>
                <a:latin typeface="Arial"/>
              </a:rPr>
              <a:t>FOR DEVELOPERS</a:t>
            </a:r>
          </a:p>
        </p:txBody>
      </p:sp>
      <p:sp>
        <p:nvSpPr>
          <p:cNvPr id="3" name="TextBox 3"/>
          <p:cNvSpPr txBox="1"/>
          <p:nvPr/>
        </p:nvSpPr>
        <p:spPr>
          <a:xfrm>
            <a:off x="566928" y="676656"/>
            <a:ext cx="11057839" cy="566928"/>
          </a:xfrm>
          <a:prstGeom prst="rect">
            <a:avLst/>
          </a:prstGeom>
          <a:noFill/>
        </p:spPr>
        <p:txBody>
          <a:bodyPr wrap="square" lIns="0" rIns="0" tIns="0" bIns="0" anchor="t"/>
          <a:lstStyle/>
          <a:p>
            <a:pPr algn="l"/>
            <a:r>
              <a:rPr sz="3200" b="1" i="0">
                <a:solidFill>
                  <a:srgbClr val="0F1E27"/>
                </a:solidFill>
                <a:latin typeface="Arial"/>
              </a:rPr>
              <a:t>Where to plug in</a:t>
            </a:r>
          </a:p>
        </p:txBody>
      </p:sp>
      <p:sp>
        <p:nvSpPr>
          <p:cNvPr id="4" name="TextBox 4"/>
          <p:cNvSpPr txBox="1"/>
          <p:nvPr/>
        </p:nvSpPr>
        <p:spPr>
          <a:xfrm>
            <a:off x="566928" y="1298448"/>
            <a:ext cx="11057839" cy="310896"/>
          </a:xfrm>
          <a:prstGeom prst="rect">
            <a:avLst/>
          </a:prstGeom>
          <a:noFill/>
        </p:spPr>
        <p:txBody>
          <a:bodyPr wrap="square" lIns="0" rIns="0" tIns="0" bIns="0" anchor="t"/>
          <a:lstStyle/>
          <a:p>
            <a:pPr algn="l"/>
            <a:r>
              <a:rPr sz="1350" b="0" i="0">
                <a:solidFill>
                  <a:srgbClr val="566E7C"/>
                </a:solidFill>
                <a:latin typeface="Calibri"/>
              </a:rPr>
              <a:t>Four common extensions, each with a reference implementation already in the repository.</a:t>
            </a:r>
          </a:p>
        </p:txBody>
      </p:sp>
      <p:sp>
        <p:nvSpPr>
          <p:cNvPr id="5" name="Rounded Rectangle 5"/>
          <p:cNvSpPr/>
          <p:nvPr/>
        </p:nvSpPr>
        <p:spPr>
          <a:xfrm>
            <a:off x="566928" y="1938528"/>
            <a:ext cx="5410000" cy="2066543"/>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Oval 6"/>
          <p:cNvSpPr/>
          <p:nvPr/>
        </p:nvSpPr>
        <p:spPr>
          <a:xfrm>
            <a:off x="822960" y="2194560"/>
            <a:ext cx="329184" cy="32918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a:rPr>
              <a:t>1</a:t>
            </a:r>
          </a:p>
        </p:txBody>
      </p:sp>
      <p:sp>
        <p:nvSpPr>
          <p:cNvPr id="7" name="TextBox 7"/>
          <p:cNvSpPr txBox="1"/>
          <p:nvPr/>
        </p:nvSpPr>
        <p:spPr>
          <a:xfrm>
            <a:off x="1289304" y="2231136"/>
            <a:ext cx="4389120" cy="274320"/>
          </a:xfrm>
          <a:prstGeom prst="rect">
            <a:avLst/>
          </a:prstGeom>
          <a:noFill/>
        </p:spPr>
        <p:txBody>
          <a:bodyPr wrap="square" lIns="0" rIns="0" tIns="0" bIns="0" anchor="t"/>
          <a:lstStyle/>
          <a:p>
            <a:pPr algn="l"/>
            <a:r>
              <a:rPr sz="1500" b="1" i="0">
                <a:solidFill>
                  <a:srgbClr val="0F1E27"/>
                </a:solidFill>
                <a:latin typeface="Arial"/>
              </a:rPr>
              <a:t>Add a hardware backend</a:t>
            </a:r>
          </a:p>
        </p:txBody>
      </p:sp>
      <p:sp>
        <p:nvSpPr>
          <p:cNvPr id="8" name="TextBox 8"/>
          <p:cNvSpPr txBox="1"/>
          <p:nvPr/>
        </p:nvSpPr>
        <p:spPr>
          <a:xfrm>
            <a:off x="822960" y="2724912"/>
            <a:ext cx="4897936" cy="914400"/>
          </a:xfrm>
          <a:prstGeom prst="rect">
            <a:avLst/>
          </a:prstGeom>
          <a:noFill/>
        </p:spPr>
        <p:txBody>
          <a:bodyPr wrap="square" lIns="0" rIns="0" tIns="0" bIns="0" anchor="t"/>
          <a:lstStyle/>
          <a:p>
            <a:pPr algn="l">
              <a:lnSpc>
                <a:spcPct val="126000"/>
              </a:lnSpc>
              <a:spcAft>
                <a:spcPts val="700"/>
              </a:spcAft>
            </a:pPr>
            <a:r>
              <a:rPr sz="1150" b="0" i="0">
                <a:solidFill>
                  <a:srgbClr val="0F1E27"/>
                </a:solidFill>
                <a:latin typeface="Calibri"/>
              </a:rPr>
              <a:t>Subclass hw.Interface; implement setup_interface, connect, get/set_parameter, trigger, and a static getCreationSpec.</a:t>
            </a:r>
          </a:p>
          <a:p>
            <a:pPr algn="l">
              <a:lnSpc>
                <a:spcPct val="126000"/>
              </a:lnSpc>
            </a:pPr>
            <a:r>
              <a:rPr sz="1100" b="0" i="0">
                <a:solidFill>
                  <a:srgbClr val="566E7C"/>
                </a:solidFill>
                <a:latin typeface="Calibri"/>
              </a:rPr>
              <a:t>Then register it in four sites outside the class folder. Omitting Protocol.createInterfaceFromStruct_ fails silently.</a:t>
            </a:r>
          </a:p>
        </p:txBody>
      </p:sp>
      <p:sp>
        <p:nvSpPr>
          <p:cNvPr id="9" name="TextBox 9"/>
          <p:cNvSpPr txBox="1"/>
          <p:nvPr/>
        </p:nvSpPr>
        <p:spPr>
          <a:xfrm>
            <a:off x="822960" y="3712464"/>
            <a:ext cx="4897936" cy="237744"/>
          </a:xfrm>
          <a:prstGeom prst="rect">
            <a:avLst/>
          </a:prstGeom>
          <a:noFill/>
        </p:spPr>
        <p:txBody>
          <a:bodyPr wrap="square" lIns="0" rIns="0" tIns="0" bIns="0" anchor="t"/>
          <a:lstStyle/>
          <a:p>
            <a:pPr algn="l"/>
            <a:r>
              <a:rPr sz="950" b="0" i="0">
                <a:solidFill>
                  <a:srgbClr val="1D6E8A"/>
                </a:solidFill>
                <a:latin typeface="Consolas"/>
              </a:rPr>
              <a:t>obj/+hw/@Software/  ·  documentation/hw/hw_Interface_Tutorial.md</a:t>
            </a:r>
          </a:p>
        </p:txBody>
      </p:sp>
      <p:sp>
        <p:nvSpPr>
          <p:cNvPr id="10" name="Rounded Rectangle 10"/>
          <p:cNvSpPr/>
          <p:nvPr/>
        </p:nvSpPr>
        <p:spPr>
          <a:xfrm>
            <a:off x="6214767" y="1938528"/>
            <a:ext cx="5410000" cy="2066543"/>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Oval 11"/>
          <p:cNvSpPr/>
          <p:nvPr/>
        </p:nvSpPr>
        <p:spPr>
          <a:xfrm>
            <a:off x="6470799" y="2194560"/>
            <a:ext cx="329184" cy="329184"/>
          </a:xfrm>
          <a:prstGeom prst="ellipse">
            <a:avLst/>
          </a:prstGeom>
          <a:solidFill>
            <a:srgbClr val="B5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a:rPr>
              <a:t>2</a:t>
            </a:r>
          </a:p>
        </p:txBody>
      </p:sp>
      <p:sp>
        <p:nvSpPr>
          <p:cNvPr id="12" name="TextBox 12"/>
          <p:cNvSpPr txBox="1"/>
          <p:nvPr/>
        </p:nvSpPr>
        <p:spPr>
          <a:xfrm>
            <a:off x="6937143" y="2231136"/>
            <a:ext cx="4389120" cy="274320"/>
          </a:xfrm>
          <a:prstGeom prst="rect">
            <a:avLst/>
          </a:prstGeom>
          <a:noFill/>
        </p:spPr>
        <p:txBody>
          <a:bodyPr wrap="square" lIns="0" rIns="0" tIns="0" bIns="0" anchor="t"/>
          <a:lstStyle/>
          <a:p>
            <a:pPr algn="l"/>
            <a:r>
              <a:rPr sz="1500" b="1" i="0">
                <a:solidFill>
                  <a:srgbClr val="0F1E27"/>
                </a:solidFill>
                <a:latin typeface="Arial"/>
              </a:rPr>
              <a:t>Add a stimulus type</a:t>
            </a:r>
          </a:p>
        </p:txBody>
      </p:sp>
      <p:sp>
        <p:nvSpPr>
          <p:cNvPr id="13" name="TextBox 13"/>
          <p:cNvSpPr txBox="1"/>
          <p:nvPr/>
        </p:nvSpPr>
        <p:spPr>
          <a:xfrm>
            <a:off x="6470799" y="2724912"/>
            <a:ext cx="4897936" cy="914400"/>
          </a:xfrm>
          <a:prstGeom prst="rect">
            <a:avLst/>
          </a:prstGeom>
          <a:noFill/>
        </p:spPr>
        <p:txBody>
          <a:bodyPr wrap="square" lIns="0" rIns="0" tIns="0" bIns="0" anchor="t"/>
          <a:lstStyle/>
          <a:p>
            <a:pPr algn="l">
              <a:lnSpc>
                <a:spcPct val="126000"/>
              </a:lnSpc>
              <a:spcAft>
                <a:spcPts val="700"/>
              </a:spcAft>
            </a:pPr>
            <a:r>
              <a:rPr sz="1150" b="0" i="0">
                <a:solidFill>
                  <a:srgbClr val="0F1E27"/>
                </a:solidFill>
                <a:latin typeface="Calibri"/>
              </a:rPr>
              <a:t>Subclass stimgen.StimType in the submodule; implement update_signal() and declare IsMultiObj, CalibrationType, Normalization.</a:t>
            </a:r>
          </a:p>
          <a:p>
            <a:pPr algn="l">
              <a:lnSpc>
                <a:spcPct val="126000"/>
              </a:lnSpc>
            </a:pPr>
            <a:r>
              <a:rPr sz="1100" b="0" i="0">
                <a:solidFill>
                  <a:srgbClr val="566E7C"/>
                </a:solidFill>
                <a:latin typeface="Calibri"/>
              </a:rPr>
              <a:t>The base class handles gating, normalization and calibration. Commit to the stimgen repo, then bump the pointer here.</a:t>
            </a:r>
          </a:p>
        </p:txBody>
      </p:sp>
      <p:sp>
        <p:nvSpPr>
          <p:cNvPr id="14" name="TextBox 14"/>
          <p:cNvSpPr txBox="1"/>
          <p:nvPr/>
        </p:nvSpPr>
        <p:spPr>
          <a:xfrm>
            <a:off x="6470799" y="3712464"/>
            <a:ext cx="4897936" cy="237744"/>
          </a:xfrm>
          <a:prstGeom prst="rect">
            <a:avLst/>
          </a:prstGeom>
          <a:noFill/>
        </p:spPr>
        <p:txBody>
          <a:bodyPr wrap="square" lIns="0" rIns="0" tIns="0" bIns="0" anchor="t"/>
          <a:lstStyle/>
          <a:p>
            <a:pPr algn="l"/>
            <a:r>
              <a:rPr sz="950" b="0" i="0">
                <a:solidFill>
                  <a:srgbClr val="1D6E8A"/>
                </a:solidFill>
                <a:latin typeface="Consolas"/>
              </a:rPr>
              <a:t>obj/stimgen/+stimgen/Tone.m  ·  Noise.m</a:t>
            </a:r>
          </a:p>
        </p:txBody>
      </p:sp>
      <p:sp>
        <p:nvSpPr>
          <p:cNvPr id="15" name="Rounded Rectangle 15"/>
          <p:cNvSpPr/>
          <p:nvPr/>
        </p:nvSpPr>
        <p:spPr>
          <a:xfrm>
            <a:off x="566928" y="4104640"/>
            <a:ext cx="5410000" cy="2066543"/>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Oval 16"/>
          <p:cNvSpPr/>
          <p:nvPr/>
        </p:nvSpPr>
        <p:spPr>
          <a:xfrm>
            <a:off x="822960" y="4360672"/>
            <a:ext cx="329184" cy="329184"/>
          </a:xfrm>
          <a:prstGeom prst="ellipse">
            <a:avLst/>
          </a:prstGeom>
          <a:solidFill>
            <a:srgbClr val="1D6E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a:rPr>
              <a:t>3</a:t>
            </a:r>
          </a:p>
        </p:txBody>
      </p:sp>
      <p:sp>
        <p:nvSpPr>
          <p:cNvPr id="17" name="TextBox 17"/>
          <p:cNvSpPr txBox="1"/>
          <p:nvPr/>
        </p:nvSpPr>
        <p:spPr>
          <a:xfrm>
            <a:off x="1289304" y="4397248"/>
            <a:ext cx="4389120" cy="274320"/>
          </a:xfrm>
          <a:prstGeom prst="rect">
            <a:avLst/>
          </a:prstGeom>
          <a:noFill/>
        </p:spPr>
        <p:txBody>
          <a:bodyPr wrap="square" lIns="0" rIns="0" tIns="0" bIns="0" anchor="t"/>
          <a:lstStyle/>
          <a:p>
            <a:pPr algn="l"/>
            <a:r>
              <a:rPr sz="1500" b="1" i="0">
                <a:solidFill>
                  <a:srgbClr val="0F1E27"/>
                </a:solidFill>
                <a:latin typeface="Arial"/>
              </a:rPr>
              <a:t>Add an online analysis</a:t>
            </a:r>
          </a:p>
        </p:txBody>
      </p:sp>
      <p:sp>
        <p:nvSpPr>
          <p:cNvPr id="18" name="TextBox 18"/>
          <p:cNvSpPr txBox="1"/>
          <p:nvPr/>
        </p:nvSpPr>
        <p:spPr>
          <a:xfrm>
            <a:off x="822960" y="4891024"/>
            <a:ext cx="4897936" cy="914400"/>
          </a:xfrm>
          <a:prstGeom prst="rect">
            <a:avLst/>
          </a:prstGeom>
          <a:noFill/>
        </p:spPr>
        <p:txBody>
          <a:bodyPr wrap="square" lIns="0" rIns="0" tIns="0" bIns="0" anchor="t"/>
          <a:lstStyle/>
          <a:p>
            <a:pPr algn="l">
              <a:lnSpc>
                <a:spcPct val="126000"/>
              </a:lnSpc>
              <a:spcAft>
                <a:spcPts val="700"/>
              </a:spcAft>
            </a:pPr>
            <a:r>
              <a:rPr sz="1150" b="0" i="0">
                <a:solidFill>
                  <a:srgbClr val="0F1E27"/>
                </a:solidFill>
                <a:latin typeface="Calibri"/>
              </a:rPr>
              <a:t>Subclass psychophysics.Psych and implement update(); wire a listener to Runtime.EVENTS.NewData.</a:t>
            </a:r>
          </a:p>
          <a:p>
            <a:pPr algn="l">
              <a:lnSpc>
                <a:spcPct val="126000"/>
              </a:lnSpc>
            </a:pPr>
            <a:r>
              <a:rPr sz="1100" b="0" i="0">
                <a:solidFill>
                  <a:srgbClr val="566E7C"/>
                </a:solidFill>
                <a:latin typeface="Calibri"/>
              </a:rPr>
              <a:t>Reuse psychophysics.Metrics for the arithmetic, and pair it with a display class in obj/+gui/.</a:t>
            </a:r>
          </a:p>
        </p:txBody>
      </p:sp>
      <p:sp>
        <p:nvSpPr>
          <p:cNvPr id="19" name="TextBox 19"/>
          <p:cNvSpPr txBox="1"/>
          <p:nvPr/>
        </p:nvSpPr>
        <p:spPr>
          <a:xfrm>
            <a:off x="822960" y="5878576"/>
            <a:ext cx="4897936" cy="237744"/>
          </a:xfrm>
          <a:prstGeom prst="rect">
            <a:avLst/>
          </a:prstGeom>
          <a:noFill/>
        </p:spPr>
        <p:txBody>
          <a:bodyPr wrap="square" lIns="0" rIns="0" tIns="0" bIns="0" anchor="t"/>
          <a:lstStyle/>
          <a:p>
            <a:pPr algn="l"/>
            <a:r>
              <a:rPr sz="950" b="0" i="0">
                <a:solidFill>
                  <a:srgbClr val="1D6E8A"/>
                </a:solidFill>
                <a:latin typeface="Consolas"/>
              </a:rPr>
              <a:t>obj/+psychophysics/@Detection/  ·  obj/+gui/@OnlinePlot/</a:t>
            </a:r>
          </a:p>
        </p:txBody>
      </p:sp>
      <p:sp>
        <p:nvSpPr>
          <p:cNvPr id="20" name="Rounded Rectangle 20"/>
          <p:cNvSpPr/>
          <p:nvPr/>
        </p:nvSpPr>
        <p:spPr>
          <a:xfrm>
            <a:off x="6214767" y="4104640"/>
            <a:ext cx="5410000" cy="2066543"/>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Oval 21"/>
          <p:cNvSpPr/>
          <p:nvPr/>
        </p:nvSpPr>
        <p:spPr>
          <a:xfrm>
            <a:off x="6470799" y="4360672"/>
            <a:ext cx="329184" cy="329184"/>
          </a:xfrm>
          <a:prstGeom prst="ellipse">
            <a:avLst/>
          </a:prstGeom>
          <a:solidFill>
            <a:srgbClr val="B5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Arial"/>
              </a:rPr>
              <a:t>4</a:t>
            </a:r>
          </a:p>
        </p:txBody>
      </p:sp>
      <p:sp>
        <p:nvSpPr>
          <p:cNvPr id="22" name="TextBox 22"/>
          <p:cNvSpPr txBox="1"/>
          <p:nvPr/>
        </p:nvSpPr>
        <p:spPr>
          <a:xfrm>
            <a:off x="6937143" y="4397248"/>
            <a:ext cx="4389120" cy="274320"/>
          </a:xfrm>
          <a:prstGeom prst="rect">
            <a:avLst/>
          </a:prstGeom>
          <a:noFill/>
        </p:spPr>
        <p:txBody>
          <a:bodyPr wrap="square" lIns="0" rIns="0" tIns="0" bIns="0" anchor="t"/>
          <a:lstStyle/>
          <a:p>
            <a:pPr algn="l"/>
            <a:r>
              <a:rPr sz="1500" b="1" i="0">
                <a:solidFill>
                  <a:srgbClr val="0F1E27"/>
                </a:solidFill>
                <a:latin typeface="Arial"/>
              </a:rPr>
              <a:t>Add a paradigm</a:t>
            </a:r>
          </a:p>
        </p:txBody>
      </p:sp>
      <p:sp>
        <p:nvSpPr>
          <p:cNvPr id="23" name="TextBox 23"/>
          <p:cNvSpPr txBox="1"/>
          <p:nvPr/>
        </p:nvSpPr>
        <p:spPr>
          <a:xfrm>
            <a:off x="6470799" y="4891024"/>
            <a:ext cx="4897936" cy="914400"/>
          </a:xfrm>
          <a:prstGeom prst="rect">
            <a:avLst/>
          </a:prstGeom>
          <a:noFill/>
        </p:spPr>
        <p:txBody>
          <a:bodyPr wrap="square" lIns="0" rIns="0" tIns="0" bIns="0" anchor="t"/>
          <a:lstStyle/>
          <a:p>
            <a:pPr algn="l">
              <a:lnSpc>
                <a:spcPct val="126000"/>
              </a:lnSpc>
              <a:spcAft>
                <a:spcPts val="700"/>
              </a:spcAft>
            </a:pPr>
            <a:r>
              <a:rPr sz="1150" b="0" i="0">
                <a:solidFill>
                  <a:srgbClr val="0F1E27"/>
                </a:solidFill>
                <a:latin typeface="Calibri"/>
              </a:rPr>
              <a:t>A custom trial selector, save function and behavior GUI. No core runtime file is modified.</a:t>
            </a:r>
          </a:p>
          <a:p>
            <a:pPr algn="l">
              <a:lnSpc>
                <a:spcPct val="126000"/>
              </a:lnSpc>
            </a:pPr>
            <a:r>
              <a:rPr sz="1100" b="0" i="0">
                <a:solidFill>
                  <a:srgbClr val="566E7C"/>
                </a:solidFill>
                <a:latin typeface="Calibri"/>
              </a:rPr>
              <a:t>Subscribe to EventHub events, and carry the timer callbacks on the subject roster membership.</a:t>
            </a:r>
          </a:p>
        </p:txBody>
      </p:sp>
      <p:sp>
        <p:nvSpPr>
          <p:cNvPr id="24" name="TextBox 24"/>
          <p:cNvSpPr txBox="1"/>
          <p:nvPr/>
        </p:nvSpPr>
        <p:spPr>
          <a:xfrm>
            <a:off x="6470799" y="5878576"/>
            <a:ext cx="4897936" cy="237744"/>
          </a:xfrm>
          <a:prstGeom prst="rect">
            <a:avLst/>
          </a:prstGeom>
          <a:noFill/>
        </p:spPr>
        <p:txBody>
          <a:bodyPr wrap="square" lIns="0" rIns="0" tIns="0" bIns="0" anchor="t"/>
          <a:lstStyle/>
          <a:p>
            <a:pPr algn="l"/>
            <a:r>
              <a:rPr sz="950" b="0" i="0">
                <a:solidFill>
                  <a:srgbClr val="1D6E8A"/>
                </a:solidFill>
                <a:latin typeface="Consolas"/>
              </a:rPr>
              <a:t>paradigms/  ·  examples/customgui/  ·  runtime/savefcns/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2833"/>
        </a:solidFill>
        <a:effectLst/>
      </p:bgPr>
    </p:bg>
    <p:spTree>
      <p:nvGrpSpPr>
        <p:cNvPr id="1" name=""/>
        <p:cNvGrpSpPr/>
        <p:nvPr/>
      </p:nvGrpSpPr>
      <p:grpSpPr/>
      <p:sp>
        <p:nvSpPr>
          <p:cNvPr id="2" name="TextBox 2"/>
          <p:cNvSpPr txBox="1"/>
          <p:nvPr/>
        </p:nvSpPr>
        <p:spPr>
          <a:xfrm>
            <a:off x="795528" y="868680"/>
            <a:ext cx="7315200" cy="274320"/>
          </a:xfrm>
          <a:prstGeom prst="rect">
            <a:avLst/>
          </a:prstGeom>
          <a:noFill/>
        </p:spPr>
        <p:txBody>
          <a:bodyPr wrap="square" lIns="0" rIns="0" tIns="0" bIns="0" anchor="t"/>
          <a:lstStyle/>
          <a:p>
            <a:pPr algn="l"/>
            <a:r>
              <a:rPr sz="1200" b="1" i="0">
                <a:solidFill>
                  <a:srgbClr val="E09353"/>
                </a:solidFill>
                <a:latin typeface="Arial"/>
              </a:rPr>
              <a:t>GETTING STARTED</a:t>
            </a:r>
          </a:p>
        </p:txBody>
      </p:sp>
      <p:sp>
        <p:nvSpPr>
          <p:cNvPr id="3" name="TextBox 3"/>
          <p:cNvSpPr txBox="1"/>
          <p:nvPr/>
        </p:nvSpPr>
        <p:spPr>
          <a:xfrm>
            <a:off x="795528" y="1207008"/>
            <a:ext cx="8229600" cy="640080"/>
          </a:xfrm>
          <a:prstGeom prst="rect">
            <a:avLst/>
          </a:prstGeom>
          <a:noFill/>
        </p:spPr>
        <p:txBody>
          <a:bodyPr wrap="square" lIns="0" rIns="0" tIns="0" bIns="0" anchor="t"/>
          <a:lstStyle/>
          <a:p>
            <a:pPr algn="l"/>
            <a:r>
              <a:rPr sz="3800" b="1" i="0">
                <a:solidFill>
                  <a:srgbClr val="FFFFFF"/>
                </a:solidFill>
                <a:latin typeface="Arial"/>
              </a:rPr>
              <a:t>Clone, start up, design, run</a:t>
            </a:r>
          </a:p>
        </p:txBody>
      </p:sp>
      <p:sp>
        <p:nvSpPr>
          <p:cNvPr id="4" name="Rounded Rectangle 4"/>
          <p:cNvSpPr/>
          <p:nvPr/>
        </p:nvSpPr>
        <p:spPr>
          <a:xfrm>
            <a:off x="795528" y="2194560"/>
            <a:ext cx="5852160" cy="2212848"/>
          </a:xfrm>
          <a:prstGeom prst="roundRect">
            <a:avLst>
              <a:gd name="adj" fmla="val 6000"/>
            </a:avLst>
          </a:prstGeom>
          <a:solidFill>
            <a:srgbClr val="153A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5"/>
          <p:cNvSpPr txBox="1"/>
          <p:nvPr/>
        </p:nvSpPr>
        <p:spPr>
          <a:xfrm>
            <a:off x="1069848" y="2468880"/>
            <a:ext cx="5394960" cy="219456"/>
          </a:xfrm>
          <a:prstGeom prst="rect">
            <a:avLst/>
          </a:prstGeom>
          <a:noFill/>
        </p:spPr>
        <p:txBody>
          <a:bodyPr wrap="square" lIns="0" rIns="0" tIns="0" bIns="0" anchor="t"/>
          <a:lstStyle/>
          <a:p>
            <a:pPr algn="l"/>
            <a:r>
              <a:rPr sz="1250" b="0" i="0">
                <a:solidFill>
                  <a:srgbClr val="8FD4EC"/>
                </a:solidFill>
                <a:latin typeface="Consolas"/>
              </a:rPr>
              <a:t>git clone --recurse-submodules</a:t>
            </a:r>
          </a:p>
        </p:txBody>
      </p:sp>
      <p:sp>
        <p:nvSpPr>
          <p:cNvPr id="6" name="TextBox 6"/>
          <p:cNvSpPr txBox="1"/>
          <p:nvPr/>
        </p:nvSpPr>
        <p:spPr>
          <a:xfrm>
            <a:off x="1069848" y="2679192"/>
            <a:ext cx="5394960" cy="219456"/>
          </a:xfrm>
          <a:prstGeom prst="rect">
            <a:avLst/>
          </a:prstGeom>
          <a:noFill/>
        </p:spPr>
        <p:txBody>
          <a:bodyPr wrap="square" lIns="0" rIns="0" tIns="0" bIns="0" anchor="t"/>
          <a:lstStyle/>
          <a:p>
            <a:pPr algn="l"/>
            <a:r>
              <a:rPr sz="1250" b="0" i="0">
                <a:solidFill>
                  <a:srgbClr val="7E9AA8"/>
                </a:solidFill>
                <a:latin typeface="Consolas"/>
              </a:rPr>
              <a:t>    https://github.com/dstolz/epsych2.git</a:t>
            </a:r>
          </a:p>
        </p:txBody>
      </p:sp>
      <p:sp>
        <p:nvSpPr>
          <p:cNvPr id="7" name="TextBox 7"/>
          <p:cNvSpPr txBox="1"/>
          <p:nvPr/>
        </p:nvSpPr>
        <p:spPr>
          <a:xfrm>
            <a:off x="1069848" y="3099816"/>
            <a:ext cx="5394960" cy="219456"/>
          </a:xfrm>
          <a:prstGeom prst="rect">
            <a:avLst/>
          </a:prstGeom>
          <a:noFill/>
        </p:spPr>
        <p:txBody>
          <a:bodyPr wrap="square" lIns="0" rIns="0" tIns="0" bIns="0" anchor="t"/>
          <a:lstStyle/>
          <a:p>
            <a:pPr algn="l"/>
            <a:r>
              <a:rPr sz="1250" b="0" i="0">
                <a:solidFill>
                  <a:srgbClr val="E7EFF3"/>
                </a:solidFill>
                <a:latin typeface="Consolas"/>
              </a:rPr>
              <a:t>addpath('C:\path\to\epsych2')</a:t>
            </a:r>
          </a:p>
        </p:txBody>
      </p:sp>
      <p:sp>
        <p:nvSpPr>
          <p:cNvPr id="8" name="TextBox 8"/>
          <p:cNvSpPr txBox="1"/>
          <p:nvPr/>
        </p:nvSpPr>
        <p:spPr>
          <a:xfrm>
            <a:off x="1069848" y="3310128"/>
            <a:ext cx="5394960" cy="219456"/>
          </a:xfrm>
          <a:prstGeom prst="rect">
            <a:avLst/>
          </a:prstGeom>
          <a:noFill/>
        </p:spPr>
        <p:txBody>
          <a:bodyPr wrap="square" lIns="0" rIns="0" tIns="0" bIns="0" anchor="t"/>
          <a:lstStyle/>
          <a:p>
            <a:pPr algn="l"/>
            <a:r>
              <a:rPr sz="1250" b="0" i="0">
                <a:solidFill>
                  <a:srgbClr val="E7EFF3"/>
                </a:solidFill>
                <a:latin typeface="Consolas"/>
              </a:rPr>
              <a:t>epsych_startup</a:t>
            </a:r>
          </a:p>
        </p:txBody>
      </p:sp>
      <p:sp>
        <p:nvSpPr>
          <p:cNvPr id="9" name="TextBox 9"/>
          <p:cNvSpPr txBox="1"/>
          <p:nvPr/>
        </p:nvSpPr>
        <p:spPr>
          <a:xfrm>
            <a:off x="1069848" y="3730752"/>
            <a:ext cx="5394960" cy="219456"/>
          </a:xfrm>
          <a:prstGeom prst="rect">
            <a:avLst/>
          </a:prstGeom>
          <a:noFill/>
        </p:spPr>
        <p:txBody>
          <a:bodyPr wrap="square" lIns="0" rIns="0" tIns="0" bIns="0" anchor="t"/>
          <a:lstStyle/>
          <a:p>
            <a:pPr algn="l"/>
            <a:r>
              <a:rPr sz="1250" b="0" i="0">
                <a:solidFill>
                  <a:srgbClr val="8FD4EC"/>
                </a:solidFill>
                <a:latin typeface="Consolas"/>
              </a:rPr>
              <a:t>epsych.ProtocolDesigner</a:t>
            </a:r>
          </a:p>
        </p:txBody>
      </p:sp>
      <p:sp>
        <p:nvSpPr>
          <p:cNvPr id="10" name="TextBox 10"/>
          <p:cNvSpPr txBox="1"/>
          <p:nvPr/>
        </p:nvSpPr>
        <p:spPr>
          <a:xfrm>
            <a:off x="1069848" y="3941064"/>
            <a:ext cx="5394960" cy="219456"/>
          </a:xfrm>
          <a:prstGeom prst="rect">
            <a:avLst/>
          </a:prstGeom>
          <a:noFill/>
        </p:spPr>
        <p:txBody>
          <a:bodyPr wrap="square" lIns="0" rIns="0" tIns="0" bIns="0" anchor="t"/>
          <a:lstStyle/>
          <a:p>
            <a:pPr algn="l"/>
            <a:r>
              <a:rPr sz="1250" b="0" i="0">
                <a:solidFill>
                  <a:srgbClr val="8FD4EC"/>
                </a:solidFill>
                <a:latin typeface="Consolas"/>
              </a:rPr>
              <a:t>epsych.RunExpt</a:t>
            </a:r>
          </a:p>
        </p:txBody>
      </p:sp>
      <p:sp>
        <p:nvSpPr>
          <p:cNvPr id="11" name="TextBox 11"/>
          <p:cNvSpPr txBox="1"/>
          <p:nvPr/>
        </p:nvSpPr>
        <p:spPr>
          <a:xfrm>
            <a:off x="795528" y="4617720"/>
            <a:ext cx="5852160" cy="548640"/>
          </a:xfrm>
          <a:prstGeom prst="rect">
            <a:avLst/>
          </a:prstGeom>
          <a:noFill/>
        </p:spPr>
        <p:txBody>
          <a:bodyPr wrap="square" lIns="0" rIns="0" tIns="0" bIns="0" anchor="t"/>
          <a:lstStyle/>
          <a:p>
            <a:pPr algn="l">
              <a:lnSpc>
                <a:spcPct val="130000"/>
              </a:lnSpc>
            </a:pPr>
            <a:r>
              <a:rPr sz="1150" b="0" i="0">
                <a:solidFill>
                  <a:srgbClr val="E09353"/>
                </a:solidFill>
                <a:latin typeface="Calibri"/>
              </a:rPr>
              <a:t>Skipping the submodule step does not fail loudly — protocols with stimulus objects load with degraded placeholder values. epsych_startup warns when it detects this.</a:t>
            </a:r>
          </a:p>
        </p:txBody>
      </p:sp>
      <p:sp>
        <p:nvSpPr>
          <p:cNvPr id="12" name="TextBox 12"/>
          <p:cNvSpPr txBox="1"/>
          <p:nvPr/>
        </p:nvSpPr>
        <p:spPr>
          <a:xfrm>
            <a:off x="6903720" y="2194560"/>
            <a:ext cx="4754880" cy="274320"/>
          </a:xfrm>
          <a:prstGeom prst="rect">
            <a:avLst/>
          </a:prstGeom>
          <a:noFill/>
        </p:spPr>
        <p:txBody>
          <a:bodyPr wrap="square" lIns="0" rIns="0" tIns="0" bIns="0" anchor="t"/>
          <a:lstStyle/>
          <a:p>
            <a:pPr algn="l"/>
            <a:r>
              <a:rPr sz="1100" b="1" i="0">
                <a:solidFill>
                  <a:srgbClr val="E09353"/>
                </a:solidFill>
                <a:latin typeface="Arial"/>
              </a:rPr>
              <a:t>WHERE TO READ NEXT</a:t>
            </a:r>
          </a:p>
        </p:txBody>
      </p:sp>
      <p:sp>
        <p:nvSpPr>
          <p:cNvPr id="13" name="TextBox 13"/>
          <p:cNvSpPr txBox="1"/>
          <p:nvPr/>
        </p:nvSpPr>
        <p:spPr>
          <a:xfrm>
            <a:off x="6903720" y="2578608"/>
            <a:ext cx="4754880" cy="274320"/>
          </a:xfrm>
          <a:prstGeom prst="rect">
            <a:avLst/>
          </a:prstGeom>
          <a:noFill/>
        </p:spPr>
        <p:txBody>
          <a:bodyPr wrap="square" lIns="0" rIns="0" tIns="0" bIns="0" anchor="t"/>
          <a:lstStyle/>
          <a:p>
            <a:pPr algn="l"/>
            <a:r>
              <a:rPr sz="1150" b="0" i="0">
                <a:solidFill>
                  <a:srgbClr val="FFFFFF"/>
                </a:solidFill>
                <a:latin typeface="Consolas"/>
              </a:rPr>
              <a:t>Installation_Guide.md</a:t>
            </a:r>
            <a:r>
              <a:rPr sz="1150" b="0" i="0">
                <a:solidFill>
                  <a:srgbClr val="9FB4BF"/>
                </a:solidFill>
                <a:latin typeface="Calibri"/>
              </a:rPr>
              <a:t>   prerequisites and setup</a:t>
            </a:r>
          </a:p>
        </p:txBody>
      </p:sp>
      <p:sp>
        <p:nvSpPr>
          <p:cNvPr id="14" name="TextBox 14"/>
          <p:cNvSpPr txBox="1"/>
          <p:nvPr/>
        </p:nvSpPr>
        <p:spPr>
          <a:xfrm>
            <a:off x="6903720" y="2935224"/>
            <a:ext cx="4754880" cy="274320"/>
          </a:xfrm>
          <a:prstGeom prst="rect">
            <a:avLst/>
          </a:prstGeom>
          <a:noFill/>
        </p:spPr>
        <p:txBody>
          <a:bodyPr wrap="square" lIns="0" rIns="0" tIns="0" bIns="0" anchor="t"/>
          <a:lstStyle/>
          <a:p>
            <a:pPr algn="l"/>
            <a:r>
              <a:rPr sz="1150" b="0" i="0">
                <a:solidFill>
                  <a:srgbClr val="FFFFFF"/>
                </a:solidFill>
                <a:latin typeface="Consolas"/>
              </a:rPr>
              <a:t>Toolbox_Overview.md</a:t>
            </a:r>
            <a:r>
              <a:rPr sz="1150" b="0" i="0">
                <a:solidFill>
                  <a:srgbClr val="9FB4BF"/>
                </a:solidFill>
                <a:latin typeface="Calibri"/>
              </a:rPr>
              <a:t>   orientation for experimenters</a:t>
            </a:r>
          </a:p>
        </p:txBody>
      </p:sp>
      <p:sp>
        <p:nvSpPr>
          <p:cNvPr id="15" name="TextBox 15"/>
          <p:cNvSpPr txBox="1"/>
          <p:nvPr/>
        </p:nvSpPr>
        <p:spPr>
          <a:xfrm>
            <a:off x="6903720" y="3291840"/>
            <a:ext cx="4754880" cy="274320"/>
          </a:xfrm>
          <a:prstGeom prst="rect">
            <a:avLst/>
          </a:prstGeom>
          <a:noFill/>
        </p:spPr>
        <p:txBody>
          <a:bodyPr wrap="square" lIns="0" rIns="0" tIns="0" bIns="0" anchor="t"/>
          <a:lstStyle/>
          <a:p>
            <a:pPr algn="l"/>
            <a:r>
              <a:rPr sz="1150" b="0" i="0">
                <a:solidFill>
                  <a:srgbClr val="FFFFFF"/>
                </a:solidFill>
                <a:latin typeface="Consolas"/>
              </a:rPr>
              <a:t>Architecture_Overview.md</a:t>
            </a:r>
            <a:r>
              <a:rPr sz="1150" b="0" i="0">
                <a:solidFill>
                  <a:srgbClr val="9FB4BF"/>
                </a:solidFill>
                <a:latin typeface="Calibri"/>
              </a:rPr>
              <a:t>   internals, for developers</a:t>
            </a:r>
          </a:p>
        </p:txBody>
      </p:sp>
      <p:sp>
        <p:nvSpPr>
          <p:cNvPr id="16" name="TextBox 16"/>
          <p:cNvSpPr txBox="1"/>
          <p:nvPr/>
        </p:nvSpPr>
        <p:spPr>
          <a:xfrm>
            <a:off x="6903720" y="3648456"/>
            <a:ext cx="4754880" cy="274320"/>
          </a:xfrm>
          <a:prstGeom prst="rect">
            <a:avLst/>
          </a:prstGeom>
          <a:noFill/>
        </p:spPr>
        <p:txBody>
          <a:bodyPr wrap="square" lIns="0" rIns="0" tIns="0" bIns="0" anchor="t"/>
          <a:lstStyle/>
          <a:p>
            <a:pPr algn="l"/>
            <a:r>
              <a:rPr sz="1150" b="0" i="0">
                <a:solidFill>
                  <a:srgbClr val="FFFFFF"/>
                </a:solidFill>
                <a:latin typeface="Consolas"/>
              </a:rPr>
              <a:t>RunExpt_GUI_Overview.md</a:t>
            </a:r>
            <a:r>
              <a:rPr sz="1150" b="0" i="0">
                <a:solidFill>
                  <a:srgbClr val="9FB4BF"/>
                </a:solidFill>
                <a:latin typeface="Calibri"/>
              </a:rPr>
              <a:t>   a session, walked through</a:t>
            </a:r>
          </a:p>
        </p:txBody>
      </p:sp>
      <p:sp>
        <p:nvSpPr>
          <p:cNvPr id="17" name="TextBox 17"/>
          <p:cNvSpPr txBox="1"/>
          <p:nvPr/>
        </p:nvSpPr>
        <p:spPr>
          <a:xfrm>
            <a:off x="6903720" y="4005072"/>
            <a:ext cx="4754880" cy="274320"/>
          </a:xfrm>
          <a:prstGeom prst="rect">
            <a:avLst/>
          </a:prstGeom>
          <a:noFill/>
        </p:spPr>
        <p:txBody>
          <a:bodyPr wrap="square" lIns="0" rIns="0" tIns="0" bIns="0" anchor="t"/>
          <a:lstStyle/>
          <a:p>
            <a:pPr algn="l"/>
            <a:r>
              <a:rPr sz="1150" b="0" i="0">
                <a:solidFill>
                  <a:srgbClr val="FFFFFF"/>
                </a:solidFill>
                <a:latin typeface="Consolas"/>
              </a:rPr>
              <a:t>Programmers_Toolkit.md</a:t>
            </a:r>
            <a:r>
              <a:rPr sz="1150" b="0" i="0">
                <a:solidFill>
                  <a:srgbClr val="9FB4BF"/>
                </a:solidFill>
                <a:latin typeface="Calibri"/>
              </a:rPr>
              <a:t>   the extension seams</a:t>
            </a:r>
          </a:p>
        </p:txBody>
      </p:sp>
      <p:sp>
        <p:nvSpPr>
          <p:cNvPr id="18" name="TextBox 18"/>
          <p:cNvSpPr txBox="1"/>
          <p:nvPr/>
        </p:nvSpPr>
        <p:spPr>
          <a:xfrm>
            <a:off x="6903720" y="4361688"/>
            <a:ext cx="4754880" cy="274320"/>
          </a:xfrm>
          <a:prstGeom prst="rect">
            <a:avLst/>
          </a:prstGeom>
          <a:noFill/>
        </p:spPr>
        <p:txBody>
          <a:bodyPr wrap="square" lIns="0" rIns="0" tIns="0" bIns="0" anchor="t"/>
          <a:lstStyle/>
          <a:p>
            <a:pPr algn="l"/>
            <a:r>
              <a:rPr sz="1150" b="0" i="0">
                <a:solidFill>
                  <a:srgbClr val="FFFFFF"/>
                </a:solidFill>
                <a:latin typeface="Consolas"/>
              </a:rPr>
              <a:t>Class_Map.md</a:t>
            </a:r>
            <a:r>
              <a:rPr sz="1150" b="0" i="0">
                <a:solidFill>
                  <a:srgbClr val="9FB4BF"/>
                </a:solidFill>
                <a:latin typeface="Calibri"/>
              </a:rPr>
              <a:t>   classes and dependencies</a:t>
            </a:r>
          </a:p>
        </p:txBody>
      </p:sp>
      <p:sp>
        <p:nvSpPr>
          <p:cNvPr id="19" name="TextBox 19"/>
          <p:cNvSpPr txBox="1"/>
          <p:nvPr/>
        </p:nvSpPr>
        <p:spPr>
          <a:xfrm>
            <a:off x="6903720" y="4718304"/>
            <a:ext cx="4754880" cy="274320"/>
          </a:xfrm>
          <a:prstGeom prst="rect">
            <a:avLst/>
          </a:prstGeom>
          <a:noFill/>
        </p:spPr>
        <p:txBody>
          <a:bodyPr wrap="square" lIns="0" rIns="0" tIns="0" bIns="0" anchor="t"/>
          <a:lstStyle/>
          <a:p>
            <a:pPr algn="l"/>
            <a:r>
              <a:rPr sz="1150" b="0" i="0">
                <a:solidFill>
                  <a:srgbClr val="FFFFFF"/>
                </a:solidFill>
                <a:latin typeface="Consolas"/>
              </a:rPr>
              <a:t>epsych2/wiki</a:t>
            </a:r>
            <a:r>
              <a:rPr sz="1150" b="0" i="0">
                <a:solidFill>
                  <a:srgbClr val="9FB4BF"/>
                </a:solidFill>
                <a:latin typeface="Calibri"/>
              </a:rPr>
              <a:t>   the guided companion, two paths</a:t>
            </a:r>
          </a:p>
        </p:txBody>
      </p:sp>
      <p:pic>
        <p:nvPicPr>
          <p:cNvPr id="20" name="Picture 20" descr="EPsych three-channel TTL mark"/>
          <p:cNvPicPr>
            <a:picLocks noChangeAspect="1"/>
          </p:cNvPicPr>
          <p:nvPr/>
        </p:nvPicPr>
        <p:blipFill>
          <a:blip r:embed="rId2"/>
          <a:stretch>
            <a:fillRect/>
          </a:stretch>
        </p:blipFill>
        <p:spPr>
          <a:xfrm>
            <a:off x="10812976" y="5303520"/>
            <a:ext cx="640080" cy="640080"/>
          </a:xfrm>
          <a:prstGeom prst="rect">
            <a:avLst/>
          </a:prstGeom>
        </p:spPr>
      </p:pic>
      <p:sp>
        <p:nvSpPr>
          <p:cNvPr id="21" name="TextBox 21"/>
          <p:cNvSpPr txBox="1"/>
          <p:nvPr/>
        </p:nvSpPr>
        <p:spPr>
          <a:xfrm>
            <a:off x="795528" y="5870448"/>
            <a:ext cx="8229600" cy="365760"/>
          </a:xfrm>
          <a:prstGeom prst="rect">
            <a:avLst/>
          </a:prstGeom>
          <a:noFill/>
        </p:spPr>
        <p:txBody>
          <a:bodyPr wrap="square" lIns="0" rIns="0" tIns="0" bIns="0" anchor="t"/>
          <a:lstStyle/>
          <a:p>
            <a:pPr algn="l"/>
            <a:r>
              <a:rPr sz="1200" b="1" i="0">
                <a:solidFill>
                  <a:srgbClr val="FFFFFF"/>
                </a:solidFill>
                <a:latin typeface="Calibri"/>
              </a:rPr>
              <a:t>Daniel Stolzberg, PhD</a:t>
            </a:r>
            <a:r>
              <a:rPr sz="1200" b="0" i="0">
                <a:solidFill>
                  <a:srgbClr val="7E9AA8"/>
                </a:solidFill>
                <a:latin typeface="Calibri"/>
              </a:rPr>
              <a:t>   ·   daniel.stolzberg@gmail.com   ·   GNU GPL v3.0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EPsych v2</vt:lpstr>
      <vt:lpstr>What EPsych is</vt:lpstr>
      <vt:lpstr>Four stages, from protocol to result</vt:lpstr>
      <vt:lpstr>Architecture at a glance</vt:lpstr>
      <vt:lpstr>The protocol is the experiment</vt:lpstr>
      <vt:lpstr>Every protocol keeps its own history</vt:lpstr>
      <vt:lpstr>Subjects, projects, and what a session inherits</vt:lpstr>
      <vt:lpstr>Runtime and the trial lifecycle</vt:lpstr>
      <vt:lpstr>A session that survives being killed</vt:lpstr>
      <vt:lpstr>Everything reacts to events</vt:lpstr>
      <vt:lpstr>One contract, many rigs</vt:lpstr>
      <vt:lpstr>The contingency lives in a file, not in firmware</vt:lpstr>
      <vt:lpstr>Stimulus generation lives elsewhere</vt:lpstr>
      <vt:lpstr>Psychophysics, online and offline</vt:lpstr>
      <vt:lpstr>Build a behavior GUI from components</vt:lpstr>
      <vt:lpstr>The GUIs a lab actually touches</vt:lpstr>
      <vt:lpstr>Reopen a finished session and scrub through it</vt:lpstr>
      <vt:lpstr>Diagnostics you can leave running</vt:lpstr>
      <vt:lpstr>Where to plug in</vt:lpstr>
      <vt:lpstr>Clone, start up, design, run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EPsych v2 - Repository Overview</dc:title>
  <dc:subject>EPsych v2 MATLAB toolbox</dc:subject>
  <dc:creator>Daniel Stolzberg, PhD</dc:creator>
  <cp:keywords>EPsych, MATLAB, behavior, psychophysics</cp:keywords>
  <dc:description>Overview of the epsych2 repository: architecture, runtime, hardware abstraction and major features.</dc:description>
  <cp:lastModifiedBy>Daniel Stolzberg, PhD</cp:lastModifiedBy>
  <cp:revision>2</cp:revision>
  <dcterms:created xsi:type="dcterms:W3CDTF">2026-08-09T14:36:00Z</dcterms:created>
  <dcterms:modified xsi:type="dcterms:W3CDTF">2026-08-24T19:12:59Z</dcterms:modified>
  <cp:category/>
</cp:coreProperties>
</file>